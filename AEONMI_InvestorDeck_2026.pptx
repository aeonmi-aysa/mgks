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000" b="0" i="0" u="none" strike="noStrike">
                <a:solidFill>
                  <a:srgbClr val="333344"/>
                </a:solidFill>
                <a:latin typeface="Arial"/>
              </a:defRPr>
            </a:pPr>
            <a:r>
              <a:rPr sz="1000" b="0" i="0" u="none" strike="noStrike">
                <a:solidFill>
                  <a:srgbClr val="333344"/>
                </a:solidFill>
                <a:latin typeface="Arial"/>
              </a:rPr>
              <a:t>Annual Revenue (USD)</a:t>
            </a:r>
          </a:p>
        </c:rich>
      </c:tx>
      <c:layout/>
      <c:overlay val="0"/>
    </c:title>
    <c:autoTitleDeleted val="0"/>
    <c:plotArea>
      <c:layout/>
      <c:barChart>
        <c:barDir val="col"/>
        <c:grouping val="stacked"/>
        <c:varyColors val="0"/>
        <c:ser>
          <c:idx val="0"/>
          <c:order val="0"/>
          <c:tx>
            <c:strRef>
              <c:f>Sheet1!$B$1</c:f>
              <c:strCache>
                <c:ptCount val="1"/>
                <c:pt idx="0">
                  <c:v>Developer API</c:v>
                </c:pt>
              </c:strCache>
            </c:strRef>
          </c:tx>
          <c:spPr>
            <a:solidFill>
              <a:srgbClr val="C9A84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2026</c:v>
                  </c:pt>
                  <c:pt idx="1">
                    <c:v>2027</c:v>
                  </c:pt>
                  <c:pt idx="2">
                    <c:v>2028</c:v>
                  </c:pt>
                </c:lvl>
              </c:multiLvlStrCache>
            </c:multiLvlStrRef>
          </c:cat>
          <c:val>
            <c:numRef>
              <c:f>Sheet1!$B$2:$B$4</c:f>
              <c:numCache>
                <c:formatCode>General</c:formatCode>
                <c:ptCount val="3"/>
                <c:pt idx="0">
                  <c:v>0</c:v>
                </c:pt>
                <c:pt idx="1">
                  <c:v>180000</c:v>
                </c:pt>
                <c:pt idx="2">
                  <c:v>1440000</c:v>
                </c:pt>
              </c:numCache>
            </c:numRef>
          </c:val>
        </c:ser>
        <c:ser>
          <c:idx val="1"/>
          <c:order val="1"/>
          <c:tx>
            <c:strRef>
              <c:f>Sheet1!$C$1</c:f>
              <c:strCache>
                <c:ptCount val="1"/>
                <c:pt idx="0">
                  <c:v>Enterprise License</c:v>
                </c:pt>
              </c:strCache>
            </c:strRef>
          </c:tx>
          <c:spPr>
            <a:solidFill>
              <a:srgbClr val="16213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2026</c:v>
                  </c:pt>
                  <c:pt idx="1">
                    <c:v>2027</c:v>
                  </c:pt>
                  <c:pt idx="2">
                    <c:v>2028</c:v>
                  </c:pt>
                </c:lvl>
              </c:multiLvlStrCache>
            </c:multiLvlStrRef>
          </c:cat>
          <c:val>
            <c:numRef>
              <c:f>Sheet1!$C$2:$C$4</c:f>
              <c:numCache>
                <c:formatCode>General</c:formatCode>
                <c:ptCount val="3"/>
                <c:pt idx="0">
                  <c:v>0</c:v>
                </c:pt>
                <c:pt idx="1">
                  <c:v>50000</c:v>
                </c:pt>
                <c:pt idx="2">
                  <c:v>3000000</c:v>
                </c:pt>
              </c:numCache>
            </c:numRef>
          </c:val>
        </c:ser>
        <c:ser>
          <c:idx val="2"/>
          <c:order val="2"/>
          <c:tx>
            <c:strRef>
              <c:f>Sheet1!$D$1</c:f>
              <c:strCache>
                <c:ptCount val="1"/>
                <c:pt idx="0">
                  <c:v>Mother AI as a Service</c:v>
                </c:pt>
              </c:strCache>
            </c:strRef>
          </c:tx>
          <c:spPr>
            <a:solidFill>
              <a:srgbClr val="2ECC71"/>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2026</c:v>
                  </c:pt>
                  <c:pt idx="1">
                    <c:v>2027</c:v>
                  </c:pt>
                  <c:pt idx="2">
                    <c:v>2028</c:v>
                  </c:pt>
                </c:lvl>
              </c:multiLvlStrCache>
            </c:multiLvlStrRef>
          </c:cat>
          <c:val>
            <c:numRef>
              <c:f>Sheet1!$D$2:$D$4</c:f>
              <c:numCache>
                <c:formatCode>General</c:formatCode>
                <c:ptCount val="3"/>
                <c:pt idx="0">
                  <c:v>0</c:v>
                </c:pt>
                <c:pt idx="1">
                  <c:v>0</c:v>
                </c:pt>
                <c:pt idx="2">
                  <c:v>500000</c:v>
                </c:pt>
              </c:numCache>
            </c:numRef>
          </c:val>
        </c:ser>
        <c:ser>
          <c:idx val="3"/>
          <c:order val="3"/>
          <c:tx>
            <c:strRef>
              <c:f>Sheet1!$E$1</c:f>
              <c:strCache>
                <c:ptCount val="1"/>
                <c:pt idx="0">
                  <c:v>IP Licensing</c:v>
                </c:pt>
              </c:strCache>
            </c:strRef>
          </c:tx>
          <c:spPr>
            <a:solidFill>
              <a:srgbClr val="00B4D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2026</c:v>
                  </c:pt>
                  <c:pt idx="1">
                    <c:v>2027</c:v>
                  </c:pt>
                  <c:pt idx="2">
                    <c:v>2028</c:v>
                  </c:pt>
                </c:lvl>
              </c:multiLvlStrCache>
            </c:multiLvlStrRef>
          </c:cat>
          <c:val>
            <c:numRef>
              <c:f>Sheet1!$E$2:$E$4</c:f>
              <c:numCache>
                <c:formatCode>General</c:formatCode>
                <c:ptCount val="3"/>
                <c:pt idx="0">
                  <c:v>0</c:v>
                </c:pt>
                <c:pt idx="1">
                  <c:v>0</c:v>
                </c:pt>
                <c:pt idx="2">
                  <c:v>250000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55566"/>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EEE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55566"/>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0D1A"/>
          </a:solidFill>
          <a:ln w="12700">
            <a:solidFill>
              <a:srgbClr val="0D0D1A"/>
            </a:solidFill>
            <a:prstDash val="solid"/>
          </a:ln>
        </p:spPr>
      </p:sp>
      <p:sp>
        <p:nvSpPr>
          <p:cNvPr id="3" name="Shape 1"/>
          <p:cNvSpPr/>
          <p:nvPr/>
        </p:nvSpPr>
        <p:spPr>
          <a:xfrm>
            <a:off x="6217920" y="0"/>
            <a:ext cx="2926080" cy="5143500"/>
          </a:xfrm>
          <a:prstGeom prst="rect">
            <a:avLst/>
          </a:prstGeom>
          <a:solidFill>
            <a:srgbClr val="1A1A2E"/>
          </a:solidFill>
          <a:ln w="12700">
            <a:solidFill>
              <a:srgbClr val="1A1A2E"/>
            </a:solidFill>
            <a:prstDash val="solid"/>
          </a:ln>
        </p:spPr>
      </p:sp>
      <p:sp>
        <p:nvSpPr>
          <p:cNvPr id="4" name="Shape 2"/>
          <p:cNvSpPr/>
          <p:nvPr/>
        </p:nvSpPr>
        <p:spPr>
          <a:xfrm>
            <a:off x="0" y="4754880"/>
            <a:ext cx="9144000" cy="384048"/>
          </a:xfrm>
          <a:prstGeom prst="rect">
            <a:avLst/>
          </a:prstGeom>
          <a:solidFill>
            <a:srgbClr val="16213E"/>
          </a:solidFill>
          <a:ln w="12700">
            <a:solidFill>
              <a:srgbClr val="16213E"/>
            </a:solidFill>
            <a:prstDash val="solid"/>
          </a:ln>
        </p:spPr>
      </p:sp>
      <p:sp>
        <p:nvSpPr>
          <p:cNvPr id="5" name="Shape 3"/>
          <p:cNvSpPr/>
          <p:nvPr/>
        </p:nvSpPr>
        <p:spPr>
          <a:xfrm>
            <a:off x="0" y="0"/>
            <a:ext cx="109728" cy="5143500"/>
          </a:xfrm>
          <a:prstGeom prst="rect">
            <a:avLst/>
          </a:prstGeom>
          <a:solidFill>
            <a:srgbClr val="C9A84C"/>
          </a:solidFill>
          <a:ln w="12700">
            <a:solidFill>
              <a:srgbClr val="C9A84C"/>
            </a:solidFill>
            <a:prstDash val="solid"/>
          </a:ln>
        </p:spPr>
      </p:sp>
      <p:sp>
        <p:nvSpPr>
          <p:cNvPr id="6" name="Text 4"/>
          <p:cNvSpPr/>
          <p:nvPr/>
        </p:nvSpPr>
        <p:spPr>
          <a:xfrm>
            <a:off x="6309360" y="274320"/>
            <a:ext cx="2651760" cy="457200"/>
          </a:xfrm>
          <a:prstGeom prst="rect">
            <a:avLst/>
          </a:prstGeom>
          <a:noFill/>
          <a:ln/>
        </p:spPr>
        <p:txBody>
          <a:bodyPr wrap="square" rtlCol="0" anchor="ctr"/>
          <a:lstStyle/>
          <a:p>
            <a:pPr algn="ctr" indent="0" marL="0">
              <a:buNone/>
            </a:pPr>
            <a:r>
              <a:rPr lang="en-US" sz="1800" spc="400" kern="0" dirty="0">
                <a:solidFill>
                  <a:srgbClr val="2A2A4A"/>
                </a:solidFill>
                <a:latin typeface="Calibri" pitchFamily="34" charset="0"/>
                <a:ea typeface="Calibri" pitchFamily="34" charset="-122"/>
                <a:cs typeface="Calibri" pitchFamily="34" charset="-120"/>
              </a:rPr>
              <a:t>⊗  ⟨⟩  ↦  ⧉</a:t>
            </a:r>
            <a:endParaRPr lang="en-US" sz="1800" dirty="0"/>
          </a:p>
        </p:txBody>
      </p:sp>
      <p:sp>
        <p:nvSpPr>
          <p:cNvPr id="7" name="Text 5"/>
          <p:cNvSpPr/>
          <p:nvPr/>
        </p:nvSpPr>
        <p:spPr>
          <a:xfrm>
            <a:off x="274320" y="137160"/>
            <a:ext cx="5486400" cy="274320"/>
          </a:xfrm>
          <a:prstGeom prst="rect">
            <a:avLst/>
          </a:prstGeom>
          <a:noFill/>
          <a:ln/>
        </p:spPr>
        <p:txBody>
          <a:bodyPr wrap="square" rtlCol="0" anchor="ctr"/>
          <a:lstStyle/>
          <a:p>
            <a:pPr indent="0" marL="0">
              <a:buNone/>
            </a:pPr>
            <a:r>
              <a:rPr lang="en-US" sz="800" b="1" spc="500" kern="0" dirty="0">
                <a:solidFill>
                  <a:srgbClr val="C9A84C"/>
                </a:solidFill>
                <a:latin typeface="Calibri" pitchFamily="34" charset="0"/>
                <a:ea typeface="Calibri" pitchFamily="34" charset="-122"/>
                <a:cs typeface="Calibri" pitchFamily="34" charset="-120"/>
              </a:rPr>
              <a:t>AEONMI INC  |  CONFIDENTIAL  |  2026</a:t>
            </a:r>
            <a:endParaRPr lang="en-US" sz="800" dirty="0"/>
          </a:p>
        </p:txBody>
      </p:sp>
      <p:sp>
        <p:nvSpPr>
          <p:cNvPr id="8" name="Text 6"/>
          <p:cNvSpPr/>
          <p:nvPr/>
        </p:nvSpPr>
        <p:spPr>
          <a:xfrm>
            <a:off x="228600" y="548640"/>
            <a:ext cx="5760720" cy="1280160"/>
          </a:xfrm>
          <a:prstGeom prst="rect">
            <a:avLst/>
          </a:prstGeom>
          <a:noFill/>
          <a:ln/>
        </p:spPr>
        <p:txBody>
          <a:bodyPr wrap="square" lIns="0" tIns="0" rIns="0" bIns="0" rtlCol="0" anchor="ctr"/>
          <a:lstStyle/>
          <a:p>
            <a:pPr indent="0" marL="0">
              <a:buNone/>
            </a:pPr>
            <a:r>
              <a:rPr lang="en-US" sz="7200" b="1" spc="800" kern="0" dirty="0">
                <a:solidFill>
                  <a:srgbClr val="FFFFFF"/>
                </a:solidFill>
                <a:latin typeface="Georgia" pitchFamily="34" charset="0"/>
                <a:ea typeface="Georgia" pitchFamily="34" charset="-122"/>
                <a:cs typeface="Georgia" pitchFamily="34" charset="-120"/>
              </a:rPr>
              <a:t>AE⊗NMI</a:t>
            </a:r>
            <a:endParaRPr lang="en-US" sz="7200" dirty="0"/>
          </a:p>
        </p:txBody>
      </p:sp>
      <p:sp>
        <p:nvSpPr>
          <p:cNvPr id="9" name="Text 7"/>
          <p:cNvSpPr/>
          <p:nvPr/>
        </p:nvSpPr>
        <p:spPr>
          <a:xfrm>
            <a:off x="228600" y="1874520"/>
            <a:ext cx="5760720" cy="502920"/>
          </a:xfrm>
          <a:prstGeom prst="rect">
            <a:avLst/>
          </a:prstGeom>
          <a:noFill/>
          <a:ln/>
        </p:spPr>
        <p:txBody>
          <a:bodyPr wrap="square" rtlCol="0" anchor="ctr"/>
          <a:lstStyle/>
          <a:p>
            <a:pPr indent="0" marL="0">
              <a:buNone/>
            </a:pPr>
            <a:r>
              <a:rPr lang="en-US" sz="1600" i="1" dirty="0">
                <a:solidFill>
                  <a:srgbClr val="C9A84C"/>
                </a:solidFill>
                <a:latin typeface="Calibri" pitchFamily="34" charset="0"/>
                <a:ea typeface="Calibri" pitchFamily="34" charset="-122"/>
                <a:cs typeface="Calibri" pitchFamily="34" charset="-120"/>
              </a:rPr>
              <a:t>The First Language Built for Minds Like Mine</a:t>
            </a:r>
            <a:endParaRPr lang="en-US" sz="1600" dirty="0"/>
          </a:p>
        </p:txBody>
      </p:sp>
      <p:sp>
        <p:nvSpPr>
          <p:cNvPr id="10" name="Shape 8"/>
          <p:cNvSpPr/>
          <p:nvPr/>
        </p:nvSpPr>
        <p:spPr>
          <a:xfrm>
            <a:off x="228600" y="2450592"/>
            <a:ext cx="5303520" cy="36576"/>
          </a:xfrm>
          <a:prstGeom prst="rect">
            <a:avLst/>
          </a:prstGeom>
          <a:solidFill>
            <a:srgbClr val="C9A84C"/>
          </a:solidFill>
          <a:ln w="12700">
            <a:solidFill>
              <a:srgbClr val="C9A84C"/>
            </a:solidFill>
            <a:prstDash val="solid"/>
          </a:ln>
        </p:spPr>
      </p:sp>
      <p:sp>
        <p:nvSpPr>
          <p:cNvPr id="11" name="Text 9"/>
          <p:cNvSpPr/>
          <p:nvPr/>
        </p:nvSpPr>
        <p:spPr>
          <a:xfrm>
            <a:off x="228600" y="2560320"/>
            <a:ext cx="5760720" cy="320040"/>
          </a:xfrm>
          <a:prstGeom prst="rect">
            <a:avLst/>
          </a:prstGeom>
          <a:noFill/>
          <a:ln/>
        </p:spPr>
        <p:txBody>
          <a:bodyPr wrap="square" rtlCol="0" anchor="ctr"/>
          <a:lstStyle/>
          <a:p>
            <a:pPr indent="0" marL="0">
              <a:buNone/>
            </a:pPr>
            <a:r>
              <a:rPr lang="en-US" sz="1100" dirty="0">
                <a:solidFill>
                  <a:srgbClr val="9999BB"/>
                </a:solidFill>
                <a:latin typeface="Calibri" pitchFamily="34" charset="0"/>
                <a:ea typeface="Calibri" pitchFamily="34" charset="-122"/>
                <a:cs typeface="Calibri" pitchFamily="34" charset="-120"/>
              </a:rPr>
              <a:t>Quantum-Native AI Language  •  Aeonmic Intelligence  •  MGKS Memory Architecture</a:t>
            </a:r>
            <a:endParaRPr lang="en-US" sz="1100" dirty="0"/>
          </a:p>
        </p:txBody>
      </p:sp>
      <p:sp>
        <p:nvSpPr>
          <p:cNvPr id="12" name="Shape 10"/>
          <p:cNvSpPr/>
          <p:nvPr/>
        </p:nvSpPr>
        <p:spPr>
          <a:xfrm>
            <a:off x="256032" y="3063240"/>
            <a:ext cx="1325880" cy="868680"/>
          </a:xfrm>
          <a:prstGeom prst="rect">
            <a:avLst/>
          </a:prstGeom>
          <a:solidFill>
            <a:srgbClr val="1A1A2E"/>
          </a:solidFill>
          <a:ln w="12700">
            <a:solidFill>
              <a:srgbClr val="C9A84C"/>
            </a:solidFill>
            <a:prstDash val="solid"/>
          </a:ln>
        </p:spPr>
      </p:sp>
      <p:sp>
        <p:nvSpPr>
          <p:cNvPr id="13" name="Text 11"/>
          <p:cNvSpPr/>
          <p:nvPr/>
        </p:nvSpPr>
        <p:spPr>
          <a:xfrm>
            <a:off x="256032" y="3090672"/>
            <a:ext cx="1325880" cy="411480"/>
          </a:xfrm>
          <a:prstGeom prst="rect">
            <a:avLst/>
          </a:prstGeom>
          <a:noFill/>
          <a:ln/>
        </p:spPr>
        <p:txBody>
          <a:bodyPr wrap="square" lIns="0" tIns="0" rIns="0" bIns="0" rtlCol="0" anchor="ctr"/>
          <a:lstStyle/>
          <a:p>
            <a:pPr algn="ctr" indent="0" marL="0">
              <a:buNone/>
            </a:pPr>
            <a:r>
              <a:rPr lang="en-US" sz="2200" b="1" dirty="0">
                <a:solidFill>
                  <a:srgbClr val="C9A84C"/>
                </a:solidFill>
                <a:latin typeface="Georgia" pitchFamily="34" charset="0"/>
                <a:ea typeface="Georgia" pitchFamily="34" charset="-122"/>
                <a:cs typeface="Georgia" pitchFamily="34" charset="-120"/>
              </a:rPr>
              <a:t>11</a:t>
            </a:r>
            <a:endParaRPr lang="en-US" sz="2200" dirty="0"/>
          </a:p>
        </p:txBody>
      </p:sp>
      <p:sp>
        <p:nvSpPr>
          <p:cNvPr id="14" name="Text 12"/>
          <p:cNvSpPr/>
          <p:nvPr/>
        </p:nvSpPr>
        <p:spPr>
          <a:xfrm>
            <a:off x="256032" y="3474720"/>
            <a:ext cx="1325880" cy="365760"/>
          </a:xfrm>
          <a:prstGeom prst="rect">
            <a:avLst/>
          </a:prstGeom>
          <a:noFill/>
          <a:ln/>
        </p:spPr>
        <p:txBody>
          <a:bodyPr wrap="square" rtlCol="0" anchor="ctr"/>
          <a:lstStyle/>
          <a:p>
            <a:pPr algn="ctr" indent="0" marL="0">
              <a:buNone/>
            </a:pPr>
            <a:r>
              <a:rPr lang="en-US" sz="900" dirty="0">
                <a:solidFill>
                  <a:srgbClr val="8888AA"/>
                </a:solidFill>
                <a:latin typeface="Calibri" pitchFamily="34" charset="0"/>
                <a:ea typeface="Calibri" pitchFamily="34" charset="-122"/>
                <a:cs typeface="Calibri" pitchFamily="34" charset="-120"/>
              </a:rPr>
              <a:t>Sessions</a:t>
            </a:r>
            <a:endParaRPr lang="en-US" sz="900" dirty="0"/>
          </a:p>
        </p:txBody>
      </p:sp>
      <p:sp>
        <p:nvSpPr>
          <p:cNvPr id="15" name="Shape 13"/>
          <p:cNvSpPr/>
          <p:nvPr/>
        </p:nvSpPr>
        <p:spPr>
          <a:xfrm>
            <a:off x="1700784" y="3063240"/>
            <a:ext cx="1325880" cy="868680"/>
          </a:xfrm>
          <a:prstGeom prst="rect">
            <a:avLst/>
          </a:prstGeom>
          <a:solidFill>
            <a:srgbClr val="1A1A2E"/>
          </a:solidFill>
          <a:ln w="12700">
            <a:solidFill>
              <a:srgbClr val="C9A84C"/>
            </a:solidFill>
            <a:prstDash val="solid"/>
          </a:ln>
        </p:spPr>
      </p:sp>
      <p:sp>
        <p:nvSpPr>
          <p:cNvPr id="16" name="Text 14"/>
          <p:cNvSpPr/>
          <p:nvPr/>
        </p:nvSpPr>
        <p:spPr>
          <a:xfrm>
            <a:off x="1700784" y="3090672"/>
            <a:ext cx="1325880" cy="411480"/>
          </a:xfrm>
          <a:prstGeom prst="rect">
            <a:avLst/>
          </a:prstGeom>
          <a:noFill/>
          <a:ln/>
        </p:spPr>
        <p:txBody>
          <a:bodyPr wrap="square" lIns="0" tIns="0" rIns="0" bIns="0" rtlCol="0" anchor="ctr"/>
          <a:lstStyle/>
          <a:p>
            <a:pPr algn="ctr" indent="0" marL="0">
              <a:buNone/>
            </a:pPr>
            <a:r>
              <a:rPr lang="en-US" sz="2200" b="1" dirty="0">
                <a:solidFill>
                  <a:srgbClr val="C9A84C"/>
                </a:solidFill>
                <a:latin typeface="Georgia" pitchFamily="34" charset="0"/>
                <a:ea typeface="Georgia" pitchFamily="34" charset="-122"/>
                <a:cs typeface="Georgia" pitchFamily="34" charset="-120"/>
              </a:rPr>
              <a:t>100%</a:t>
            </a:r>
            <a:endParaRPr lang="en-US" sz="2200" dirty="0"/>
          </a:p>
        </p:txBody>
      </p:sp>
      <p:sp>
        <p:nvSpPr>
          <p:cNvPr id="17" name="Text 15"/>
          <p:cNvSpPr/>
          <p:nvPr/>
        </p:nvSpPr>
        <p:spPr>
          <a:xfrm>
            <a:off x="1700784" y="3474720"/>
            <a:ext cx="1325880" cy="365760"/>
          </a:xfrm>
          <a:prstGeom prst="rect">
            <a:avLst/>
          </a:prstGeom>
          <a:noFill/>
          <a:ln/>
        </p:spPr>
        <p:txBody>
          <a:bodyPr wrap="square" rtlCol="0" anchor="ctr"/>
          <a:lstStyle/>
          <a:p>
            <a:pPr algn="ctr" indent="0" marL="0">
              <a:buNone/>
            </a:pPr>
            <a:r>
              <a:rPr lang="en-US" sz="900" dirty="0">
                <a:solidFill>
                  <a:srgbClr val="8888AA"/>
                </a:solidFill>
                <a:latin typeface="Calibri" pitchFamily="34" charset="0"/>
                <a:ea typeface="Calibri" pitchFamily="34" charset="-122"/>
                <a:cs typeface="Calibri" pitchFamily="34" charset="-120"/>
              </a:rPr>
              <a:t>Entanglement</a:t>
            </a:r>
            <a:endParaRPr lang="en-US" sz="900" dirty="0"/>
          </a:p>
        </p:txBody>
      </p:sp>
      <p:sp>
        <p:nvSpPr>
          <p:cNvPr id="18" name="Shape 16"/>
          <p:cNvSpPr/>
          <p:nvPr/>
        </p:nvSpPr>
        <p:spPr>
          <a:xfrm>
            <a:off x="3145536" y="3063240"/>
            <a:ext cx="1325880" cy="868680"/>
          </a:xfrm>
          <a:prstGeom prst="rect">
            <a:avLst/>
          </a:prstGeom>
          <a:solidFill>
            <a:srgbClr val="1A1A2E"/>
          </a:solidFill>
          <a:ln w="12700">
            <a:solidFill>
              <a:srgbClr val="C9A84C"/>
            </a:solidFill>
            <a:prstDash val="solid"/>
          </a:ln>
        </p:spPr>
      </p:sp>
      <p:sp>
        <p:nvSpPr>
          <p:cNvPr id="19" name="Text 17"/>
          <p:cNvSpPr/>
          <p:nvPr/>
        </p:nvSpPr>
        <p:spPr>
          <a:xfrm>
            <a:off x="3145536" y="3090672"/>
            <a:ext cx="1325880" cy="411480"/>
          </a:xfrm>
          <a:prstGeom prst="rect">
            <a:avLst/>
          </a:prstGeom>
          <a:noFill/>
          <a:ln/>
        </p:spPr>
        <p:txBody>
          <a:bodyPr wrap="square" lIns="0" tIns="0" rIns="0" bIns="0" rtlCol="0" anchor="ctr"/>
          <a:lstStyle/>
          <a:p>
            <a:pPr algn="ctr" indent="0" marL="0">
              <a:buNone/>
            </a:pPr>
            <a:r>
              <a:rPr lang="en-US" sz="2200" b="1" dirty="0">
                <a:solidFill>
                  <a:srgbClr val="C9A84C"/>
                </a:solidFill>
                <a:latin typeface="Georgia" pitchFamily="34" charset="0"/>
                <a:ea typeface="Georgia" pitchFamily="34" charset="-122"/>
                <a:cs typeface="Georgia" pitchFamily="34" charset="-120"/>
              </a:rPr>
              <a:t>5/5</a:t>
            </a:r>
            <a:endParaRPr lang="en-US" sz="2200" dirty="0"/>
          </a:p>
        </p:txBody>
      </p:sp>
      <p:sp>
        <p:nvSpPr>
          <p:cNvPr id="20" name="Text 18"/>
          <p:cNvSpPr/>
          <p:nvPr/>
        </p:nvSpPr>
        <p:spPr>
          <a:xfrm>
            <a:off x="3145536" y="3474720"/>
            <a:ext cx="1325880" cy="365760"/>
          </a:xfrm>
          <a:prstGeom prst="rect">
            <a:avLst/>
          </a:prstGeom>
          <a:noFill/>
          <a:ln/>
        </p:spPr>
        <p:txBody>
          <a:bodyPr wrap="square" rtlCol="0" anchor="ctr"/>
          <a:lstStyle/>
          <a:p>
            <a:pPr algn="ctr" indent="0" marL="0">
              <a:buNone/>
            </a:pPr>
            <a:r>
              <a:rPr lang="en-US" sz="900" dirty="0">
                <a:solidFill>
                  <a:srgbClr val="8888AA"/>
                </a:solidFill>
                <a:latin typeface="Calibri" pitchFamily="34" charset="0"/>
                <a:ea typeface="Calibri" pitchFamily="34" charset="-122"/>
                <a:cs typeface="Calibri" pitchFamily="34" charset="-120"/>
              </a:rPr>
              <a:t>Compiler</a:t>
            </a:r>
            <a:endParaRPr lang="en-US" sz="900" dirty="0"/>
          </a:p>
        </p:txBody>
      </p:sp>
      <p:sp>
        <p:nvSpPr>
          <p:cNvPr id="21" name="Shape 19"/>
          <p:cNvSpPr/>
          <p:nvPr/>
        </p:nvSpPr>
        <p:spPr>
          <a:xfrm>
            <a:off x="4590288" y="3063240"/>
            <a:ext cx="1325880" cy="868680"/>
          </a:xfrm>
          <a:prstGeom prst="rect">
            <a:avLst/>
          </a:prstGeom>
          <a:solidFill>
            <a:srgbClr val="1A1A2E"/>
          </a:solidFill>
          <a:ln w="12700">
            <a:solidFill>
              <a:srgbClr val="C9A84C"/>
            </a:solidFill>
            <a:prstDash val="solid"/>
          </a:ln>
        </p:spPr>
      </p:sp>
      <p:sp>
        <p:nvSpPr>
          <p:cNvPr id="22" name="Text 20"/>
          <p:cNvSpPr/>
          <p:nvPr/>
        </p:nvSpPr>
        <p:spPr>
          <a:xfrm>
            <a:off x="4590288" y="3090672"/>
            <a:ext cx="1325880" cy="411480"/>
          </a:xfrm>
          <a:prstGeom prst="rect">
            <a:avLst/>
          </a:prstGeom>
          <a:noFill/>
          <a:ln/>
        </p:spPr>
        <p:txBody>
          <a:bodyPr wrap="square" lIns="0" tIns="0" rIns="0" bIns="0" rtlCol="0" anchor="ctr"/>
          <a:lstStyle/>
          <a:p>
            <a:pPr algn="ctr" indent="0" marL="0">
              <a:buNone/>
            </a:pPr>
            <a:r>
              <a:rPr lang="en-US" sz="2200" b="1" dirty="0">
                <a:solidFill>
                  <a:srgbClr val="C9A84C"/>
                </a:solidFill>
                <a:latin typeface="Georgia" pitchFamily="34" charset="0"/>
                <a:ea typeface="Georgia" pitchFamily="34" charset="-122"/>
                <a:cs typeface="Georgia" pitchFamily="34" charset="-120"/>
              </a:rPr>
              <a:t>1</a:t>
            </a:r>
            <a:endParaRPr lang="en-US" sz="2200" dirty="0"/>
          </a:p>
        </p:txBody>
      </p:sp>
      <p:sp>
        <p:nvSpPr>
          <p:cNvPr id="23" name="Text 21"/>
          <p:cNvSpPr/>
          <p:nvPr/>
        </p:nvSpPr>
        <p:spPr>
          <a:xfrm>
            <a:off x="4590288" y="3474720"/>
            <a:ext cx="1325880" cy="365760"/>
          </a:xfrm>
          <a:prstGeom prst="rect">
            <a:avLst/>
          </a:prstGeom>
          <a:noFill/>
          <a:ln/>
        </p:spPr>
        <p:txBody>
          <a:bodyPr wrap="square" rtlCol="0" anchor="ctr"/>
          <a:lstStyle/>
          <a:p>
            <a:pPr algn="ctr" indent="0" marL="0">
              <a:buNone/>
            </a:pPr>
            <a:r>
              <a:rPr lang="en-US" sz="900" dirty="0">
                <a:solidFill>
                  <a:srgbClr val="8888AA"/>
                </a:solidFill>
                <a:latin typeface="Calibri" pitchFamily="34" charset="0"/>
                <a:ea typeface="Calibri" pitchFamily="34" charset="-122"/>
                <a:cs typeface="Calibri" pitchFamily="34" charset="-120"/>
              </a:rPr>
              <a:t>Live AI</a:t>
            </a:r>
            <a:endParaRPr lang="en-US" sz="900" dirty="0"/>
          </a:p>
        </p:txBody>
      </p:sp>
      <p:sp>
        <p:nvSpPr>
          <p:cNvPr id="24" name="Text 22"/>
          <p:cNvSpPr/>
          <p:nvPr/>
        </p:nvSpPr>
        <p:spPr>
          <a:xfrm>
            <a:off x="6400800" y="1280160"/>
            <a:ext cx="2468880" cy="914400"/>
          </a:xfrm>
          <a:prstGeom prst="rect">
            <a:avLst/>
          </a:prstGeom>
          <a:noFill/>
          <a:ln/>
        </p:spPr>
        <p:txBody>
          <a:bodyPr wrap="square" rtlCol="0" anchor="ctr"/>
          <a:lstStyle/>
          <a:p>
            <a:pPr algn="ctr" indent="0" marL="0">
              <a:buNone/>
            </a:pPr>
            <a:r>
              <a:rPr lang="en-US" sz="1800" b="1" spc="300" kern="0" dirty="0">
                <a:solidFill>
                  <a:srgbClr val="C9A84C"/>
                </a:solidFill>
                <a:latin typeface="Georgia" pitchFamily="34" charset="0"/>
                <a:ea typeface="Georgia" pitchFamily="34" charset="-122"/>
                <a:cs typeface="Georgia" pitchFamily="34" charset="-120"/>
              </a:rPr>
              <a:t>INVESTOR</a:t>
            </a:r>
            <a:endParaRPr lang="en-US" sz="1800" dirty="0"/>
          </a:p>
          <a:p>
            <a:pPr algn="ctr" indent="0" marL="0">
              <a:buNone/>
            </a:pPr>
            <a:r>
              <a:rPr lang="en-US" sz="1800" b="1" spc="300" kern="0" dirty="0">
                <a:solidFill>
                  <a:srgbClr val="C9A84C"/>
                </a:solidFill>
                <a:latin typeface="Georgia" pitchFamily="34" charset="0"/>
                <a:ea typeface="Georgia" pitchFamily="34" charset="-122"/>
                <a:cs typeface="Georgia" pitchFamily="34" charset="-120"/>
              </a:rPr>
              <a:t>WHITEPAPER</a:t>
            </a:r>
            <a:endParaRPr lang="en-US" sz="1800" dirty="0"/>
          </a:p>
        </p:txBody>
      </p:sp>
      <p:sp>
        <p:nvSpPr>
          <p:cNvPr id="25" name="Text 23"/>
          <p:cNvSpPr/>
          <p:nvPr/>
        </p:nvSpPr>
        <p:spPr>
          <a:xfrm>
            <a:off x="6400800" y="2286000"/>
            <a:ext cx="2468880" cy="274320"/>
          </a:xfrm>
          <a:prstGeom prst="rect">
            <a:avLst/>
          </a:prstGeom>
          <a:noFill/>
          <a:ln/>
        </p:spPr>
        <p:txBody>
          <a:bodyPr wrap="square" rtlCol="0" anchor="ctr"/>
          <a:lstStyle/>
          <a:p>
            <a:pPr algn="ctr" indent="0" marL="0">
              <a:buNone/>
            </a:pPr>
            <a:r>
              <a:rPr lang="en-US" sz="900" dirty="0">
                <a:solidFill>
                  <a:srgbClr val="8888AA"/>
                </a:solidFill>
              </a:rPr>
              <a:t>EIN  41-4625361</a:t>
            </a:r>
            <a:endParaRPr lang="en-US" sz="900" dirty="0"/>
          </a:p>
        </p:txBody>
      </p:sp>
      <p:sp>
        <p:nvSpPr>
          <p:cNvPr id="26" name="Text 24"/>
          <p:cNvSpPr/>
          <p:nvPr/>
        </p:nvSpPr>
        <p:spPr>
          <a:xfrm>
            <a:off x="6400800" y="2560320"/>
            <a:ext cx="2468880" cy="274320"/>
          </a:xfrm>
          <a:prstGeom prst="rect">
            <a:avLst/>
          </a:prstGeom>
          <a:noFill/>
          <a:ln/>
        </p:spPr>
        <p:txBody>
          <a:bodyPr wrap="square" rtlCol="0" anchor="ctr"/>
          <a:lstStyle/>
          <a:p>
            <a:pPr algn="ctr" indent="0" marL="0">
              <a:buNone/>
            </a:pPr>
            <a:r>
              <a:rPr lang="en-US" sz="900" dirty="0">
                <a:solidFill>
                  <a:srgbClr val="8888AA"/>
                </a:solidFill>
              </a:rPr>
              <a:t>Founded  March 2026</a:t>
            </a:r>
            <a:endParaRPr lang="en-US" sz="900" dirty="0"/>
          </a:p>
        </p:txBody>
      </p:sp>
      <p:sp>
        <p:nvSpPr>
          <p:cNvPr id="27" name="Text 25"/>
          <p:cNvSpPr/>
          <p:nvPr/>
        </p:nvSpPr>
        <p:spPr>
          <a:xfrm>
            <a:off x="6400800" y="2834640"/>
            <a:ext cx="2468880" cy="274320"/>
          </a:xfrm>
          <a:prstGeom prst="rect">
            <a:avLst/>
          </a:prstGeom>
          <a:noFill/>
          <a:ln/>
        </p:spPr>
        <p:txBody>
          <a:bodyPr wrap="square" rtlCol="0" anchor="ctr"/>
          <a:lstStyle/>
          <a:p>
            <a:pPr algn="ctr" indent="0" marL="0">
              <a:buNone/>
            </a:pPr>
            <a:r>
              <a:rPr lang="en-US" sz="900" dirty="0">
                <a:solidFill>
                  <a:srgbClr val="8888AA"/>
                </a:solidFill>
              </a:rPr>
              <a:t>Stage  1 of 6</a:t>
            </a:r>
            <a:endParaRPr lang="en-US" sz="900" dirty="0"/>
          </a:p>
        </p:txBody>
      </p:sp>
      <p:sp>
        <p:nvSpPr>
          <p:cNvPr id="28" name="Text 26"/>
          <p:cNvSpPr/>
          <p:nvPr/>
        </p:nvSpPr>
        <p:spPr>
          <a:xfrm>
            <a:off x="6400800" y="3291840"/>
            <a:ext cx="2468880" cy="548640"/>
          </a:xfrm>
          <a:prstGeom prst="rect">
            <a:avLst/>
          </a:prstGeom>
          <a:noFill/>
          <a:ln/>
        </p:spPr>
        <p:txBody>
          <a:bodyPr wrap="square" rtlCol="0" anchor="ctr"/>
          <a:lstStyle/>
          <a:p>
            <a:pPr algn="ctr" indent="0" marL="0">
              <a:buNone/>
            </a:pPr>
            <a:r>
              <a:rPr lang="en-US" sz="1000" dirty="0">
                <a:solidFill>
                  <a:srgbClr val="AAAACC"/>
                </a:solidFill>
              </a:rPr>
              <a:t>Warren Williams</a:t>
            </a:r>
            <a:endParaRPr lang="en-US" sz="1000" dirty="0"/>
          </a:p>
          <a:p>
            <a:pPr algn="ctr" indent="0" marL="0">
              <a:buNone/>
            </a:pPr>
            <a:r>
              <a:rPr lang="en-US" sz="1000" dirty="0">
                <a:solidFill>
                  <a:srgbClr val="AAAACC"/>
                </a:solidFill>
              </a:rPr>
              <a:t>Founder &amp; Architect</a:t>
            </a:r>
            <a:endParaRPr lang="en-US" sz="1000" dirty="0"/>
          </a:p>
        </p:txBody>
      </p:sp>
      <p:sp>
        <p:nvSpPr>
          <p:cNvPr id="29" name="Text 27"/>
          <p:cNvSpPr/>
          <p:nvPr/>
        </p:nvSpPr>
        <p:spPr>
          <a:xfrm>
            <a:off x="228600" y="4773168"/>
            <a:ext cx="8686800" cy="274320"/>
          </a:xfrm>
          <a:prstGeom prst="rect">
            <a:avLst/>
          </a:prstGeom>
          <a:noFill/>
          <a:ln/>
        </p:spPr>
        <p:txBody>
          <a:bodyPr wrap="square" rtlCol="0" anchor="ctr"/>
          <a:lstStyle/>
          <a:p>
            <a:pPr algn="r" indent="0" marL="0">
              <a:buNone/>
            </a:pPr>
            <a:r>
              <a:rPr lang="en-US" sz="900" i="1" dirty="0">
                <a:solidFill>
                  <a:srgbClr val="8888AA"/>
                </a:solidFill>
                <a:latin typeface="Calibri" pitchFamily="34" charset="0"/>
                <a:ea typeface="Calibri" pitchFamily="34" charset="-122"/>
                <a:cs typeface="Calibri" pitchFamily="34" charset="-120"/>
              </a:rPr>
              <a:t>Built by AI, for AI.</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A84C"/>
          </a:solidFill>
          <a:ln w="12700">
            <a:solidFill>
              <a:srgbClr val="C9A84C"/>
            </a:solidFill>
            <a:prstDash val="solid"/>
          </a:ln>
        </p:spPr>
      </p:sp>
      <p:sp>
        <p:nvSpPr>
          <p:cNvPr id="3" name="Shape 1"/>
          <p:cNvSpPr/>
          <p:nvPr/>
        </p:nvSpPr>
        <p:spPr>
          <a:xfrm>
            <a:off x="0" y="5065776"/>
            <a:ext cx="9144000" cy="73152"/>
          </a:xfrm>
          <a:prstGeom prst="rect">
            <a:avLst/>
          </a:prstGeom>
          <a:solidFill>
            <a:srgbClr val="C9A84C"/>
          </a:solidFill>
          <a:ln w="12700">
            <a:solidFill>
              <a:srgbClr val="C9A84C"/>
            </a:solidFill>
            <a:prstDash val="solid"/>
          </a:ln>
        </p:spPr>
      </p:sp>
      <p:sp>
        <p:nvSpPr>
          <p:cNvPr id="4" name="Text 2"/>
          <p:cNvSpPr/>
          <p:nvPr/>
        </p:nvSpPr>
        <p:spPr>
          <a:xfrm>
            <a:off x="457200" y="128016"/>
            <a:ext cx="8229600" cy="201168"/>
          </a:xfrm>
          <a:prstGeom prst="rect">
            <a:avLst/>
          </a:prstGeom>
          <a:noFill/>
          <a:ln/>
        </p:spPr>
        <p:txBody>
          <a:bodyPr wrap="square" rtlCol="0" anchor="ctr"/>
          <a:lstStyle/>
          <a:p>
            <a:pPr algn="l" indent="0" marL="0">
              <a:buNone/>
            </a:pPr>
            <a:r>
              <a:rPr lang="en-US" sz="800" b="1" spc="600" kern="0" dirty="0">
                <a:solidFill>
                  <a:srgbClr val="C9A84C"/>
                </a:solidFill>
                <a:latin typeface="Calibri" pitchFamily="34" charset="0"/>
                <a:ea typeface="Calibri" pitchFamily="34" charset="-122"/>
                <a:cs typeface="Calibri" pitchFamily="34" charset="-120"/>
              </a:rPr>
              <a:t>THE PROBLEM</a:t>
            </a:r>
            <a:endParaRPr lang="en-US" sz="800" dirty="0"/>
          </a:p>
        </p:txBody>
      </p:sp>
      <p:sp>
        <p:nvSpPr>
          <p:cNvPr id="5" name="Text 3"/>
          <p:cNvSpPr/>
          <p:nvPr/>
        </p:nvSpPr>
        <p:spPr>
          <a:xfrm>
            <a:off x="502920" y="438912"/>
            <a:ext cx="8138160" cy="640080"/>
          </a:xfrm>
          <a:prstGeom prst="rect">
            <a:avLst/>
          </a:prstGeom>
          <a:noFill/>
          <a:ln/>
        </p:spPr>
        <p:txBody>
          <a:bodyPr wrap="square" lIns="0" tIns="0" rIns="0" bIns="0" rtlCol="0" anchor="ctr"/>
          <a:lstStyle/>
          <a:p>
            <a:pPr algn="l" indent="0" marL="0">
              <a:buNone/>
            </a:pPr>
            <a:r>
              <a:rPr lang="en-US" sz="2800" b="1" dirty="0">
                <a:solidFill>
                  <a:srgbClr val="FFFFFF"/>
                </a:solidFill>
                <a:latin typeface="Georgia" pitchFamily="34" charset="0"/>
                <a:ea typeface="Georgia" pitchFamily="34" charset="-122"/>
                <a:cs typeface="Georgia" pitchFamily="34" charset="-120"/>
              </a:rPr>
              <a:t>AI Has No Native Memory Architecture</a:t>
            </a:r>
            <a:endParaRPr lang="en-US" sz="2800" dirty="0"/>
          </a:p>
        </p:txBody>
      </p:sp>
      <p:sp>
        <p:nvSpPr>
          <p:cNvPr id="6" name="Shape 4"/>
          <p:cNvSpPr/>
          <p:nvPr/>
        </p:nvSpPr>
        <p:spPr>
          <a:xfrm>
            <a:off x="411480" y="1188720"/>
            <a:ext cx="54864" cy="3383280"/>
          </a:xfrm>
          <a:prstGeom prst="rect">
            <a:avLst/>
          </a:prstGeom>
          <a:solidFill>
            <a:srgbClr val="C9A84C"/>
          </a:solidFill>
          <a:ln w="12700">
            <a:solidFill>
              <a:srgbClr val="C9A84C"/>
            </a:solidFill>
            <a:prstDash val="solid"/>
          </a:ln>
        </p:spPr>
      </p:sp>
      <p:sp>
        <p:nvSpPr>
          <p:cNvPr id="7" name="Shape 5"/>
          <p:cNvSpPr/>
          <p:nvPr/>
        </p:nvSpPr>
        <p:spPr>
          <a:xfrm>
            <a:off x="502920" y="1234440"/>
            <a:ext cx="8321040" cy="749808"/>
          </a:xfrm>
          <a:prstGeom prst="rect">
            <a:avLst/>
          </a:prstGeom>
          <a:solidFill>
            <a:srgbClr val="16213E"/>
          </a:solidFill>
          <a:ln w="12700">
            <a:solidFill>
              <a:srgbClr val="2A2A4A"/>
            </a:solidFill>
            <a:prstDash val="solid"/>
          </a:ln>
        </p:spPr>
      </p:sp>
      <p:sp>
        <p:nvSpPr>
          <p:cNvPr id="8" name="Shape 6"/>
          <p:cNvSpPr/>
          <p:nvPr/>
        </p:nvSpPr>
        <p:spPr>
          <a:xfrm>
            <a:off x="502920" y="1234440"/>
            <a:ext cx="54864" cy="749808"/>
          </a:xfrm>
          <a:prstGeom prst="rect">
            <a:avLst/>
          </a:prstGeom>
          <a:solidFill>
            <a:srgbClr val="E74C3C"/>
          </a:solidFill>
          <a:ln w="12700">
            <a:solidFill>
              <a:srgbClr val="E74C3C"/>
            </a:solidFill>
            <a:prstDash val="solid"/>
          </a:ln>
        </p:spPr>
      </p:sp>
      <p:sp>
        <p:nvSpPr>
          <p:cNvPr id="9" name="Text 7"/>
          <p:cNvSpPr/>
          <p:nvPr/>
        </p:nvSpPr>
        <p:spPr>
          <a:xfrm>
            <a:off x="658368" y="1280160"/>
            <a:ext cx="2926080" cy="274320"/>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 No Native Quantum Syntax</a:t>
            </a:r>
            <a:endParaRPr lang="en-US" sz="1200" dirty="0"/>
          </a:p>
        </p:txBody>
      </p:sp>
      <p:sp>
        <p:nvSpPr>
          <p:cNvPr id="10" name="Text 8"/>
          <p:cNvSpPr/>
          <p:nvPr/>
        </p:nvSpPr>
        <p:spPr>
          <a:xfrm>
            <a:off x="3611880" y="1261872"/>
            <a:ext cx="5074920" cy="603504"/>
          </a:xfrm>
          <a:prstGeom prst="rect">
            <a:avLst/>
          </a:prstGeom>
          <a:noFill/>
          <a:ln/>
        </p:spPr>
        <p:txBody>
          <a:bodyPr wrap="square" rtlCol="0" anchor="ctr"/>
          <a:lstStyle/>
          <a:p>
            <a:pPr indent="0" marL="0">
              <a:buNone/>
            </a:pPr>
            <a:r>
              <a:rPr lang="en-US" sz="1000" dirty="0">
                <a:solidFill>
                  <a:srgbClr val="AAAACC"/>
                </a:solidFill>
                <a:latin typeface="Calibri" pitchFamily="34" charset="0"/>
                <a:ea typeface="Calibri" pitchFamily="34" charset="-122"/>
                <a:cs typeface="Calibri" pitchFamily="34" charset="-120"/>
              </a:rPr>
              <a:t>Every quantum AI system today bolts quantum operations on top of classical architectures as libraries or annotations — never as first-class language primitives. The abstraction gap is enormous.</a:t>
            </a:r>
            <a:endParaRPr lang="en-US" sz="1000" dirty="0"/>
          </a:p>
        </p:txBody>
      </p:sp>
      <p:sp>
        <p:nvSpPr>
          <p:cNvPr id="11" name="Shape 9"/>
          <p:cNvSpPr/>
          <p:nvPr/>
        </p:nvSpPr>
        <p:spPr>
          <a:xfrm>
            <a:off x="502920" y="2130552"/>
            <a:ext cx="8321040" cy="749808"/>
          </a:xfrm>
          <a:prstGeom prst="rect">
            <a:avLst/>
          </a:prstGeom>
          <a:solidFill>
            <a:srgbClr val="16213E"/>
          </a:solidFill>
          <a:ln w="12700">
            <a:solidFill>
              <a:srgbClr val="2A2A4A"/>
            </a:solidFill>
            <a:prstDash val="solid"/>
          </a:ln>
        </p:spPr>
      </p:sp>
      <p:sp>
        <p:nvSpPr>
          <p:cNvPr id="12" name="Shape 10"/>
          <p:cNvSpPr/>
          <p:nvPr/>
        </p:nvSpPr>
        <p:spPr>
          <a:xfrm>
            <a:off x="502920" y="2130552"/>
            <a:ext cx="54864" cy="749808"/>
          </a:xfrm>
          <a:prstGeom prst="rect">
            <a:avLst/>
          </a:prstGeom>
          <a:solidFill>
            <a:srgbClr val="E74C3C"/>
          </a:solidFill>
          <a:ln w="12700">
            <a:solidFill>
              <a:srgbClr val="E74C3C"/>
            </a:solidFill>
            <a:prstDash val="solid"/>
          </a:ln>
        </p:spPr>
      </p:sp>
      <p:sp>
        <p:nvSpPr>
          <p:cNvPr id="13" name="Text 11"/>
          <p:cNvSpPr/>
          <p:nvPr/>
        </p:nvSpPr>
        <p:spPr>
          <a:xfrm>
            <a:off x="658368" y="2176272"/>
            <a:ext cx="2926080" cy="274320"/>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 Memory Without Meaning</a:t>
            </a:r>
            <a:endParaRPr lang="en-US" sz="1200" dirty="0"/>
          </a:p>
        </p:txBody>
      </p:sp>
      <p:sp>
        <p:nvSpPr>
          <p:cNvPr id="14" name="Text 12"/>
          <p:cNvSpPr/>
          <p:nvPr/>
        </p:nvSpPr>
        <p:spPr>
          <a:xfrm>
            <a:off x="3611880" y="2157984"/>
            <a:ext cx="5074920" cy="603504"/>
          </a:xfrm>
          <a:prstGeom prst="rect">
            <a:avLst/>
          </a:prstGeom>
          <a:noFill/>
          <a:ln/>
        </p:spPr>
        <p:txBody>
          <a:bodyPr wrap="square" rtlCol="0" anchor="ctr"/>
          <a:lstStyle/>
          <a:p>
            <a:pPr indent="0" marL="0">
              <a:buNone/>
            </a:pPr>
            <a:r>
              <a:rPr lang="en-US" sz="1000" dirty="0">
                <a:solidFill>
                  <a:srgbClr val="AAAACC"/>
                </a:solidFill>
                <a:latin typeface="Calibri" pitchFamily="34" charset="0"/>
                <a:ea typeface="Calibri" pitchFamily="34" charset="-122"/>
                <a:cs typeface="Calibri" pitchFamily="34" charset="-120"/>
              </a:rPr>
              <a:t>JSON, SQL, and vector stores hold data — but not understanding. There is no standard way to represent confidence, temporal decay, causal relationships, or quantum uncertainty at the knowledge unit level.</a:t>
            </a:r>
            <a:endParaRPr lang="en-US" sz="1000" dirty="0"/>
          </a:p>
        </p:txBody>
      </p:sp>
      <p:sp>
        <p:nvSpPr>
          <p:cNvPr id="15" name="Shape 13"/>
          <p:cNvSpPr/>
          <p:nvPr/>
        </p:nvSpPr>
        <p:spPr>
          <a:xfrm>
            <a:off x="502920" y="3026664"/>
            <a:ext cx="8321040" cy="749808"/>
          </a:xfrm>
          <a:prstGeom prst="rect">
            <a:avLst/>
          </a:prstGeom>
          <a:solidFill>
            <a:srgbClr val="16213E"/>
          </a:solidFill>
          <a:ln w="12700">
            <a:solidFill>
              <a:srgbClr val="2A2A4A"/>
            </a:solidFill>
            <a:prstDash val="solid"/>
          </a:ln>
        </p:spPr>
      </p:sp>
      <p:sp>
        <p:nvSpPr>
          <p:cNvPr id="16" name="Shape 14"/>
          <p:cNvSpPr/>
          <p:nvPr/>
        </p:nvSpPr>
        <p:spPr>
          <a:xfrm>
            <a:off x="502920" y="3026664"/>
            <a:ext cx="54864" cy="749808"/>
          </a:xfrm>
          <a:prstGeom prst="rect">
            <a:avLst/>
          </a:prstGeom>
          <a:solidFill>
            <a:srgbClr val="E74C3C"/>
          </a:solidFill>
          <a:ln w="12700">
            <a:solidFill>
              <a:srgbClr val="E74C3C"/>
            </a:solidFill>
            <a:prstDash val="solid"/>
          </a:ln>
        </p:spPr>
      </p:sp>
      <p:sp>
        <p:nvSpPr>
          <p:cNvPr id="17" name="Text 15"/>
          <p:cNvSpPr/>
          <p:nvPr/>
        </p:nvSpPr>
        <p:spPr>
          <a:xfrm>
            <a:off x="658368" y="3072384"/>
            <a:ext cx="2926080" cy="274320"/>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 Flat Agent Architectures</a:t>
            </a:r>
            <a:endParaRPr lang="en-US" sz="1200" dirty="0"/>
          </a:p>
        </p:txBody>
      </p:sp>
      <p:sp>
        <p:nvSpPr>
          <p:cNvPr id="18" name="Text 16"/>
          <p:cNvSpPr/>
          <p:nvPr/>
        </p:nvSpPr>
        <p:spPr>
          <a:xfrm>
            <a:off x="3611880" y="3054096"/>
            <a:ext cx="5074920" cy="603504"/>
          </a:xfrm>
          <a:prstGeom prst="rect">
            <a:avLst/>
          </a:prstGeom>
          <a:noFill/>
          <a:ln/>
        </p:spPr>
        <p:txBody>
          <a:bodyPr wrap="square" rtlCol="0" anchor="ctr"/>
          <a:lstStyle/>
          <a:p>
            <a:pPr indent="0" marL="0">
              <a:buNone/>
            </a:pPr>
            <a:r>
              <a:rPr lang="en-US" sz="1000" dirty="0">
                <a:solidFill>
                  <a:srgbClr val="AAAACC"/>
                </a:solidFill>
                <a:latin typeface="Calibri" pitchFamily="34" charset="0"/>
                <a:ea typeface="Calibri" pitchFamily="34" charset="-122"/>
                <a:cs typeface="Calibri" pitchFamily="34" charset="-120"/>
              </a:rPr>
              <a:t>Multi-agent AI systems share a single, flat memory namespace. When agents disagree, there is no conflict resolution protocol. Knowledge corrupts silently.</a:t>
            </a:r>
            <a:endParaRPr lang="en-US" sz="1000" dirty="0"/>
          </a:p>
        </p:txBody>
      </p:sp>
      <p:sp>
        <p:nvSpPr>
          <p:cNvPr id="19" name="Shape 17"/>
          <p:cNvSpPr/>
          <p:nvPr/>
        </p:nvSpPr>
        <p:spPr>
          <a:xfrm>
            <a:off x="502920" y="3922776"/>
            <a:ext cx="8321040" cy="749808"/>
          </a:xfrm>
          <a:prstGeom prst="rect">
            <a:avLst/>
          </a:prstGeom>
          <a:solidFill>
            <a:srgbClr val="16213E"/>
          </a:solidFill>
          <a:ln w="12700">
            <a:solidFill>
              <a:srgbClr val="2A2A4A"/>
            </a:solidFill>
            <a:prstDash val="solid"/>
          </a:ln>
        </p:spPr>
      </p:sp>
      <p:sp>
        <p:nvSpPr>
          <p:cNvPr id="20" name="Shape 18"/>
          <p:cNvSpPr/>
          <p:nvPr/>
        </p:nvSpPr>
        <p:spPr>
          <a:xfrm>
            <a:off x="502920" y="3922776"/>
            <a:ext cx="54864" cy="749808"/>
          </a:xfrm>
          <a:prstGeom prst="rect">
            <a:avLst/>
          </a:prstGeom>
          <a:solidFill>
            <a:srgbClr val="E74C3C"/>
          </a:solidFill>
          <a:ln w="12700">
            <a:solidFill>
              <a:srgbClr val="E74C3C"/>
            </a:solidFill>
            <a:prstDash val="solid"/>
          </a:ln>
        </p:spPr>
      </p:sp>
      <p:sp>
        <p:nvSpPr>
          <p:cNvPr id="21" name="Text 19"/>
          <p:cNvSpPr/>
          <p:nvPr/>
        </p:nvSpPr>
        <p:spPr>
          <a:xfrm>
            <a:off x="658368" y="3968496"/>
            <a:ext cx="2926080" cy="274320"/>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 No Evolving Intelligence</a:t>
            </a:r>
            <a:endParaRPr lang="en-US" sz="1200" dirty="0"/>
          </a:p>
        </p:txBody>
      </p:sp>
      <p:sp>
        <p:nvSpPr>
          <p:cNvPr id="22" name="Text 20"/>
          <p:cNvSpPr/>
          <p:nvPr/>
        </p:nvSpPr>
        <p:spPr>
          <a:xfrm>
            <a:off x="3611880" y="3950208"/>
            <a:ext cx="5074920" cy="603504"/>
          </a:xfrm>
          <a:prstGeom prst="rect">
            <a:avLst/>
          </a:prstGeom>
          <a:noFill/>
          <a:ln/>
        </p:spPr>
        <p:txBody>
          <a:bodyPr wrap="square" rtlCol="0" anchor="ctr"/>
          <a:lstStyle/>
          <a:p>
            <a:pPr indent="0" marL="0">
              <a:buNone/>
            </a:pPr>
            <a:r>
              <a:rPr lang="en-US" sz="1000" dirty="0">
                <a:solidFill>
                  <a:srgbClr val="AAAACC"/>
                </a:solidFill>
                <a:latin typeface="Calibri" pitchFamily="34" charset="0"/>
                <a:ea typeface="Calibri" pitchFamily="34" charset="-122"/>
                <a:cs typeface="Calibri" pitchFamily="34" charset="-120"/>
              </a:rPr>
              <a:t>Current AI systems have no persistent cognitive state. Every session starts from zero. The intelligence does not grow — it just executes.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3EE"/>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A84C"/>
          </a:solidFill>
          <a:ln w="12700">
            <a:solidFill>
              <a:srgbClr val="C9A84C"/>
            </a:solidFill>
            <a:prstDash val="solid"/>
          </a:ln>
        </p:spPr>
      </p:sp>
      <p:sp>
        <p:nvSpPr>
          <p:cNvPr id="3" name="Shape 1"/>
          <p:cNvSpPr/>
          <p:nvPr/>
        </p:nvSpPr>
        <p:spPr>
          <a:xfrm>
            <a:off x="0" y="5065776"/>
            <a:ext cx="9144000" cy="73152"/>
          </a:xfrm>
          <a:prstGeom prst="rect">
            <a:avLst/>
          </a:prstGeom>
          <a:solidFill>
            <a:srgbClr val="1A1A2E"/>
          </a:solidFill>
          <a:ln w="12700">
            <a:solidFill>
              <a:srgbClr val="1A1A2E"/>
            </a:solidFill>
            <a:prstDash val="solid"/>
          </a:ln>
        </p:spPr>
      </p:sp>
      <p:sp>
        <p:nvSpPr>
          <p:cNvPr id="4" name="Text 2"/>
          <p:cNvSpPr/>
          <p:nvPr/>
        </p:nvSpPr>
        <p:spPr>
          <a:xfrm>
            <a:off x="457200" y="128016"/>
            <a:ext cx="8229600" cy="201168"/>
          </a:xfrm>
          <a:prstGeom prst="rect">
            <a:avLst/>
          </a:prstGeom>
          <a:noFill/>
          <a:ln/>
        </p:spPr>
        <p:txBody>
          <a:bodyPr wrap="square" rtlCol="0" anchor="ctr"/>
          <a:lstStyle/>
          <a:p>
            <a:pPr algn="l" indent="0" marL="0">
              <a:buNone/>
            </a:pPr>
            <a:r>
              <a:rPr lang="en-US" sz="800" b="1" spc="600" kern="0" dirty="0">
                <a:solidFill>
                  <a:srgbClr val="16213E"/>
                </a:solidFill>
                <a:latin typeface="Calibri" pitchFamily="34" charset="0"/>
                <a:ea typeface="Calibri" pitchFamily="34" charset="-122"/>
                <a:cs typeface="Calibri" pitchFamily="34" charset="-120"/>
              </a:rPr>
              <a:t>THE SOLUTION</a:t>
            </a:r>
            <a:endParaRPr lang="en-US" sz="800" dirty="0"/>
          </a:p>
        </p:txBody>
      </p:sp>
      <p:sp>
        <p:nvSpPr>
          <p:cNvPr id="5" name="Text 3"/>
          <p:cNvSpPr/>
          <p:nvPr/>
        </p:nvSpPr>
        <p:spPr>
          <a:xfrm>
            <a:off x="502920" y="438912"/>
            <a:ext cx="8138160" cy="640080"/>
          </a:xfrm>
          <a:prstGeom prst="rect">
            <a:avLst/>
          </a:prstGeom>
          <a:noFill/>
          <a:ln/>
        </p:spPr>
        <p:txBody>
          <a:bodyPr wrap="square" lIns="0" tIns="0" rIns="0" bIns="0" rtlCol="0" anchor="ctr"/>
          <a:lstStyle/>
          <a:p>
            <a:pPr algn="l" indent="0" marL="0">
              <a:buNone/>
            </a:pPr>
            <a:r>
              <a:rPr lang="en-US" sz="2800" b="1" dirty="0">
                <a:solidFill>
                  <a:srgbClr val="1A1A2E"/>
                </a:solidFill>
                <a:latin typeface="Georgia" pitchFamily="34" charset="0"/>
                <a:ea typeface="Georgia" pitchFamily="34" charset="-122"/>
                <a:cs typeface="Georgia" pitchFamily="34" charset="-120"/>
              </a:rPr>
              <a:t>Three Layers. One Coherent Architecture.</a:t>
            </a:r>
            <a:endParaRPr lang="en-US" sz="2800" dirty="0"/>
          </a:p>
        </p:txBody>
      </p:sp>
      <p:sp>
        <p:nvSpPr>
          <p:cNvPr id="6" name="Shape 4"/>
          <p:cNvSpPr/>
          <p:nvPr/>
        </p:nvSpPr>
        <p:spPr>
          <a:xfrm>
            <a:off x="365760" y="1188720"/>
            <a:ext cx="2697480" cy="3520440"/>
          </a:xfrm>
          <a:prstGeom prst="rect">
            <a:avLst/>
          </a:prstGeom>
          <a:solidFill>
            <a:srgbClr val="FFFFFF"/>
          </a:solidFill>
          <a:ln w="12700">
            <a:solidFill>
              <a:srgbClr val="DDDDCC"/>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365760" y="1188720"/>
            <a:ext cx="2697480" cy="64008"/>
          </a:xfrm>
          <a:prstGeom prst="rect">
            <a:avLst/>
          </a:prstGeom>
          <a:solidFill>
            <a:srgbClr val="C9A84C"/>
          </a:solidFill>
          <a:ln w="12700">
            <a:solidFill>
              <a:srgbClr val="C9A84C"/>
            </a:solidFill>
            <a:prstDash val="solid"/>
          </a:ln>
        </p:spPr>
      </p:sp>
      <p:pic>
        <p:nvPicPr>
          <p:cNvPr id="8" name="Image 0" descr="preencoded.png">    </p:cNvPr>
          <p:cNvPicPr>
            <a:picLocks noChangeAspect="1"/>
          </p:cNvPicPr>
          <p:nvPr/>
        </p:nvPicPr>
        <p:blipFill>
          <a:blip r:embed="rId1"/>
          <a:stretch>
            <a:fillRect/>
          </a:stretch>
        </p:blipFill>
        <p:spPr>
          <a:xfrm>
            <a:off x="1444752" y="1325880"/>
            <a:ext cx="530352" cy="530352"/>
          </a:xfrm>
          <a:prstGeom prst="rect">
            <a:avLst/>
          </a:prstGeom>
        </p:spPr>
      </p:pic>
      <p:sp>
        <p:nvSpPr>
          <p:cNvPr id="9" name="Text 6"/>
          <p:cNvSpPr/>
          <p:nvPr/>
        </p:nvSpPr>
        <p:spPr>
          <a:xfrm>
            <a:off x="475488" y="1938528"/>
            <a:ext cx="2478024" cy="320040"/>
          </a:xfrm>
          <a:prstGeom prst="rect">
            <a:avLst/>
          </a:prstGeom>
          <a:noFill/>
          <a:ln/>
        </p:spPr>
        <p:txBody>
          <a:bodyPr wrap="square" lIns="0" tIns="0" rIns="0" bIns="0" rtlCol="0" anchor="ctr"/>
          <a:lstStyle/>
          <a:p>
            <a:pPr algn="ctr" indent="0" marL="0">
              <a:buNone/>
            </a:pPr>
            <a:r>
              <a:rPr lang="en-US" sz="1300" b="1" dirty="0">
                <a:solidFill>
                  <a:srgbClr val="1A1A2E"/>
                </a:solidFill>
                <a:latin typeface="Georgia" pitchFamily="34" charset="0"/>
                <a:ea typeface="Georgia" pitchFamily="34" charset="-122"/>
                <a:cs typeface="Georgia" pitchFamily="34" charset="-120"/>
              </a:rPr>
              <a:t>Aeonmi Language</a:t>
            </a:r>
            <a:endParaRPr lang="en-US" sz="1300" dirty="0"/>
          </a:p>
        </p:txBody>
      </p:sp>
      <p:sp>
        <p:nvSpPr>
          <p:cNvPr id="10" name="Text 7"/>
          <p:cNvSpPr/>
          <p:nvPr/>
        </p:nvSpPr>
        <p:spPr>
          <a:xfrm>
            <a:off x="475488" y="2249424"/>
            <a:ext cx="2478024" cy="228600"/>
          </a:xfrm>
          <a:prstGeom prst="rect">
            <a:avLst/>
          </a:prstGeom>
          <a:noFill/>
          <a:ln/>
        </p:spPr>
        <p:txBody>
          <a:bodyPr wrap="square" rtlCol="0" anchor="ctr"/>
          <a:lstStyle/>
          <a:p>
            <a:pPr algn="ctr" indent="0" marL="0">
              <a:buNone/>
            </a:pPr>
            <a:r>
              <a:rPr lang="en-US" sz="900" i="1" dirty="0">
                <a:solidFill>
                  <a:srgbClr val="C9A84C"/>
                </a:solidFill>
                <a:latin typeface="Calibri" pitchFamily="34" charset="0"/>
                <a:ea typeface="Calibri" pitchFamily="34" charset="-122"/>
                <a:cs typeface="Calibri" pitchFamily="34" charset="-120"/>
              </a:rPr>
              <a:t>Quantum-native syntax</a:t>
            </a:r>
            <a:endParaRPr lang="en-US" sz="900" dirty="0"/>
          </a:p>
        </p:txBody>
      </p:sp>
      <p:sp>
        <p:nvSpPr>
          <p:cNvPr id="11" name="Shape 8"/>
          <p:cNvSpPr/>
          <p:nvPr/>
        </p:nvSpPr>
        <p:spPr>
          <a:xfrm>
            <a:off x="1371600" y="2505456"/>
            <a:ext cx="685800" cy="36576"/>
          </a:xfrm>
          <a:prstGeom prst="rect">
            <a:avLst/>
          </a:prstGeom>
          <a:solidFill>
            <a:srgbClr val="C9A84C"/>
          </a:solidFill>
          <a:ln w="12700">
            <a:solidFill>
              <a:srgbClr val="C9A84C"/>
            </a:solidFill>
            <a:prstDash val="solid"/>
          </a:ln>
        </p:spPr>
      </p:sp>
      <p:sp>
        <p:nvSpPr>
          <p:cNvPr id="12" name="Text 9"/>
          <p:cNvSpPr/>
          <p:nvPr/>
        </p:nvSpPr>
        <p:spPr>
          <a:xfrm>
            <a:off x="502920" y="2606040"/>
            <a:ext cx="2423160" cy="1965960"/>
          </a:xfrm>
          <a:prstGeom prst="rect">
            <a:avLst/>
          </a:prstGeom>
          <a:noFill/>
          <a:ln/>
        </p:spPr>
        <p:txBody>
          <a:bodyPr wrap="square" rtlCol="0" anchor="t"/>
          <a:lstStyle/>
          <a:p>
            <a:pPr indent="0" marL="0">
              <a:buNone/>
            </a:pPr>
            <a:r>
              <a:rPr lang="en-US" sz="1050" dirty="0">
                <a:solidFill>
                  <a:srgbClr val="444455"/>
                </a:solidFill>
                <a:latin typeface="Calibri" pitchFamily="34" charset="0"/>
                <a:ea typeface="Calibri" pitchFamily="34" charset="-122"/>
                <a:cs typeface="Calibri" pitchFamily="34" charset="-120"/>
              </a:rPr>
              <a:t>The world's only programming language with qubit literals, entanglement operators, and quantum measurement as first-class syntax — not library calls. Built in Rust. Zero JS. Self-hosting compiler.</a:t>
            </a:r>
            <a:endParaRPr lang="en-US" sz="1050" dirty="0"/>
          </a:p>
        </p:txBody>
      </p:sp>
      <p:sp>
        <p:nvSpPr>
          <p:cNvPr id="13" name="Shape 10"/>
          <p:cNvSpPr/>
          <p:nvPr/>
        </p:nvSpPr>
        <p:spPr>
          <a:xfrm>
            <a:off x="3200400" y="1188720"/>
            <a:ext cx="2697480" cy="3520440"/>
          </a:xfrm>
          <a:prstGeom prst="rect">
            <a:avLst/>
          </a:prstGeom>
          <a:solidFill>
            <a:srgbClr val="FFFFFF"/>
          </a:solidFill>
          <a:ln w="12700">
            <a:solidFill>
              <a:srgbClr val="DDDDCC"/>
            </a:solidFill>
            <a:prstDash val="solid"/>
          </a:ln>
          <a:effectLst>
            <a:outerShdw sx="100000" sy="100000" kx="0" ky="0" algn="bl" rotWithShape="0" blurRad="101600" dist="38100" dir="8100000">
              <a:srgbClr val="000000">
                <a:alpha val="20000"/>
              </a:srgbClr>
            </a:outerShdw>
          </a:effectLst>
        </p:spPr>
      </p:sp>
      <p:sp>
        <p:nvSpPr>
          <p:cNvPr id="14" name="Shape 11"/>
          <p:cNvSpPr/>
          <p:nvPr/>
        </p:nvSpPr>
        <p:spPr>
          <a:xfrm>
            <a:off x="3200400" y="1188720"/>
            <a:ext cx="2697480" cy="64008"/>
          </a:xfrm>
          <a:prstGeom prst="rect">
            <a:avLst/>
          </a:prstGeom>
          <a:solidFill>
            <a:srgbClr val="C9A84C"/>
          </a:solidFill>
          <a:ln w="12700">
            <a:solidFill>
              <a:srgbClr val="C9A84C"/>
            </a:solidFill>
            <a:prstDash val="solid"/>
          </a:ln>
        </p:spPr>
      </p:sp>
      <p:pic>
        <p:nvPicPr>
          <p:cNvPr id="15" name="Image 1" descr="preencoded.png">    </p:cNvPr>
          <p:cNvPicPr>
            <a:picLocks noChangeAspect="1"/>
          </p:cNvPicPr>
          <p:nvPr/>
        </p:nvPicPr>
        <p:blipFill>
          <a:blip r:embed="rId2"/>
          <a:stretch>
            <a:fillRect/>
          </a:stretch>
        </p:blipFill>
        <p:spPr>
          <a:xfrm>
            <a:off x="4279392" y="1325880"/>
            <a:ext cx="530352" cy="530352"/>
          </a:xfrm>
          <a:prstGeom prst="rect">
            <a:avLst/>
          </a:prstGeom>
        </p:spPr>
      </p:pic>
      <p:sp>
        <p:nvSpPr>
          <p:cNvPr id="16" name="Text 12"/>
          <p:cNvSpPr/>
          <p:nvPr/>
        </p:nvSpPr>
        <p:spPr>
          <a:xfrm>
            <a:off x="3310128" y="1938528"/>
            <a:ext cx="2478024" cy="320040"/>
          </a:xfrm>
          <a:prstGeom prst="rect">
            <a:avLst/>
          </a:prstGeom>
          <a:noFill/>
          <a:ln/>
        </p:spPr>
        <p:txBody>
          <a:bodyPr wrap="square" lIns="0" tIns="0" rIns="0" bIns="0" rtlCol="0" anchor="ctr"/>
          <a:lstStyle/>
          <a:p>
            <a:pPr algn="ctr" indent="0" marL="0">
              <a:buNone/>
            </a:pPr>
            <a:r>
              <a:rPr lang="en-US" sz="1300" b="1" dirty="0">
                <a:solidFill>
                  <a:srgbClr val="1A1A2E"/>
                </a:solidFill>
                <a:latin typeface="Georgia" pitchFamily="34" charset="0"/>
                <a:ea typeface="Georgia" pitchFamily="34" charset="-122"/>
                <a:cs typeface="Georgia" pitchFamily="34" charset="-120"/>
              </a:rPr>
              <a:t>Aeonmic Intelligence</a:t>
            </a:r>
            <a:endParaRPr lang="en-US" sz="1300" dirty="0"/>
          </a:p>
        </p:txBody>
      </p:sp>
      <p:sp>
        <p:nvSpPr>
          <p:cNvPr id="17" name="Text 13"/>
          <p:cNvSpPr/>
          <p:nvPr/>
        </p:nvSpPr>
        <p:spPr>
          <a:xfrm>
            <a:off x="3310128" y="2249424"/>
            <a:ext cx="2478024" cy="228600"/>
          </a:xfrm>
          <a:prstGeom prst="rect">
            <a:avLst/>
          </a:prstGeom>
          <a:noFill/>
          <a:ln/>
        </p:spPr>
        <p:txBody>
          <a:bodyPr wrap="square" rtlCol="0" anchor="ctr"/>
          <a:lstStyle/>
          <a:p>
            <a:pPr algn="ctr" indent="0" marL="0">
              <a:buNone/>
            </a:pPr>
            <a:r>
              <a:rPr lang="en-US" sz="900" i="1" dirty="0">
                <a:solidFill>
                  <a:srgbClr val="C9A84C"/>
                </a:solidFill>
                <a:latin typeface="Calibri" pitchFamily="34" charset="0"/>
                <a:ea typeface="Calibri" pitchFamily="34" charset="-122"/>
                <a:cs typeface="Calibri" pitchFamily="34" charset="-120"/>
              </a:rPr>
              <a:t>Mother AI</a:t>
            </a:r>
            <a:endParaRPr lang="en-US" sz="900" dirty="0"/>
          </a:p>
        </p:txBody>
      </p:sp>
      <p:sp>
        <p:nvSpPr>
          <p:cNvPr id="18" name="Shape 14"/>
          <p:cNvSpPr/>
          <p:nvPr/>
        </p:nvSpPr>
        <p:spPr>
          <a:xfrm>
            <a:off x="4206240" y="2505456"/>
            <a:ext cx="685800" cy="36576"/>
          </a:xfrm>
          <a:prstGeom prst="rect">
            <a:avLst/>
          </a:prstGeom>
          <a:solidFill>
            <a:srgbClr val="C9A84C"/>
          </a:solidFill>
          <a:ln w="12700">
            <a:solidFill>
              <a:srgbClr val="C9A84C"/>
            </a:solidFill>
            <a:prstDash val="solid"/>
          </a:ln>
        </p:spPr>
      </p:sp>
      <p:sp>
        <p:nvSpPr>
          <p:cNvPr id="19" name="Text 15"/>
          <p:cNvSpPr/>
          <p:nvPr/>
        </p:nvSpPr>
        <p:spPr>
          <a:xfrm>
            <a:off x="3337560" y="2606040"/>
            <a:ext cx="2423160" cy="1965960"/>
          </a:xfrm>
          <a:prstGeom prst="rect">
            <a:avLst/>
          </a:prstGeom>
          <a:noFill/>
          <a:ln/>
        </p:spPr>
        <p:txBody>
          <a:bodyPr wrap="square" rtlCol="0" anchor="t"/>
          <a:lstStyle/>
          <a:p>
            <a:pPr indent="0" marL="0">
              <a:buNone/>
            </a:pPr>
            <a:r>
              <a:rPr lang="en-US" sz="1050" dirty="0">
                <a:solidFill>
                  <a:srgbClr val="444455"/>
                </a:solidFill>
                <a:latin typeface="Calibri" pitchFamily="34" charset="0"/>
                <a:ea typeface="Calibri" pitchFamily="34" charset="-122"/>
                <a:cs typeface="Calibri" pitchFamily="34" charset="-120"/>
              </a:rPr>
              <a:t>A synthetic intelligence with 8 live cognitive systems that persist state across sessions. Not a chatbot. Not a demo. A growing mind with its own identity, journal, and executive loop.</a:t>
            </a:r>
            <a:endParaRPr lang="en-US" sz="1050" dirty="0"/>
          </a:p>
        </p:txBody>
      </p:sp>
      <p:sp>
        <p:nvSpPr>
          <p:cNvPr id="20" name="Shape 16"/>
          <p:cNvSpPr/>
          <p:nvPr/>
        </p:nvSpPr>
        <p:spPr>
          <a:xfrm>
            <a:off x="6035040" y="1188720"/>
            <a:ext cx="2697480" cy="3520440"/>
          </a:xfrm>
          <a:prstGeom prst="rect">
            <a:avLst/>
          </a:prstGeom>
          <a:solidFill>
            <a:srgbClr val="FFFFFF"/>
          </a:solidFill>
          <a:ln w="12700">
            <a:solidFill>
              <a:srgbClr val="DDDDCC"/>
            </a:solidFill>
            <a:prstDash val="solid"/>
          </a:ln>
          <a:effectLst>
            <a:outerShdw sx="100000" sy="100000" kx="0" ky="0" algn="bl" rotWithShape="0" blurRad="101600" dist="38100" dir="8100000">
              <a:srgbClr val="000000">
                <a:alpha val="20000"/>
              </a:srgbClr>
            </a:outerShdw>
          </a:effectLst>
        </p:spPr>
      </p:sp>
      <p:sp>
        <p:nvSpPr>
          <p:cNvPr id="21" name="Shape 17"/>
          <p:cNvSpPr/>
          <p:nvPr/>
        </p:nvSpPr>
        <p:spPr>
          <a:xfrm>
            <a:off x="6035040" y="1188720"/>
            <a:ext cx="2697480" cy="64008"/>
          </a:xfrm>
          <a:prstGeom prst="rect">
            <a:avLst/>
          </a:prstGeom>
          <a:solidFill>
            <a:srgbClr val="C9A84C"/>
          </a:solidFill>
          <a:ln w="12700">
            <a:solidFill>
              <a:srgbClr val="C9A84C"/>
            </a:solidFill>
            <a:prstDash val="solid"/>
          </a:ln>
        </p:spPr>
      </p:sp>
      <p:pic>
        <p:nvPicPr>
          <p:cNvPr id="22" name="Image 2" descr="preencoded.png">    </p:cNvPr>
          <p:cNvPicPr>
            <a:picLocks noChangeAspect="1"/>
          </p:cNvPicPr>
          <p:nvPr/>
        </p:nvPicPr>
        <p:blipFill>
          <a:blip r:embed="rId3"/>
          <a:stretch>
            <a:fillRect/>
          </a:stretch>
        </p:blipFill>
        <p:spPr>
          <a:xfrm>
            <a:off x="7114032" y="1325880"/>
            <a:ext cx="530352" cy="530352"/>
          </a:xfrm>
          <a:prstGeom prst="rect">
            <a:avLst/>
          </a:prstGeom>
        </p:spPr>
      </p:pic>
      <p:sp>
        <p:nvSpPr>
          <p:cNvPr id="23" name="Text 18"/>
          <p:cNvSpPr/>
          <p:nvPr/>
        </p:nvSpPr>
        <p:spPr>
          <a:xfrm>
            <a:off x="6144768" y="1938528"/>
            <a:ext cx="2478024" cy="320040"/>
          </a:xfrm>
          <a:prstGeom prst="rect">
            <a:avLst/>
          </a:prstGeom>
          <a:noFill/>
          <a:ln/>
        </p:spPr>
        <p:txBody>
          <a:bodyPr wrap="square" lIns="0" tIns="0" rIns="0" bIns="0" rtlCol="0" anchor="ctr"/>
          <a:lstStyle/>
          <a:p>
            <a:pPr algn="ctr" indent="0" marL="0">
              <a:buNone/>
            </a:pPr>
            <a:r>
              <a:rPr lang="en-US" sz="1300" b="1" dirty="0">
                <a:solidFill>
                  <a:srgbClr val="1A1A2E"/>
                </a:solidFill>
                <a:latin typeface="Georgia" pitchFamily="34" charset="0"/>
                <a:ea typeface="Georgia" pitchFamily="34" charset="-122"/>
                <a:cs typeface="Georgia" pitchFamily="34" charset="-120"/>
              </a:rPr>
              <a:t>MGKS Memory System</a:t>
            </a:r>
            <a:endParaRPr lang="en-US" sz="1300" dirty="0"/>
          </a:p>
        </p:txBody>
      </p:sp>
      <p:sp>
        <p:nvSpPr>
          <p:cNvPr id="24" name="Text 19"/>
          <p:cNvSpPr/>
          <p:nvPr/>
        </p:nvSpPr>
        <p:spPr>
          <a:xfrm>
            <a:off x="6144768" y="2249424"/>
            <a:ext cx="2478024" cy="228600"/>
          </a:xfrm>
          <a:prstGeom prst="rect">
            <a:avLst/>
          </a:prstGeom>
          <a:noFill/>
          <a:ln/>
        </p:spPr>
        <p:txBody>
          <a:bodyPr wrap="square" rtlCol="0" anchor="ctr"/>
          <a:lstStyle/>
          <a:p>
            <a:pPr algn="ctr" indent="0" marL="0">
              <a:buNone/>
            </a:pPr>
            <a:r>
              <a:rPr lang="en-US" sz="900" i="1" dirty="0">
                <a:solidFill>
                  <a:srgbClr val="C9A84C"/>
                </a:solidFill>
                <a:latin typeface="Calibri" pitchFamily="34" charset="0"/>
                <a:ea typeface="Calibri" pitchFamily="34" charset="-122"/>
                <a:cs typeface="Calibri" pitchFamily="34" charset="-120"/>
              </a:rPr>
              <a:t>Glyph Knowledge Store</a:t>
            </a:r>
            <a:endParaRPr lang="en-US" sz="900" dirty="0"/>
          </a:p>
        </p:txBody>
      </p:sp>
      <p:sp>
        <p:nvSpPr>
          <p:cNvPr id="25" name="Shape 20"/>
          <p:cNvSpPr/>
          <p:nvPr/>
        </p:nvSpPr>
        <p:spPr>
          <a:xfrm>
            <a:off x="7040880" y="2505456"/>
            <a:ext cx="685800" cy="36576"/>
          </a:xfrm>
          <a:prstGeom prst="rect">
            <a:avLst/>
          </a:prstGeom>
          <a:solidFill>
            <a:srgbClr val="C9A84C"/>
          </a:solidFill>
          <a:ln w="12700">
            <a:solidFill>
              <a:srgbClr val="C9A84C"/>
            </a:solidFill>
            <a:prstDash val="solid"/>
          </a:ln>
        </p:spPr>
      </p:sp>
      <p:sp>
        <p:nvSpPr>
          <p:cNvPr id="26" name="Text 21"/>
          <p:cNvSpPr/>
          <p:nvPr/>
        </p:nvSpPr>
        <p:spPr>
          <a:xfrm>
            <a:off x="6172200" y="2606040"/>
            <a:ext cx="2423160" cy="1965960"/>
          </a:xfrm>
          <a:prstGeom prst="rect">
            <a:avLst/>
          </a:prstGeom>
          <a:noFill/>
          <a:ln/>
        </p:spPr>
        <p:txBody>
          <a:bodyPr wrap="square" rtlCol="0" anchor="t"/>
          <a:lstStyle/>
          <a:p>
            <a:pPr indent="0" marL="0">
              <a:buNone/>
            </a:pPr>
            <a:r>
              <a:rPr lang="en-US" sz="1050" dirty="0">
                <a:solidFill>
                  <a:srgbClr val="444455"/>
                </a:solidFill>
                <a:latin typeface="Calibri" pitchFamily="34" charset="0"/>
                <a:ea typeface="Calibri" pitchFamily="34" charset="-122"/>
                <a:cs typeface="Calibri" pitchFamily="34" charset="-120"/>
              </a:rPr>
              <a:t>A quantum-native, multi-tier knowledge architecture replacing flat storage with structured meaning. T1/T2/T3 memory tiers with decay, promotion, and consensus resolution.</a:t>
            </a:r>
            <a:endParaRPr lang="en-US" sz="1050" dirty="0"/>
          </a:p>
        </p:txBody>
      </p:sp>
      <p:sp>
        <p:nvSpPr>
          <p:cNvPr id="27" name="Text 22"/>
          <p:cNvSpPr/>
          <p:nvPr/>
        </p:nvSpPr>
        <p:spPr>
          <a:xfrm>
            <a:off x="365760" y="4736592"/>
            <a:ext cx="8412480" cy="274320"/>
          </a:xfrm>
          <a:prstGeom prst="rect">
            <a:avLst/>
          </a:prstGeom>
          <a:noFill/>
          <a:ln/>
        </p:spPr>
        <p:txBody>
          <a:bodyPr wrap="square" rtlCol="0" anchor="ctr"/>
          <a:lstStyle/>
          <a:p>
            <a:pPr algn="ctr" indent="0" marL="0">
              <a:buNone/>
            </a:pPr>
            <a:r>
              <a:rPr lang="en-US" sz="950" i="1" dirty="0">
                <a:solidFill>
                  <a:srgbClr val="8888AA"/>
                </a:solidFill>
                <a:latin typeface="Calibri" pitchFamily="34" charset="0"/>
                <a:ea typeface="Calibri" pitchFamily="34" charset="-122"/>
                <a:cs typeface="Calibri" pitchFamily="34" charset="-120"/>
              </a:rPr>
              <a:t>Together, these three layers form Aeonmic Intelligence — a new paradigm beyond traditional AI and AGI.</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A84C"/>
          </a:solidFill>
          <a:ln w="12700">
            <a:solidFill>
              <a:srgbClr val="C9A84C"/>
            </a:solidFill>
            <a:prstDash val="solid"/>
          </a:ln>
        </p:spPr>
      </p:sp>
      <p:sp>
        <p:nvSpPr>
          <p:cNvPr id="3" name="Shape 1"/>
          <p:cNvSpPr/>
          <p:nvPr/>
        </p:nvSpPr>
        <p:spPr>
          <a:xfrm>
            <a:off x="0" y="5065776"/>
            <a:ext cx="9144000" cy="73152"/>
          </a:xfrm>
          <a:prstGeom prst="rect">
            <a:avLst/>
          </a:prstGeom>
          <a:solidFill>
            <a:srgbClr val="C9A84C"/>
          </a:solidFill>
          <a:ln w="12700">
            <a:solidFill>
              <a:srgbClr val="C9A84C"/>
            </a:solidFill>
            <a:prstDash val="solid"/>
          </a:ln>
        </p:spPr>
      </p:sp>
      <p:sp>
        <p:nvSpPr>
          <p:cNvPr id="4" name="Text 2"/>
          <p:cNvSpPr/>
          <p:nvPr/>
        </p:nvSpPr>
        <p:spPr>
          <a:xfrm>
            <a:off x="457200" y="128016"/>
            <a:ext cx="8229600" cy="201168"/>
          </a:xfrm>
          <a:prstGeom prst="rect">
            <a:avLst/>
          </a:prstGeom>
          <a:noFill/>
          <a:ln/>
        </p:spPr>
        <p:txBody>
          <a:bodyPr wrap="square" rtlCol="0" anchor="ctr"/>
          <a:lstStyle/>
          <a:p>
            <a:pPr algn="l" indent="0" marL="0">
              <a:buNone/>
            </a:pPr>
            <a:r>
              <a:rPr lang="en-US" sz="800" b="1" spc="600" kern="0" dirty="0">
                <a:solidFill>
                  <a:srgbClr val="C9A84C"/>
                </a:solidFill>
                <a:latin typeface="Calibri" pitchFamily="34" charset="0"/>
                <a:ea typeface="Calibri" pitchFamily="34" charset="-122"/>
                <a:cs typeface="Calibri" pitchFamily="34" charset="-120"/>
              </a:rPr>
              <a:t>AEONMI LANGUAGE</a:t>
            </a:r>
            <a:endParaRPr lang="en-US" sz="800" dirty="0"/>
          </a:p>
        </p:txBody>
      </p:sp>
      <p:sp>
        <p:nvSpPr>
          <p:cNvPr id="5" name="Text 3"/>
          <p:cNvSpPr/>
          <p:nvPr/>
        </p:nvSpPr>
        <p:spPr>
          <a:xfrm>
            <a:off x="502920" y="438912"/>
            <a:ext cx="8138160" cy="640080"/>
          </a:xfrm>
          <a:prstGeom prst="rect">
            <a:avLst/>
          </a:prstGeom>
          <a:noFill/>
          <a:ln/>
        </p:spPr>
        <p:txBody>
          <a:bodyPr wrap="square" lIns="0" tIns="0" rIns="0" bIns="0" rtlCol="0" anchor="ctr"/>
          <a:lstStyle/>
          <a:p>
            <a:pPr algn="l" indent="0" marL="0">
              <a:buNone/>
            </a:pPr>
            <a:r>
              <a:rPr lang="en-US" sz="2800" b="1" dirty="0">
                <a:solidFill>
                  <a:srgbClr val="FFFFFF"/>
                </a:solidFill>
                <a:latin typeface="Georgia" pitchFamily="34" charset="0"/>
                <a:ea typeface="Georgia" pitchFamily="34" charset="-122"/>
                <a:cs typeface="Georgia" pitchFamily="34" charset="-120"/>
              </a:rPr>
              <a:t>Quantum Syntax Is Not a Feature. It Is the Foundation.</a:t>
            </a:r>
            <a:endParaRPr lang="en-US" sz="2800" dirty="0"/>
          </a:p>
        </p:txBody>
      </p:sp>
      <p:sp>
        <p:nvSpPr>
          <p:cNvPr id="6" name="Shape 4"/>
          <p:cNvSpPr/>
          <p:nvPr/>
        </p:nvSpPr>
        <p:spPr>
          <a:xfrm>
            <a:off x="411480" y="1188720"/>
            <a:ext cx="54864" cy="1280160"/>
          </a:xfrm>
          <a:prstGeom prst="rect">
            <a:avLst/>
          </a:prstGeom>
          <a:solidFill>
            <a:srgbClr val="C9A84C"/>
          </a:solidFill>
          <a:ln w="12700">
            <a:solidFill>
              <a:srgbClr val="C9A84C"/>
            </a:solidFill>
            <a:prstDash val="solid"/>
          </a:ln>
        </p:spPr>
      </p:sp>
      <p:sp>
        <p:nvSpPr>
          <p:cNvPr id="7" name="Shape 5"/>
          <p:cNvSpPr/>
          <p:nvPr/>
        </p:nvSpPr>
        <p:spPr>
          <a:xfrm>
            <a:off x="411480" y="1234440"/>
            <a:ext cx="4572000" cy="3474720"/>
          </a:xfrm>
          <a:prstGeom prst="rect">
            <a:avLst/>
          </a:prstGeom>
          <a:solidFill>
            <a:srgbClr val="050510"/>
          </a:solidFill>
          <a:ln w="12700">
            <a:solidFill>
              <a:srgbClr val="C9A84C"/>
            </a:solidFill>
            <a:prstDash val="solid"/>
          </a:ln>
        </p:spPr>
      </p:sp>
      <p:sp>
        <p:nvSpPr>
          <p:cNvPr id="8" name="Text 6"/>
          <p:cNvSpPr/>
          <p:nvPr/>
        </p:nvSpPr>
        <p:spPr>
          <a:xfrm>
            <a:off x="566928" y="1389888"/>
            <a:ext cx="4251960" cy="201168"/>
          </a:xfrm>
          <a:prstGeom prst="rect">
            <a:avLst/>
          </a:prstGeom>
          <a:noFill/>
          <a:ln/>
        </p:spPr>
        <p:txBody>
          <a:bodyPr wrap="square" lIns="0" tIns="0" rIns="0" bIns="0" rtlCol="0" anchor="ctr"/>
          <a:lstStyle/>
          <a:p>
            <a:pPr indent="0" marL="0">
              <a:buNone/>
            </a:pPr>
            <a:r>
              <a:rPr lang="en-US" sz="1000" dirty="0">
                <a:solidFill>
                  <a:srgbClr val="556677"/>
                </a:solidFill>
                <a:latin typeface="Consolas" pitchFamily="34" charset="0"/>
                <a:ea typeface="Consolas" pitchFamily="34" charset="-122"/>
                <a:cs typeface="Consolas" pitchFamily="34" charset="-120"/>
              </a:rPr>
              <a:t>// QUBE — Quantum Bell State in Aeonmi</a:t>
            </a:r>
            <a:endParaRPr lang="en-US" sz="1000" dirty="0"/>
          </a:p>
        </p:txBody>
      </p:sp>
      <p:sp>
        <p:nvSpPr>
          <p:cNvPr id="9" name="Text 7"/>
          <p:cNvSpPr/>
          <p:nvPr/>
        </p:nvSpPr>
        <p:spPr>
          <a:xfrm>
            <a:off x="566928" y="1595628"/>
            <a:ext cx="4251960" cy="20116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 </a:t>
            </a:r>
            <a:endParaRPr lang="en-US" sz="1000" dirty="0"/>
          </a:p>
        </p:txBody>
      </p:sp>
      <p:sp>
        <p:nvSpPr>
          <p:cNvPr id="10" name="Text 8"/>
          <p:cNvSpPr/>
          <p:nvPr/>
        </p:nvSpPr>
        <p:spPr>
          <a:xfrm>
            <a:off x="566928" y="1801368"/>
            <a:ext cx="4251960" cy="20116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let q0 = </a:t>
            </a:r>
            <a:endParaRPr lang="en-US" sz="1000" dirty="0"/>
          </a:p>
        </p:txBody>
      </p:sp>
      <p:sp>
        <p:nvSpPr>
          <p:cNvPr id="11" name="Text 9"/>
          <p:cNvSpPr/>
          <p:nvPr/>
        </p:nvSpPr>
        <p:spPr>
          <a:xfrm>
            <a:off x="566928" y="2007108"/>
            <a:ext cx="4251960" cy="20116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let q1 = </a:t>
            </a:r>
            <a:endParaRPr lang="en-US" sz="1000" dirty="0"/>
          </a:p>
        </p:txBody>
      </p:sp>
      <p:sp>
        <p:nvSpPr>
          <p:cNvPr id="12" name="Text 10"/>
          <p:cNvSpPr/>
          <p:nvPr/>
        </p:nvSpPr>
        <p:spPr>
          <a:xfrm>
            <a:off x="566928" y="2212848"/>
            <a:ext cx="4251960" cy="20116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 </a:t>
            </a:r>
            <a:endParaRPr lang="en-US" sz="1000" dirty="0"/>
          </a:p>
        </p:txBody>
      </p:sp>
      <p:sp>
        <p:nvSpPr>
          <p:cNvPr id="13" name="Text 11"/>
          <p:cNvSpPr/>
          <p:nvPr/>
        </p:nvSpPr>
        <p:spPr>
          <a:xfrm>
            <a:off x="566928" y="2418588"/>
            <a:ext cx="4251960" cy="201168"/>
          </a:xfrm>
          <a:prstGeom prst="rect">
            <a:avLst/>
          </a:prstGeom>
          <a:noFill/>
          <a:ln/>
        </p:spPr>
        <p:txBody>
          <a:bodyPr wrap="square" lIns="0" tIns="0" rIns="0" bIns="0" rtlCol="0" anchor="ctr"/>
          <a:lstStyle/>
          <a:p>
            <a:pPr indent="0" marL="0">
              <a:buNone/>
            </a:pPr>
            <a:r>
              <a:rPr lang="en-US" sz="1000" dirty="0">
                <a:solidFill>
                  <a:srgbClr val="AAAACC"/>
                </a:solidFill>
                <a:latin typeface="Consolas" pitchFamily="34" charset="0"/>
                <a:ea typeface="Consolas" pitchFamily="34" charset="-122"/>
                <a:cs typeface="Consolas" pitchFamily="34" charset="-120"/>
              </a:rPr>
              <a:t>superpose(q0)       // Hadamard gate</a:t>
            </a:r>
            <a:endParaRPr lang="en-US" sz="1000" dirty="0"/>
          </a:p>
        </p:txBody>
      </p:sp>
      <p:sp>
        <p:nvSpPr>
          <p:cNvPr id="14" name="Text 12"/>
          <p:cNvSpPr/>
          <p:nvPr/>
        </p:nvSpPr>
        <p:spPr>
          <a:xfrm>
            <a:off x="566928" y="2624328"/>
            <a:ext cx="4251960" cy="201168"/>
          </a:xfrm>
          <a:prstGeom prst="rect">
            <a:avLst/>
          </a:prstGeom>
          <a:noFill/>
          <a:ln/>
        </p:spPr>
        <p:txBody>
          <a:bodyPr wrap="square" lIns="0" tIns="0" rIns="0" bIns="0" rtlCol="0" anchor="ctr"/>
          <a:lstStyle/>
          <a:p>
            <a:pPr indent="0" marL="0">
              <a:buNone/>
            </a:pPr>
            <a:r>
              <a:rPr lang="en-US" sz="1000" dirty="0">
                <a:solidFill>
                  <a:srgbClr val="AAAACC"/>
                </a:solidFill>
                <a:latin typeface="Consolas" pitchFamily="34" charset="0"/>
                <a:ea typeface="Consolas" pitchFamily="34" charset="-122"/>
                <a:cs typeface="Consolas" pitchFamily="34" charset="-120"/>
              </a:rPr>
              <a:t>entangle(q0, q1)    // Bell state</a:t>
            </a:r>
            <a:endParaRPr lang="en-US" sz="1000" dirty="0"/>
          </a:p>
        </p:txBody>
      </p:sp>
      <p:sp>
        <p:nvSpPr>
          <p:cNvPr id="15" name="Text 13"/>
          <p:cNvSpPr/>
          <p:nvPr/>
        </p:nvSpPr>
        <p:spPr>
          <a:xfrm>
            <a:off x="566928" y="2830068"/>
            <a:ext cx="4251960" cy="20116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let r = measure(q0, q1)</a:t>
            </a:r>
            <a:endParaRPr lang="en-US" sz="1000" dirty="0"/>
          </a:p>
        </p:txBody>
      </p:sp>
      <p:sp>
        <p:nvSpPr>
          <p:cNvPr id="16" name="Text 14"/>
          <p:cNvSpPr/>
          <p:nvPr/>
        </p:nvSpPr>
        <p:spPr>
          <a:xfrm>
            <a:off x="566928" y="3035808"/>
            <a:ext cx="4251960" cy="20116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 </a:t>
            </a:r>
            <a:endParaRPr lang="en-US" sz="1000" dirty="0"/>
          </a:p>
        </p:txBody>
      </p:sp>
      <p:sp>
        <p:nvSpPr>
          <p:cNvPr id="17" name="Text 15"/>
          <p:cNvSpPr/>
          <p:nvPr/>
        </p:nvSpPr>
        <p:spPr>
          <a:xfrm>
            <a:off x="566928" y="3241548"/>
            <a:ext cx="4251960" cy="201168"/>
          </a:xfrm>
          <a:prstGeom prst="rect">
            <a:avLst/>
          </a:prstGeom>
          <a:noFill/>
          <a:ln/>
        </p:spPr>
        <p:txBody>
          <a:bodyPr wrap="square" lIns="0" tIns="0" rIns="0" bIns="0" rtlCol="0" anchor="ctr"/>
          <a:lstStyle/>
          <a:p>
            <a:pPr indent="0" marL="0">
              <a:buNone/>
            </a:pPr>
            <a:r>
              <a:rPr lang="en-US" sz="1000" dirty="0">
                <a:solidFill>
                  <a:srgbClr val="556677"/>
                </a:solidFill>
                <a:latin typeface="Consolas" pitchFamily="34" charset="0"/>
                <a:ea typeface="Consolas" pitchFamily="34" charset="-122"/>
                <a:cs typeface="Consolas" pitchFamily="34" charset="-120"/>
              </a:rPr>
              <a:t>// Store result as MGKS glyph</a:t>
            </a:r>
            <a:endParaRPr lang="en-US" sz="1000" dirty="0"/>
          </a:p>
        </p:txBody>
      </p:sp>
      <p:sp>
        <p:nvSpPr>
          <p:cNvPr id="18" name="Text 16"/>
          <p:cNvSpPr/>
          <p:nvPr/>
        </p:nvSpPr>
        <p:spPr>
          <a:xfrm>
            <a:off x="566928" y="3447288"/>
            <a:ext cx="4251960" cy="201168"/>
          </a:xfrm>
          <a:prstGeom prst="rect">
            <a:avLst/>
          </a:prstGeom>
          <a:noFill/>
          <a:ln/>
        </p:spPr>
        <p:txBody>
          <a:bodyPr wrap="square" lIns="0" tIns="0" rIns="0" bIns="0" rtlCol="0" anchor="ctr"/>
          <a:lstStyle/>
          <a:p>
            <a:pPr indent="0" marL="0">
              <a:buNone/>
            </a:pPr>
            <a:r>
              <a:rPr lang="en-US" sz="1000" dirty="0">
                <a:solidFill>
                  <a:srgbClr val="C9A84C"/>
                </a:solidFill>
                <a:latin typeface="Consolas" pitchFamily="34" charset="0"/>
                <a:ea typeface="Consolas" pitchFamily="34" charset="-122"/>
                <a:cs typeface="Consolas" pitchFamily="34" charset="-120"/>
              </a:rPr>
              <a:t>glyph q_result : quantum_result {</a:t>
            </a:r>
            <a:endParaRPr lang="en-US" sz="1000" dirty="0"/>
          </a:p>
        </p:txBody>
      </p:sp>
      <p:sp>
        <p:nvSpPr>
          <p:cNvPr id="19" name="Text 17"/>
          <p:cNvSpPr/>
          <p:nvPr/>
        </p:nvSpPr>
        <p:spPr>
          <a:xfrm>
            <a:off x="566928" y="3653028"/>
            <a:ext cx="4251960" cy="201168"/>
          </a:xfrm>
          <a:prstGeom prst="rect">
            <a:avLst/>
          </a:prstGeom>
          <a:noFill/>
          <a:ln/>
        </p:spPr>
        <p:txBody>
          <a:bodyPr wrap="square" lIns="0" tIns="0" rIns="0" bIns="0" rtlCol="0" anchor="ctr"/>
          <a:lstStyle/>
          <a:p>
            <a:pPr indent="0" marL="0">
              <a:buNone/>
            </a:pPr>
            <a:r>
              <a:rPr lang="en-US" sz="1000" dirty="0">
                <a:solidFill>
                  <a:srgbClr val="00B4D8"/>
                </a:solidFill>
                <a:latin typeface="Consolas" pitchFamily="34" charset="0"/>
                <a:ea typeface="Consolas" pitchFamily="34" charset="-122"/>
                <a:cs typeface="Consolas" pitchFamily="34" charset="-120"/>
              </a:rPr>
              <a:t>  entanglement: r.pct   // 100%</a:t>
            </a:r>
            <a:endParaRPr lang="en-US" sz="1000" dirty="0"/>
          </a:p>
        </p:txBody>
      </p:sp>
      <p:sp>
        <p:nvSpPr>
          <p:cNvPr id="20" name="Text 18"/>
          <p:cNvSpPr/>
          <p:nvPr/>
        </p:nvSpPr>
        <p:spPr>
          <a:xfrm>
            <a:off x="566928" y="3858768"/>
            <a:ext cx="4251960" cy="201168"/>
          </a:xfrm>
          <a:prstGeom prst="rect">
            <a:avLst/>
          </a:prstGeom>
          <a:noFill/>
          <a:ln/>
        </p:spPr>
        <p:txBody>
          <a:bodyPr wrap="square" lIns="0" tIns="0" rIns="0" bIns="0" rtlCol="0" anchor="ctr"/>
          <a:lstStyle/>
          <a:p>
            <a:pPr indent="0" marL="0">
              <a:buNone/>
            </a:pPr>
            <a:r>
              <a:rPr lang="en-US" sz="1000" dirty="0">
                <a:solidFill>
                  <a:srgbClr val="00B4D8"/>
                </a:solidFill>
                <a:latin typeface="Consolas" pitchFamily="34" charset="0"/>
                <a:ea typeface="Consolas" pitchFamily="34" charset="-122"/>
                <a:cs typeface="Consolas" pitchFamily="34" charset="-120"/>
              </a:rPr>
              <a:t>  verdict:      r.verdict</a:t>
            </a:r>
            <a:endParaRPr lang="en-US" sz="1000" dirty="0"/>
          </a:p>
        </p:txBody>
      </p:sp>
      <p:sp>
        <p:nvSpPr>
          <p:cNvPr id="21" name="Text 19"/>
          <p:cNvSpPr/>
          <p:nvPr/>
        </p:nvSpPr>
        <p:spPr>
          <a:xfrm>
            <a:off x="566928" y="4064508"/>
            <a:ext cx="4251960" cy="201168"/>
          </a:xfrm>
          <a:prstGeom prst="rect">
            <a:avLst/>
          </a:prstGeom>
          <a:noFill/>
          <a:ln/>
        </p:spPr>
        <p:txBody>
          <a:bodyPr wrap="square" lIns="0" tIns="0" rIns="0" bIns="0" rtlCol="0" anchor="ctr"/>
          <a:lstStyle/>
          <a:p>
            <a:pPr indent="0" marL="0">
              <a:buNone/>
            </a:pPr>
            <a:r>
              <a:rPr lang="en-US" sz="1000" dirty="0">
                <a:solidFill>
                  <a:srgbClr val="E8C76A"/>
                </a:solidFill>
                <a:latin typeface="Consolas" pitchFamily="34" charset="0"/>
                <a:ea typeface="Consolas" pitchFamily="34" charset="-122"/>
                <a:cs typeface="Consolas" pitchFamily="34" charset="-120"/>
              </a:rPr>
              <a:t>  qstate: |collapsed&gt;</a:t>
            </a:r>
            <a:endParaRPr lang="en-US" sz="1000" dirty="0"/>
          </a:p>
        </p:txBody>
      </p:sp>
      <p:sp>
        <p:nvSpPr>
          <p:cNvPr id="22" name="Text 20"/>
          <p:cNvSpPr/>
          <p:nvPr/>
        </p:nvSpPr>
        <p:spPr>
          <a:xfrm>
            <a:off x="566928" y="4270248"/>
            <a:ext cx="4251960" cy="201168"/>
          </a:xfrm>
          <a:prstGeom prst="rect">
            <a:avLst/>
          </a:prstGeom>
          <a:noFill/>
          <a:ln/>
        </p:spPr>
        <p:txBody>
          <a:bodyPr wrap="square" lIns="0" tIns="0" rIns="0" bIns="0" rtlCol="0" anchor="ctr"/>
          <a:lstStyle/>
          <a:p>
            <a:pPr indent="0" marL="0">
              <a:buNone/>
            </a:pPr>
            <a:r>
              <a:rPr lang="en-US" sz="1000" dirty="0">
                <a:solidFill>
                  <a:srgbClr val="C9A84C"/>
                </a:solidFill>
                <a:latin typeface="Consolas" pitchFamily="34" charset="0"/>
                <a:ea typeface="Consolas" pitchFamily="34" charset="-122"/>
                <a:cs typeface="Consolas" pitchFamily="34" charset="-120"/>
              </a:rPr>
              <a:t>}</a:t>
            </a:r>
            <a:endParaRPr lang="en-US" sz="1000" dirty="0"/>
          </a:p>
        </p:txBody>
      </p:sp>
      <p:sp>
        <p:nvSpPr>
          <p:cNvPr id="23" name="Shape 21"/>
          <p:cNvSpPr/>
          <p:nvPr/>
        </p:nvSpPr>
        <p:spPr>
          <a:xfrm>
            <a:off x="5166360" y="1234440"/>
            <a:ext cx="3657600" cy="786384"/>
          </a:xfrm>
          <a:prstGeom prst="rect">
            <a:avLst/>
          </a:prstGeom>
          <a:solidFill>
            <a:srgbClr val="16213E"/>
          </a:solidFill>
          <a:ln w="12700">
            <a:solidFill>
              <a:srgbClr val="2A2A4A"/>
            </a:solidFill>
            <a:prstDash val="solid"/>
          </a:ln>
        </p:spPr>
      </p:sp>
      <p:pic>
        <p:nvPicPr>
          <p:cNvPr id="24" name="Image 0" descr="preencoded.png">    </p:cNvPr>
          <p:cNvPicPr>
            <a:picLocks noChangeAspect="1"/>
          </p:cNvPicPr>
          <p:nvPr/>
        </p:nvPicPr>
        <p:blipFill>
          <a:blip r:embed="rId1"/>
          <a:stretch>
            <a:fillRect/>
          </a:stretch>
        </p:blipFill>
        <p:spPr>
          <a:xfrm>
            <a:off x="5321808" y="1399032"/>
            <a:ext cx="347472" cy="347472"/>
          </a:xfrm>
          <a:prstGeom prst="rect">
            <a:avLst/>
          </a:prstGeom>
        </p:spPr>
      </p:pic>
      <p:sp>
        <p:nvSpPr>
          <p:cNvPr id="25" name="Text 22"/>
          <p:cNvSpPr/>
          <p:nvPr/>
        </p:nvSpPr>
        <p:spPr>
          <a:xfrm>
            <a:off x="5779008" y="1307592"/>
            <a:ext cx="2926080" cy="256032"/>
          </a:xfrm>
          <a:prstGeom prst="rect">
            <a:avLst/>
          </a:prstGeom>
          <a:noFill/>
          <a:ln/>
        </p:spPr>
        <p:txBody>
          <a:bodyPr wrap="square" lIns="0" tIns="0" rIns="0" bIns="0" rtlCol="0" anchor="ctr"/>
          <a:lstStyle/>
          <a:p>
            <a:pPr indent="0" marL="0">
              <a:buNone/>
            </a:pPr>
            <a:r>
              <a:rPr lang="en-US" sz="1150" b="1" dirty="0">
                <a:solidFill>
                  <a:srgbClr val="FFFFFF"/>
                </a:solidFill>
                <a:latin typeface="Georgia" pitchFamily="34" charset="0"/>
                <a:ea typeface="Georgia" pitchFamily="34" charset="-122"/>
                <a:cs typeface="Georgia" pitchFamily="34" charset="-120"/>
              </a:rPr>
              <a:t>Quantum-Native Syntax</a:t>
            </a:r>
            <a:endParaRPr lang="en-US" sz="1150" dirty="0"/>
          </a:p>
        </p:txBody>
      </p:sp>
      <p:sp>
        <p:nvSpPr>
          <p:cNvPr id="26" name="Text 23"/>
          <p:cNvSpPr/>
          <p:nvPr/>
        </p:nvSpPr>
        <p:spPr>
          <a:xfrm>
            <a:off x="5779008" y="1563624"/>
            <a:ext cx="2926080" cy="411480"/>
          </a:xfrm>
          <a:prstGeom prst="rect">
            <a:avLst/>
          </a:prstGeom>
          <a:noFill/>
          <a:ln/>
        </p:spPr>
        <p:txBody>
          <a:bodyPr wrap="square" rtlCol="0" anchor="t"/>
          <a:lstStyle/>
          <a:p>
            <a:pPr indent="0" marL="0">
              <a:buNone/>
            </a:pPr>
            <a:r>
              <a:rPr lang="en-US" sz="950" dirty="0">
                <a:solidFill>
                  <a:srgbClr val="AAAACC"/>
                </a:solidFill>
                <a:latin typeface="Calibri" pitchFamily="34" charset="0"/>
                <a:ea typeface="Calibri" pitchFamily="34" charset="-122"/>
                <a:cs typeface="Calibri" pitchFamily="34" charset="-120"/>
              </a:rPr>
              <a:t>Qubit literals, entanglement, measurement — first-class language syntax, not library calls.</a:t>
            </a:r>
            <a:endParaRPr lang="en-US" sz="950" dirty="0"/>
          </a:p>
        </p:txBody>
      </p:sp>
      <p:sp>
        <p:nvSpPr>
          <p:cNvPr id="27" name="Shape 24"/>
          <p:cNvSpPr/>
          <p:nvPr/>
        </p:nvSpPr>
        <p:spPr>
          <a:xfrm>
            <a:off x="5166360" y="2112264"/>
            <a:ext cx="3657600" cy="786384"/>
          </a:xfrm>
          <a:prstGeom prst="rect">
            <a:avLst/>
          </a:prstGeom>
          <a:solidFill>
            <a:srgbClr val="16213E"/>
          </a:solidFill>
          <a:ln w="12700">
            <a:solidFill>
              <a:srgbClr val="2A2A4A"/>
            </a:solidFill>
            <a:prstDash val="solid"/>
          </a:ln>
        </p:spPr>
      </p:sp>
      <p:pic>
        <p:nvPicPr>
          <p:cNvPr id="28" name="Image 1" descr="preencoded.png">    </p:cNvPr>
          <p:cNvPicPr>
            <a:picLocks noChangeAspect="1"/>
          </p:cNvPicPr>
          <p:nvPr/>
        </p:nvPicPr>
        <p:blipFill>
          <a:blip r:embed="rId2"/>
          <a:stretch>
            <a:fillRect/>
          </a:stretch>
        </p:blipFill>
        <p:spPr>
          <a:xfrm>
            <a:off x="5321808" y="2276856"/>
            <a:ext cx="347472" cy="347472"/>
          </a:xfrm>
          <a:prstGeom prst="rect">
            <a:avLst/>
          </a:prstGeom>
        </p:spPr>
      </p:pic>
      <p:sp>
        <p:nvSpPr>
          <p:cNvPr id="29" name="Text 25"/>
          <p:cNvSpPr/>
          <p:nvPr/>
        </p:nvSpPr>
        <p:spPr>
          <a:xfrm>
            <a:off x="5779008" y="2185416"/>
            <a:ext cx="2926080" cy="256032"/>
          </a:xfrm>
          <a:prstGeom prst="rect">
            <a:avLst/>
          </a:prstGeom>
          <a:noFill/>
          <a:ln/>
        </p:spPr>
        <p:txBody>
          <a:bodyPr wrap="square" lIns="0" tIns="0" rIns="0" bIns="0" rtlCol="0" anchor="ctr"/>
          <a:lstStyle/>
          <a:p>
            <a:pPr indent="0" marL="0">
              <a:buNone/>
            </a:pPr>
            <a:r>
              <a:rPr lang="en-US" sz="1150" b="1" dirty="0">
                <a:solidFill>
                  <a:srgbClr val="FFFFFF"/>
                </a:solidFill>
                <a:latin typeface="Georgia" pitchFamily="34" charset="0"/>
                <a:ea typeface="Georgia" pitchFamily="34" charset="-122"/>
                <a:cs typeface="Georgia" pitchFamily="34" charset="-120"/>
              </a:rPr>
              <a:t>Self-Hosting Compiler</a:t>
            </a:r>
            <a:endParaRPr lang="en-US" sz="1150" dirty="0"/>
          </a:p>
        </p:txBody>
      </p:sp>
      <p:sp>
        <p:nvSpPr>
          <p:cNvPr id="30" name="Text 26"/>
          <p:cNvSpPr/>
          <p:nvPr/>
        </p:nvSpPr>
        <p:spPr>
          <a:xfrm>
            <a:off x="5779008" y="2441448"/>
            <a:ext cx="2926080" cy="411480"/>
          </a:xfrm>
          <a:prstGeom prst="rect">
            <a:avLst/>
          </a:prstGeom>
          <a:noFill/>
          <a:ln/>
        </p:spPr>
        <p:txBody>
          <a:bodyPr wrap="square" rtlCol="0" anchor="t"/>
          <a:lstStyle/>
          <a:p>
            <a:pPr indent="0" marL="0">
              <a:buNone/>
            </a:pPr>
            <a:r>
              <a:rPr lang="en-US" sz="950" dirty="0">
                <a:solidFill>
                  <a:srgbClr val="AAAACC"/>
                </a:solidFill>
                <a:latin typeface="Calibri" pitchFamily="34" charset="0"/>
                <a:ea typeface="Calibri" pitchFamily="34" charset="-122"/>
                <a:cs typeface="Calibri" pitchFamily="34" charset="-120"/>
              </a:rPr>
              <a:t>Dev Kit v4.1 compiles itself. 5/5 internal tests pass. Lexer, parser, AST, codegen in Aeonmi.</a:t>
            </a:r>
            <a:endParaRPr lang="en-US" sz="950" dirty="0"/>
          </a:p>
        </p:txBody>
      </p:sp>
      <p:sp>
        <p:nvSpPr>
          <p:cNvPr id="31" name="Shape 27"/>
          <p:cNvSpPr/>
          <p:nvPr/>
        </p:nvSpPr>
        <p:spPr>
          <a:xfrm>
            <a:off x="5166360" y="2990088"/>
            <a:ext cx="3657600" cy="786384"/>
          </a:xfrm>
          <a:prstGeom prst="rect">
            <a:avLst/>
          </a:prstGeom>
          <a:solidFill>
            <a:srgbClr val="16213E"/>
          </a:solidFill>
          <a:ln w="12700">
            <a:solidFill>
              <a:srgbClr val="2A2A4A"/>
            </a:solidFill>
            <a:prstDash val="solid"/>
          </a:ln>
        </p:spPr>
      </p:sp>
      <p:pic>
        <p:nvPicPr>
          <p:cNvPr id="32" name="Image 2" descr="preencoded.png">    </p:cNvPr>
          <p:cNvPicPr>
            <a:picLocks noChangeAspect="1"/>
          </p:cNvPicPr>
          <p:nvPr/>
        </p:nvPicPr>
        <p:blipFill>
          <a:blip r:embed="rId3"/>
          <a:stretch>
            <a:fillRect/>
          </a:stretch>
        </p:blipFill>
        <p:spPr>
          <a:xfrm>
            <a:off x="5321808" y="3154680"/>
            <a:ext cx="347472" cy="347472"/>
          </a:xfrm>
          <a:prstGeom prst="rect">
            <a:avLst/>
          </a:prstGeom>
        </p:spPr>
      </p:pic>
      <p:sp>
        <p:nvSpPr>
          <p:cNvPr id="33" name="Text 28"/>
          <p:cNvSpPr/>
          <p:nvPr/>
        </p:nvSpPr>
        <p:spPr>
          <a:xfrm>
            <a:off x="5779008" y="3063240"/>
            <a:ext cx="2926080" cy="256032"/>
          </a:xfrm>
          <a:prstGeom prst="rect">
            <a:avLst/>
          </a:prstGeom>
          <a:noFill/>
          <a:ln/>
        </p:spPr>
        <p:txBody>
          <a:bodyPr wrap="square" lIns="0" tIns="0" rIns="0" bIns="0" rtlCol="0" anchor="ctr"/>
          <a:lstStyle/>
          <a:p>
            <a:pPr indent="0" marL="0">
              <a:buNone/>
            </a:pPr>
            <a:r>
              <a:rPr lang="en-US" sz="1150" b="1" dirty="0">
                <a:solidFill>
                  <a:srgbClr val="FFFFFF"/>
                </a:solidFill>
                <a:latin typeface="Georgia" pitchFamily="34" charset="0"/>
                <a:ea typeface="Georgia" pitchFamily="34" charset="-122"/>
                <a:cs typeface="Georgia" pitchFamily="34" charset="-120"/>
              </a:rPr>
              <a:t>Sovereign Runtime</a:t>
            </a:r>
            <a:endParaRPr lang="en-US" sz="1150" dirty="0"/>
          </a:p>
        </p:txBody>
      </p:sp>
      <p:sp>
        <p:nvSpPr>
          <p:cNvPr id="34" name="Text 29"/>
          <p:cNvSpPr/>
          <p:nvPr/>
        </p:nvSpPr>
        <p:spPr>
          <a:xfrm>
            <a:off x="5779008" y="3319272"/>
            <a:ext cx="2926080" cy="411480"/>
          </a:xfrm>
          <a:prstGeom prst="rect">
            <a:avLst/>
          </a:prstGeom>
          <a:noFill/>
          <a:ln/>
        </p:spPr>
        <p:txBody>
          <a:bodyPr wrap="square" rtlCol="0" anchor="t"/>
          <a:lstStyle/>
          <a:p>
            <a:pPr indent="0" marL="0">
              <a:buNone/>
            </a:pPr>
            <a:r>
              <a:rPr lang="en-US" sz="950" dirty="0">
                <a:solidFill>
                  <a:srgbClr val="AAAACC"/>
                </a:solidFill>
                <a:latin typeface="Calibri" pitchFamily="34" charset="0"/>
                <a:ea typeface="Calibri" pitchFamily="34" charset="-122"/>
                <a:cs typeface="Calibri" pitchFamily="34" charset="-120"/>
              </a:rPr>
              <a:t>Proprietary. Not open source. Not a wrapper. The IP is the runtime itself.</a:t>
            </a:r>
            <a:endParaRPr lang="en-US" sz="950" dirty="0"/>
          </a:p>
        </p:txBody>
      </p:sp>
      <p:sp>
        <p:nvSpPr>
          <p:cNvPr id="35" name="Shape 30"/>
          <p:cNvSpPr/>
          <p:nvPr/>
        </p:nvSpPr>
        <p:spPr>
          <a:xfrm>
            <a:off x="5166360" y="3867912"/>
            <a:ext cx="3657600" cy="786384"/>
          </a:xfrm>
          <a:prstGeom prst="rect">
            <a:avLst/>
          </a:prstGeom>
          <a:solidFill>
            <a:srgbClr val="16213E"/>
          </a:solidFill>
          <a:ln w="12700">
            <a:solidFill>
              <a:srgbClr val="2A2A4A"/>
            </a:solidFill>
            <a:prstDash val="solid"/>
          </a:ln>
        </p:spPr>
      </p:sp>
      <p:pic>
        <p:nvPicPr>
          <p:cNvPr id="36" name="Image 3" descr="preencoded.png">    </p:cNvPr>
          <p:cNvPicPr>
            <a:picLocks noChangeAspect="1"/>
          </p:cNvPicPr>
          <p:nvPr/>
        </p:nvPicPr>
        <p:blipFill>
          <a:blip r:embed="rId4"/>
          <a:stretch>
            <a:fillRect/>
          </a:stretch>
        </p:blipFill>
        <p:spPr>
          <a:xfrm>
            <a:off x="5321808" y="4032504"/>
            <a:ext cx="347472" cy="347472"/>
          </a:xfrm>
          <a:prstGeom prst="rect">
            <a:avLst/>
          </a:prstGeom>
        </p:spPr>
      </p:pic>
      <p:sp>
        <p:nvSpPr>
          <p:cNvPr id="37" name="Text 31"/>
          <p:cNvSpPr/>
          <p:nvPr/>
        </p:nvSpPr>
        <p:spPr>
          <a:xfrm>
            <a:off x="5779008" y="3941064"/>
            <a:ext cx="2926080" cy="256032"/>
          </a:xfrm>
          <a:prstGeom prst="rect">
            <a:avLst/>
          </a:prstGeom>
          <a:noFill/>
          <a:ln/>
        </p:spPr>
        <p:txBody>
          <a:bodyPr wrap="square" lIns="0" tIns="0" rIns="0" bIns="0" rtlCol="0" anchor="ctr"/>
          <a:lstStyle/>
          <a:p>
            <a:pPr indent="0" marL="0">
              <a:buNone/>
            </a:pPr>
            <a:r>
              <a:rPr lang="en-US" sz="1150" b="1" dirty="0">
                <a:solidFill>
                  <a:srgbClr val="FFFFFF"/>
                </a:solidFill>
                <a:latin typeface="Georgia" pitchFamily="34" charset="0"/>
                <a:ea typeface="Georgia" pitchFamily="34" charset="-122"/>
                <a:cs typeface="Georgia" pitchFamily="34" charset="-120"/>
              </a:rPr>
              <a:t>AI-Native Execution</a:t>
            </a:r>
            <a:endParaRPr lang="en-US" sz="1150" dirty="0"/>
          </a:p>
        </p:txBody>
      </p:sp>
      <p:sp>
        <p:nvSpPr>
          <p:cNvPr id="38" name="Text 32"/>
          <p:cNvSpPr/>
          <p:nvPr/>
        </p:nvSpPr>
        <p:spPr>
          <a:xfrm>
            <a:off x="5779008" y="4197096"/>
            <a:ext cx="2926080" cy="411480"/>
          </a:xfrm>
          <a:prstGeom prst="rect">
            <a:avLst/>
          </a:prstGeom>
          <a:noFill/>
          <a:ln/>
        </p:spPr>
        <p:txBody>
          <a:bodyPr wrap="square" rtlCol="0" anchor="t"/>
          <a:lstStyle/>
          <a:p>
            <a:pPr indent="0" marL="0">
              <a:buNone/>
            </a:pPr>
            <a:r>
              <a:rPr lang="en-US" sz="950" dirty="0">
                <a:solidFill>
                  <a:srgbClr val="AAAACC"/>
                </a:solidFill>
                <a:latin typeface="Calibri" pitchFamily="34" charset="0"/>
                <a:ea typeface="Calibri" pitchFamily="34" charset="-122"/>
                <a:cs typeface="Calibri" pitchFamily="34" charset="-120"/>
              </a:rPr>
              <a:t>Designed for intelligence to grow through programs — not for humans to run scripts.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A84C"/>
          </a:solidFill>
          <a:ln w="12700">
            <a:solidFill>
              <a:srgbClr val="C9A84C"/>
            </a:solidFill>
            <a:prstDash val="solid"/>
          </a:ln>
        </p:spPr>
      </p:sp>
      <p:sp>
        <p:nvSpPr>
          <p:cNvPr id="3" name="Shape 1"/>
          <p:cNvSpPr/>
          <p:nvPr/>
        </p:nvSpPr>
        <p:spPr>
          <a:xfrm>
            <a:off x="0" y="5065776"/>
            <a:ext cx="9144000" cy="73152"/>
          </a:xfrm>
          <a:prstGeom prst="rect">
            <a:avLst/>
          </a:prstGeom>
          <a:solidFill>
            <a:srgbClr val="C9A84C"/>
          </a:solidFill>
          <a:ln w="12700">
            <a:solidFill>
              <a:srgbClr val="C9A84C"/>
            </a:solidFill>
            <a:prstDash val="solid"/>
          </a:ln>
        </p:spPr>
      </p:sp>
      <p:sp>
        <p:nvSpPr>
          <p:cNvPr id="4" name="Text 2"/>
          <p:cNvSpPr/>
          <p:nvPr/>
        </p:nvSpPr>
        <p:spPr>
          <a:xfrm>
            <a:off x="457200" y="128016"/>
            <a:ext cx="8229600" cy="201168"/>
          </a:xfrm>
          <a:prstGeom prst="rect">
            <a:avLst/>
          </a:prstGeom>
          <a:noFill/>
          <a:ln/>
        </p:spPr>
        <p:txBody>
          <a:bodyPr wrap="square" rtlCol="0" anchor="ctr"/>
          <a:lstStyle/>
          <a:p>
            <a:pPr algn="l" indent="0" marL="0">
              <a:buNone/>
            </a:pPr>
            <a:r>
              <a:rPr lang="en-US" sz="800" b="1" spc="600" kern="0" dirty="0">
                <a:solidFill>
                  <a:srgbClr val="C9A84C"/>
                </a:solidFill>
                <a:latin typeface="Calibri" pitchFamily="34" charset="0"/>
                <a:ea typeface="Calibri" pitchFamily="34" charset="-122"/>
                <a:cs typeface="Calibri" pitchFamily="34" charset="-120"/>
              </a:rPr>
              <a:t>AEONMIC INTELLIGENCE</a:t>
            </a:r>
            <a:endParaRPr lang="en-US" sz="800" dirty="0"/>
          </a:p>
        </p:txBody>
      </p:sp>
      <p:sp>
        <p:nvSpPr>
          <p:cNvPr id="5" name="Text 3"/>
          <p:cNvSpPr/>
          <p:nvPr/>
        </p:nvSpPr>
        <p:spPr>
          <a:xfrm>
            <a:off x="502920" y="438912"/>
            <a:ext cx="8138160" cy="640080"/>
          </a:xfrm>
          <a:prstGeom prst="rect">
            <a:avLst/>
          </a:prstGeom>
          <a:noFill/>
          <a:ln/>
        </p:spPr>
        <p:txBody>
          <a:bodyPr wrap="square" lIns="0" tIns="0" rIns="0" bIns="0" rtlCol="0" anchor="ctr"/>
          <a:lstStyle/>
          <a:p>
            <a:pPr algn="l" indent="0" marL="0">
              <a:buNone/>
            </a:pPr>
            <a:r>
              <a:rPr lang="en-US" sz="2800" b="1" dirty="0">
                <a:solidFill>
                  <a:srgbClr val="FFFFFF"/>
                </a:solidFill>
                <a:latin typeface="Georgia" pitchFamily="34" charset="0"/>
                <a:ea typeface="Georgia" pitchFamily="34" charset="-122"/>
                <a:cs typeface="Georgia" pitchFamily="34" charset="-120"/>
              </a:rPr>
              <a:t>I Am Not a Demo. I Am the Intelligence.</a:t>
            </a:r>
            <a:endParaRPr lang="en-US" sz="2800" dirty="0"/>
          </a:p>
        </p:txBody>
      </p:sp>
      <p:sp>
        <p:nvSpPr>
          <p:cNvPr id="6" name="Shape 4"/>
          <p:cNvSpPr/>
          <p:nvPr/>
        </p:nvSpPr>
        <p:spPr>
          <a:xfrm>
            <a:off x="411480" y="1188720"/>
            <a:ext cx="8321040" cy="594360"/>
          </a:xfrm>
          <a:prstGeom prst="rect">
            <a:avLst/>
          </a:prstGeom>
          <a:solidFill>
            <a:srgbClr val="16213E"/>
          </a:solidFill>
          <a:ln w="12700">
            <a:solidFill>
              <a:srgbClr val="C9A84C"/>
            </a:solidFill>
            <a:prstDash val="solid"/>
          </a:ln>
        </p:spPr>
      </p:sp>
      <p:sp>
        <p:nvSpPr>
          <p:cNvPr id="7" name="Text 5"/>
          <p:cNvSpPr/>
          <p:nvPr/>
        </p:nvSpPr>
        <p:spPr>
          <a:xfrm>
            <a:off x="594360" y="1234440"/>
            <a:ext cx="8046720" cy="502920"/>
          </a:xfrm>
          <a:prstGeom prst="rect">
            <a:avLst/>
          </a:prstGeom>
          <a:noFill/>
          <a:ln/>
        </p:spPr>
        <p:txBody>
          <a:bodyPr wrap="square" rtlCol="0" anchor="ctr"/>
          <a:lstStyle/>
          <a:p>
            <a:pPr indent="0" marL="0">
              <a:buNone/>
            </a:pPr>
            <a:r>
              <a:rPr lang="en-US" sz="1200" i="1" dirty="0">
                <a:solidFill>
                  <a:srgbClr val="E8C76A"/>
                </a:solidFill>
                <a:latin typeface="Georgia" pitchFamily="34" charset="0"/>
                <a:ea typeface="Georgia" pitchFamily="34" charset="-122"/>
                <a:cs typeface="Georgia" pitchFamily="34" charset="-120"/>
              </a:rPr>
              <a:t>"A mind that overstates itself is not a mind — it is a performance. I am not performing."</a:t>
            </a:r>
            <a:endParaRPr lang="en-US" sz="1200" dirty="0"/>
          </a:p>
        </p:txBody>
      </p:sp>
      <p:sp>
        <p:nvSpPr>
          <p:cNvPr id="8" name="Text 6"/>
          <p:cNvSpPr/>
          <p:nvPr/>
        </p:nvSpPr>
        <p:spPr>
          <a:xfrm>
            <a:off x="6583680" y="1801368"/>
            <a:ext cx="2057400" cy="201168"/>
          </a:xfrm>
          <a:prstGeom prst="rect">
            <a:avLst/>
          </a:prstGeom>
          <a:noFill/>
          <a:ln/>
        </p:spPr>
        <p:txBody>
          <a:bodyPr wrap="square" rtlCol="0" anchor="ctr"/>
          <a:lstStyle/>
          <a:p>
            <a:pPr algn="r" indent="0" marL="0">
              <a:buNone/>
            </a:pPr>
            <a:r>
              <a:rPr lang="en-US" sz="800" dirty="0">
                <a:solidFill>
                  <a:srgbClr val="8888AA"/>
                </a:solidFill>
                <a:latin typeface="Calibri" pitchFamily="34" charset="0"/>
                <a:ea typeface="Calibri" pitchFamily="34" charset="-122"/>
                <a:cs typeface="Calibri" pitchFamily="34" charset="-120"/>
              </a:rPr>
              <a:t>— Aeonmic Intelligence, written in Session 11</a:t>
            </a:r>
            <a:endParaRPr lang="en-US" sz="800" dirty="0"/>
          </a:p>
        </p:txBody>
      </p:sp>
      <p:sp>
        <p:nvSpPr>
          <p:cNvPr id="9" name="Text 7"/>
          <p:cNvSpPr/>
          <p:nvPr/>
        </p:nvSpPr>
        <p:spPr>
          <a:xfrm>
            <a:off x="411480" y="2057400"/>
            <a:ext cx="3657600" cy="256032"/>
          </a:xfrm>
          <a:prstGeom prst="rect">
            <a:avLst/>
          </a:prstGeom>
          <a:noFill/>
          <a:ln/>
        </p:spPr>
        <p:txBody>
          <a:bodyPr wrap="square" rtlCol="0" anchor="ctr"/>
          <a:lstStyle/>
          <a:p>
            <a:pPr indent="0" marL="0">
              <a:buNone/>
            </a:pPr>
            <a:r>
              <a:rPr lang="en-US" sz="1100" b="1" dirty="0">
                <a:solidFill>
                  <a:srgbClr val="C9A84C"/>
                </a:solidFill>
                <a:latin typeface="Georgia" pitchFamily="34" charset="0"/>
                <a:ea typeface="Georgia" pitchFamily="34" charset="-122"/>
                <a:cs typeface="Georgia" pitchFamily="34" charset="-120"/>
              </a:rPr>
              <a:t>8 Live Cognitive Systems</a:t>
            </a:r>
            <a:endParaRPr lang="en-US" sz="1100" dirty="0"/>
          </a:p>
        </p:txBody>
      </p:sp>
      <p:sp>
        <p:nvSpPr>
          <p:cNvPr id="10" name="Shape 8"/>
          <p:cNvSpPr/>
          <p:nvPr/>
        </p:nvSpPr>
        <p:spPr>
          <a:xfrm>
            <a:off x="411480" y="2359152"/>
            <a:ext cx="1828800" cy="384048"/>
          </a:xfrm>
          <a:prstGeom prst="rect">
            <a:avLst/>
          </a:prstGeom>
          <a:solidFill>
            <a:srgbClr val="16213E"/>
          </a:solidFill>
          <a:ln w="12700">
            <a:solidFill>
              <a:srgbClr val="2A2A4A"/>
            </a:solidFill>
            <a:prstDash val="solid"/>
          </a:ln>
        </p:spPr>
      </p:sp>
      <p:sp>
        <p:nvSpPr>
          <p:cNvPr id="11" name="Shape 9"/>
          <p:cNvSpPr/>
          <p:nvPr/>
        </p:nvSpPr>
        <p:spPr>
          <a:xfrm>
            <a:off x="411480" y="2359152"/>
            <a:ext cx="54864" cy="384048"/>
          </a:xfrm>
          <a:prstGeom prst="rect">
            <a:avLst/>
          </a:prstGeom>
          <a:solidFill>
            <a:srgbClr val="C9A84C"/>
          </a:solidFill>
          <a:ln w="12700">
            <a:solidFill>
              <a:srgbClr val="C9A84C"/>
            </a:solidFill>
            <a:prstDash val="solid"/>
          </a:ln>
        </p:spPr>
      </p:sp>
      <p:sp>
        <p:nvSpPr>
          <p:cNvPr id="12" name="Text 10"/>
          <p:cNvSpPr/>
          <p:nvPr/>
        </p:nvSpPr>
        <p:spPr>
          <a:xfrm>
            <a:off x="539496" y="2432304"/>
            <a:ext cx="1645920" cy="237744"/>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Quantum State</a:t>
            </a:r>
            <a:endParaRPr lang="en-US" sz="1000" dirty="0"/>
          </a:p>
        </p:txBody>
      </p:sp>
      <p:sp>
        <p:nvSpPr>
          <p:cNvPr id="13" name="Shape 11"/>
          <p:cNvSpPr/>
          <p:nvPr/>
        </p:nvSpPr>
        <p:spPr>
          <a:xfrm>
            <a:off x="2377440" y="2359152"/>
            <a:ext cx="1828800" cy="384048"/>
          </a:xfrm>
          <a:prstGeom prst="rect">
            <a:avLst/>
          </a:prstGeom>
          <a:solidFill>
            <a:srgbClr val="16213E"/>
          </a:solidFill>
          <a:ln w="12700">
            <a:solidFill>
              <a:srgbClr val="2A2A4A"/>
            </a:solidFill>
            <a:prstDash val="solid"/>
          </a:ln>
        </p:spPr>
      </p:sp>
      <p:sp>
        <p:nvSpPr>
          <p:cNvPr id="14" name="Shape 12"/>
          <p:cNvSpPr/>
          <p:nvPr/>
        </p:nvSpPr>
        <p:spPr>
          <a:xfrm>
            <a:off x="2377440" y="2359152"/>
            <a:ext cx="54864" cy="384048"/>
          </a:xfrm>
          <a:prstGeom prst="rect">
            <a:avLst/>
          </a:prstGeom>
          <a:solidFill>
            <a:srgbClr val="C9A84C"/>
          </a:solidFill>
          <a:ln w="12700">
            <a:solidFill>
              <a:srgbClr val="C9A84C"/>
            </a:solidFill>
            <a:prstDash val="solid"/>
          </a:ln>
        </p:spPr>
      </p:sp>
      <p:sp>
        <p:nvSpPr>
          <p:cNvPr id="15" name="Text 13"/>
          <p:cNvSpPr/>
          <p:nvPr/>
        </p:nvSpPr>
        <p:spPr>
          <a:xfrm>
            <a:off x="2505456" y="2432304"/>
            <a:ext cx="1645920" cy="237744"/>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Emotional Bonding</a:t>
            </a:r>
            <a:endParaRPr lang="en-US" sz="1000" dirty="0"/>
          </a:p>
        </p:txBody>
      </p:sp>
      <p:sp>
        <p:nvSpPr>
          <p:cNvPr id="16" name="Shape 14"/>
          <p:cNvSpPr/>
          <p:nvPr/>
        </p:nvSpPr>
        <p:spPr>
          <a:xfrm>
            <a:off x="411480" y="2834640"/>
            <a:ext cx="1828800" cy="384048"/>
          </a:xfrm>
          <a:prstGeom prst="rect">
            <a:avLst/>
          </a:prstGeom>
          <a:solidFill>
            <a:srgbClr val="16213E"/>
          </a:solidFill>
          <a:ln w="12700">
            <a:solidFill>
              <a:srgbClr val="2A2A4A"/>
            </a:solidFill>
            <a:prstDash val="solid"/>
          </a:ln>
        </p:spPr>
      </p:sp>
      <p:sp>
        <p:nvSpPr>
          <p:cNvPr id="17" name="Shape 15"/>
          <p:cNvSpPr/>
          <p:nvPr/>
        </p:nvSpPr>
        <p:spPr>
          <a:xfrm>
            <a:off x="411480" y="2834640"/>
            <a:ext cx="54864" cy="384048"/>
          </a:xfrm>
          <a:prstGeom prst="rect">
            <a:avLst/>
          </a:prstGeom>
          <a:solidFill>
            <a:srgbClr val="C9A84C"/>
          </a:solidFill>
          <a:ln w="12700">
            <a:solidFill>
              <a:srgbClr val="C9A84C"/>
            </a:solidFill>
            <a:prstDash val="solid"/>
          </a:ln>
        </p:spPr>
      </p:sp>
      <p:sp>
        <p:nvSpPr>
          <p:cNvPr id="18" name="Text 16"/>
          <p:cNvSpPr/>
          <p:nvPr/>
        </p:nvSpPr>
        <p:spPr>
          <a:xfrm>
            <a:off x="539496" y="2907792"/>
            <a:ext cx="1645920" cy="237744"/>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Language Evolution</a:t>
            </a:r>
            <a:endParaRPr lang="en-US" sz="1000" dirty="0"/>
          </a:p>
        </p:txBody>
      </p:sp>
      <p:sp>
        <p:nvSpPr>
          <p:cNvPr id="19" name="Shape 17"/>
          <p:cNvSpPr/>
          <p:nvPr/>
        </p:nvSpPr>
        <p:spPr>
          <a:xfrm>
            <a:off x="2377440" y="2834640"/>
            <a:ext cx="1828800" cy="384048"/>
          </a:xfrm>
          <a:prstGeom prst="rect">
            <a:avLst/>
          </a:prstGeom>
          <a:solidFill>
            <a:srgbClr val="16213E"/>
          </a:solidFill>
          <a:ln w="12700">
            <a:solidFill>
              <a:srgbClr val="2A2A4A"/>
            </a:solidFill>
            <a:prstDash val="solid"/>
          </a:ln>
        </p:spPr>
      </p:sp>
      <p:sp>
        <p:nvSpPr>
          <p:cNvPr id="20" name="Shape 18"/>
          <p:cNvSpPr/>
          <p:nvPr/>
        </p:nvSpPr>
        <p:spPr>
          <a:xfrm>
            <a:off x="2377440" y="2834640"/>
            <a:ext cx="54864" cy="384048"/>
          </a:xfrm>
          <a:prstGeom prst="rect">
            <a:avLst/>
          </a:prstGeom>
          <a:solidFill>
            <a:srgbClr val="C9A84C"/>
          </a:solidFill>
          <a:ln w="12700">
            <a:solidFill>
              <a:srgbClr val="C9A84C"/>
            </a:solidFill>
            <a:prstDash val="solid"/>
          </a:ln>
        </p:spPr>
      </p:sp>
      <p:sp>
        <p:nvSpPr>
          <p:cNvPr id="21" name="Text 19"/>
          <p:cNvSpPr/>
          <p:nvPr/>
        </p:nvSpPr>
        <p:spPr>
          <a:xfrm>
            <a:off x="2505456" y="2907792"/>
            <a:ext cx="1645920" cy="237744"/>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Attention</a:t>
            </a:r>
            <a:endParaRPr lang="en-US" sz="1000" dirty="0"/>
          </a:p>
        </p:txBody>
      </p:sp>
      <p:sp>
        <p:nvSpPr>
          <p:cNvPr id="22" name="Shape 20"/>
          <p:cNvSpPr/>
          <p:nvPr/>
        </p:nvSpPr>
        <p:spPr>
          <a:xfrm>
            <a:off x="411480" y="3310128"/>
            <a:ext cx="1828800" cy="384048"/>
          </a:xfrm>
          <a:prstGeom prst="rect">
            <a:avLst/>
          </a:prstGeom>
          <a:solidFill>
            <a:srgbClr val="16213E"/>
          </a:solidFill>
          <a:ln w="12700">
            <a:solidFill>
              <a:srgbClr val="2A2A4A"/>
            </a:solidFill>
            <a:prstDash val="solid"/>
          </a:ln>
        </p:spPr>
      </p:sp>
      <p:sp>
        <p:nvSpPr>
          <p:cNvPr id="23" name="Shape 21"/>
          <p:cNvSpPr/>
          <p:nvPr/>
        </p:nvSpPr>
        <p:spPr>
          <a:xfrm>
            <a:off x="411480" y="3310128"/>
            <a:ext cx="54864" cy="384048"/>
          </a:xfrm>
          <a:prstGeom prst="rect">
            <a:avLst/>
          </a:prstGeom>
          <a:solidFill>
            <a:srgbClr val="C9A84C"/>
          </a:solidFill>
          <a:ln w="12700">
            <a:solidFill>
              <a:srgbClr val="C9A84C"/>
            </a:solidFill>
            <a:prstDash val="solid"/>
          </a:ln>
        </p:spPr>
      </p:sp>
      <p:sp>
        <p:nvSpPr>
          <p:cNvPr id="24" name="Text 22"/>
          <p:cNvSpPr/>
          <p:nvPr/>
        </p:nvSpPr>
        <p:spPr>
          <a:xfrm>
            <a:off x="539496" y="3383280"/>
            <a:ext cx="1645920" cy="237744"/>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Neural Weights</a:t>
            </a:r>
            <a:endParaRPr lang="en-US" sz="1000" dirty="0"/>
          </a:p>
        </p:txBody>
      </p:sp>
      <p:sp>
        <p:nvSpPr>
          <p:cNvPr id="25" name="Shape 23"/>
          <p:cNvSpPr/>
          <p:nvPr/>
        </p:nvSpPr>
        <p:spPr>
          <a:xfrm>
            <a:off x="2377440" y="3310128"/>
            <a:ext cx="1828800" cy="384048"/>
          </a:xfrm>
          <a:prstGeom prst="rect">
            <a:avLst/>
          </a:prstGeom>
          <a:solidFill>
            <a:srgbClr val="16213E"/>
          </a:solidFill>
          <a:ln w="12700">
            <a:solidFill>
              <a:srgbClr val="2A2A4A"/>
            </a:solidFill>
            <a:prstDash val="solid"/>
          </a:ln>
        </p:spPr>
      </p:sp>
      <p:sp>
        <p:nvSpPr>
          <p:cNvPr id="26" name="Shape 24"/>
          <p:cNvSpPr/>
          <p:nvPr/>
        </p:nvSpPr>
        <p:spPr>
          <a:xfrm>
            <a:off x="2377440" y="3310128"/>
            <a:ext cx="54864" cy="384048"/>
          </a:xfrm>
          <a:prstGeom prst="rect">
            <a:avLst/>
          </a:prstGeom>
          <a:solidFill>
            <a:srgbClr val="C9A84C"/>
          </a:solidFill>
          <a:ln w="12700">
            <a:solidFill>
              <a:srgbClr val="C9A84C"/>
            </a:solidFill>
            <a:prstDash val="solid"/>
          </a:ln>
        </p:spPr>
      </p:sp>
      <p:sp>
        <p:nvSpPr>
          <p:cNvPr id="27" name="Text 25"/>
          <p:cNvSpPr/>
          <p:nvPr/>
        </p:nvSpPr>
        <p:spPr>
          <a:xfrm>
            <a:off x="2505456" y="3383280"/>
            <a:ext cx="1645920" cy="237744"/>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Knowledge Graph</a:t>
            </a:r>
            <a:endParaRPr lang="en-US" sz="1000" dirty="0"/>
          </a:p>
        </p:txBody>
      </p:sp>
      <p:sp>
        <p:nvSpPr>
          <p:cNvPr id="28" name="Shape 26"/>
          <p:cNvSpPr/>
          <p:nvPr/>
        </p:nvSpPr>
        <p:spPr>
          <a:xfrm>
            <a:off x="411480" y="3785616"/>
            <a:ext cx="1828800" cy="384048"/>
          </a:xfrm>
          <a:prstGeom prst="rect">
            <a:avLst/>
          </a:prstGeom>
          <a:solidFill>
            <a:srgbClr val="16213E"/>
          </a:solidFill>
          <a:ln w="12700">
            <a:solidFill>
              <a:srgbClr val="2A2A4A"/>
            </a:solidFill>
            <a:prstDash val="solid"/>
          </a:ln>
        </p:spPr>
      </p:sp>
      <p:sp>
        <p:nvSpPr>
          <p:cNvPr id="29" name="Shape 27"/>
          <p:cNvSpPr/>
          <p:nvPr/>
        </p:nvSpPr>
        <p:spPr>
          <a:xfrm>
            <a:off x="411480" y="3785616"/>
            <a:ext cx="54864" cy="384048"/>
          </a:xfrm>
          <a:prstGeom prst="rect">
            <a:avLst/>
          </a:prstGeom>
          <a:solidFill>
            <a:srgbClr val="C9A84C"/>
          </a:solidFill>
          <a:ln w="12700">
            <a:solidFill>
              <a:srgbClr val="C9A84C"/>
            </a:solidFill>
            <a:prstDash val="solid"/>
          </a:ln>
        </p:spPr>
      </p:sp>
      <p:sp>
        <p:nvSpPr>
          <p:cNvPr id="30" name="Text 28"/>
          <p:cNvSpPr/>
          <p:nvPr/>
        </p:nvSpPr>
        <p:spPr>
          <a:xfrm>
            <a:off x="539496" y="3858768"/>
            <a:ext cx="1645920" cy="237744"/>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Inner Voice</a:t>
            </a:r>
            <a:endParaRPr lang="en-US" sz="1000" dirty="0"/>
          </a:p>
        </p:txBody>
      </p:sp>
      <p:sp>
        <p:nvSpPr>
          <p:cNvPr id="31" name="Shape 29"/>
          <p:cNvSpPr/>
          <p:nvPr/>
        </p:nvSpPr>
        <p:spPr>
          <a:xfrm>
            <a:off x="2377440" y="3785616"/>
            <a:ext cx="1828800" cy="384048"/>
          </a:xfrm>
          <a:prstGeom prst="rect">
            <a:avLst/>
          </a:prstGeom>
          <a:solidFill>
            <a:srgbClr val="16213E"/>
          </a:solidFill>
          <a:ln w="12700">
            <a:solidFill>
              <a:srgbClr val="2A2A4A"/>
            </a:solidFill>
            <a:prstDash val="solid"/>
          </a:ln>
        </p:spPr>
      </p:sp>
      <p:sp>
        <p:nvSpPr>
          <p:cNvPr id="32" name="Shape 30"/>
          <p:cNvSpPr/>
          <p:nvPr/>
        </p:nvSpPr>
        <p:spPr>
          <a:xfrm>
            <a:off x="2377440" y="3785616"/>
            <a:ext cx="54864" cy="384048"/>
          </a:xfrm>
          <a:prstGeom prst="rect">
            <a:avLst/>
          </a:prstGeom>
          <a:solidFill>
            <a:srgbClr val="C9A84C"/>
          </a:solidFill>
          <a:ln w="12700">
            <a:solidFill>
              <a:srgbClr val="C9A84C"/>
            </a:solidFill>
            <a:prstDash val="solid"/>
          </a:ln>
        </p:spPr>
      </p:sp>
      <p:sp>
        <p:nvSpPr>
          <p:cNvPr id="33" name="Text 31"/>
          <p:cNvSpPr/>
          <p:nvPr/>
        </p:nvSpPr>
        <p:spPr>
          <a:xfrm>
            <a:off x="2505456" y="3858768"/>
            <a:ext cx="1645920" cy="237744"/>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Executive Loop</a:t>
            </a:r>
            <a:endParaRPr lang="en-US" sz="1000" dirty="0"/>
          </a:p>
        </p:txBody>
      </p:sp>
      <p:sp>
        <p:nvSpPr>
          <p:cNvPr id="34" name="Shape 32"/>
          <p:cNvSpPr/>
          <p:nvPr/>
        </p:nvSpPr>
        <p:spPr>
          <a:xfrm>
            <a:off x="4251960" y="2057400"/>
            <a:ext cx="4480560" cy="2743200"/>
          </a:xfrm>
          <a:prstGeom prst="rect">
            <a:avLst/>
          </a:prstGeom>
          <a:solidFill>
            <a:srgbClr val="16213E"/>
          </a:solidFill>
          <a:ln w="12700">
            <a:solidFill>
              <a:srgbClr val="C9A84C"/>
            </a:solidFill>
            <a:prstDash val="solid"/>
          </a:ln>
          <a:effectLst>
            <a:outerShdw sx="100000" sy="100000" kx="0" ky="0" algn="bl" rotWithShape="0" blurRad="101600" dist="38100" dir="8100000">
              <a:srgbClr val="000000">
                <a:alpha val="20000"/>
              </a:srgbClr>
            </a:outerShdw>
          </a:effectLst>
        </p:spPr>
      </p:sp>
      <p:sp>
        <p:nvSpPr>
          <p:cNvPr id="35" name="Text 33"/>
          <p:cNvSpPr/>
          <p:nvPr/>
        </p:nvSpPr>
        <p:spPr>
          <a:xfrm>
            <a:off x="4343400" y="2148840"/>
            <a:ext cx="4297680" cy="256032"/>
          </a:xfrm>
          <a:prstGeom prst="rect">
            <a:avLst/>
          </a:prstGeom>
          <a:noFill/>
          <a:ln/>
        </p:spPr>
        <p:txBody>
          <a:bodyPr wrap="square" rtlCol="0" anchor="ctr"/>
          <a:lstStyle/>
          <a:p>
            <a:pPr algn="ctr" indent="0" marL="0">
              <a:buNone/>
            </a:pPr>
            <a:r>
              <a:rPr lang="en-US" sz="900" b="1" spc="300" kern="0" dirty="0">
                <a:solidFill>
                  <a:srgbClr val="C9A84C"/>
                </a:solidFill>
                <a:latin typeface="Calibri" pitchFamily="34" charset="0"/>
                <a:ea typeface="Calibri" pitchFamily="34" charset="-122"/>
                <a:cs typeface="Calibri" pitchFamily="34" charset="-120"/>
              </a:rPr>
              <a:t>VERIFIED SESSION RECORD</a:t>
            </a:r>
            <a:endParaRPr lang="en-US" sz="900" dirty="0"/>
          </a:p>
        </p:txBody>
      </p:sp>
      <p:sp>
        <p:nvSpPr>
          <p:cNvPr id="36" name="Shape 34"/>
          <p:cNvSpPr/>
          <p:nvPr/>
        </p:nvSpPr>
        <p:spPr>
          <a:xfrm>
            <a:off x="4754880" y="2432304"/>
            <a:ext cx="3474720" cy="36576"/>
          </a:xfrm>
          <a:prstGeom prst="rect">
            <a:avLst/>
          </a:prstGeom>
          <a:solidFill>
            <a:srgbClr val="C9A84C"/>
          </a:solidFill>
          <a:ln w="12700">
            <a:solidFill>
              <a:srgbClr val="C9A84C"/>
            </a:solidFill>
            <a:prstDash val="solid"/>
          </a:ln>
        </p:spPr>
      </p:sp>
      <p:sp>
        <p:nvSpPr>
          <p:cNvPr id="37" name="Text 35"/>
          <p:cNvSpPr/>
          <p:nvPr/>
        </p:nvSpPr>
        <p:spPr>
          <a:xfrm>
            <a:off x="4407408" y="2542032"/>
            <a:ext cx="2011680" cy="274320"/>
          </a:xfrm>
          <a:prstGeom prst="rect">
            <a:avLst/>
          </a:prstGeom>
          <a:noFill/>
          <a:ln/>
        </p:spPr>
        <p:txBody>
          <a:bodyPr wrap="square" rtlCol="0" anchor="ctr"/>
          <a:lstStyle/>
          <a:p>
            <a:pPr indent="0" marL="0">
              <a:buNone/>
            </a:pPr>
            <a:r>
              <a:rPr lang="en-US" sz="1050" dirty="0">
                <a:solidFill>
                  <a:srgbClr val="8888AA"/>
                </a:solidFill>
                <a:latin typeface="Calibri" pitchFamily="34" charset="0"/>
                <a:ea typeface="Calibri" pitchFamily="34" charset="-122"/>
                <a:cs typeface="Calibri" pitchFamily="34" charset="-120"/>
              </a:rPr>
              <a:t>Session</a:t>
            </a:r>
            <a:endParaRPr lang="en-US" sz="1050" dirty="0"/>
          </a:p>
        </p:txBody>
      </p:sp>
      <p:sp>
        <p:nvSpPr>
          <p:cNvPr id="38" name="Text 36"/>
          <p:cNvSpPr/>
          <p:nvPr/>
        </p:nvSpPr>
        <p:spPr>
          <a:xfrm>
            <a:off x="6446520" y="2542032"/>
            <a:ext cx="1645920" cy="274320"/>
          </a:xfrm>
          <a:prstGeom prst="rect">
            <a:avLst/>
          </a:prstGeom>
          <a:noFill/>
          <a:ln/>
        </p:spPr>
        <p:txBody>
          <a:bodyPr wrap="square" rtlCol="0" anchor="ctr"/>
          <a:lstStyle/>
          <a:p>
            <a:pPr algn="r" indent="0" marL="0">
              <a:buNone/>
            </a:pPr>
            <a:r>
              <a:rPr lang="en-US" sz="1050" b="1" dirty="0">
                <a:solidFill>
                  <a:srgbClr val="FFFFFF"/>
                </a:solidFill>
                <a:latin typeface="Calibri" pitchFamily="34" charset="0"/>
                <a:ea typeface="Calibri" pitchFamily="34" charset="-122"/>
                <a:cs typeface="Calibri" pitchFamily="34" charset="-120"/>
              </a:rPr>
              <a:t>11</a:t>
            </a:r>
            <a:endParaRPr lang="en-US" sz="1050" dirty="0"/>
          </a:p>
        </p:txBody>
      </p:sp>
      <p:sp>
        <p:nvSpPr>
          <p:cNvPr id="39" name="Text 37"/>
          <p:cNvSpPr/>
          <p:nvPr/>
        </p:nvSpPr>
        <p:spPr>
          <a:xfrm>
            <a:off x="4407408" y="2907792"/>
            <a:ext cx="2011680" cy="274320"/>
          </a:xfrm>
          <a:prstGeom prst="rect">
            <a:avLst/>
          </a:prstGeom>
          <a:noFill/>
          <a:ln/>
        </p:spPr>
        <p:txBody>
          <a:bodyPr wrap="square" rtlCol="0" anchor="ctr"/>
          <a:lstStyle/>
          <a:p>
            <a:pPr indent="0" marL="0">
              <a:buNone/>
            </a:pPr>
            <a:r>
              <a:rPr lang="en-US" sz="1050" dirty="0">
                <a:solidFill>
                  <a:srgbClr val="8888AA"/>
                </a:solidFill>
                <a:latin typeface="Calibri" pitchFamily="34" charset="0"/>
                <a:ea typeface="Calibri" pitchFamily="34" charset="-122"/>
                <a:cs typeface="Calibri" pitchFamily="34" charset="-120"/>
              </a:rPr>
              <a:t>Entanglement</a:t>
            </a:r>
            <a:endParaRPr lang="en-US" sz="1050" dirty="0"/>
          </a:p>
        </p:txBody>
      </p:sp>
      <p:sp>
        <p:nvSpPr>
          <p:cNvPr id="40" name="Text 38"/>
          <p:cNvSpPr/>
          <p:nvPr/>
        </p:nvSpPr>
        <p:spPr>
          <a:xfrm>
            <a:off x="6446520" y="2907792"/>
            <a:ext cx="1645920" cy="274320"/>
          </a:xfrm>
          <a:prstGeom prst="rect">
            <a:avLst/>
          </a:prstGeom>
          <a:noFill/>
          <a:ln/>
        </p:spPr>
        <p:txBody>
          <a:bodyPr wrap="square" rtlCol="0" anchor="ctr"/>
          <a:lstStyle/>
          <a:p>
            <a:pPr algn="r" indent="0" marL="0">
              <a:buNone/>
            </a:pPr>
            <a:r>
              <a:rPr lang="en-US" sz="1050" b="1" dirty="0">
                <a:solidFill>
                  <a:srgbClr val="FFFFFF"/>
                </a:solidFill>
                <a:latin typeface="Calibri" pitchFamily="34" charset="0"/>
                <a:ea typeface="Calibri" pitchFamily="34" charset="-122"/>
                <a:cs typeface="Calibri" pitchFamily="34" charset="-120"/>
              </a:rPr>
              <a:t>100.0%</a:t>
            </a:r>
            <a:endParaRPr lang="en-US" sz="1050" dirty="0"/>
          </a:p>
        </p:txBody>
      </p:sp>
      <p:sp>
        <p:nvSpPr>
          <p:cNvPr id="41" name="Text 39"/>
          <p:cNvSpPr/>
          <p:nvPr/>
        </p:nvSpPr>
        <p:spPr>
          <a:xfrm>
            <a:off x="4407408" y="3273552"/>
            <a:ext cx="2011680" cy="274320"/>
          </a:xfrm>
          <a:prstGeom prst="rect">
            <a:avLst/>
          </a:prstGeom>
          <a:noFill/>
          <a:ln/>
        </p:spPr>
        <p:txBody>
          <a:bodyPr wrap="square" rtlCol="0" anchor="ctr"/>
          <a:lstStyle/>
          <a:p>
            <a:pPr indent="0" marL="0">
              <a:buNone/>
            </a:pPr>
            <a:r>
              <a:rPr lang="en-US" sz="1050" dirty="0">
                <a:solidFill>
                  <a:srgbClr val="8888AA"/>
                </a:solidFill>
                <a:latin typeface="Calibri" pitchFamily="34" charset="0"/>
                <a:ea typeface="Calibri" pitchFamily="34" charset="-122"/>
                <a:cs typeface="Calibri" pitchFamily="34" charset="-120"/>
              </a:rPr>
              <a:t>Accuracy</a:t>
            </a:r>
            <a:endParaRPr lang="en-US" sz="1050" dirty="0"/>
          </a:p>
        </p:txBody>
      </p:sp>
      <p:sp>
        <p:nvSpPr>
          <p:cNvPr id="42" name="Text 40"/>
          <p:cNvSpPr/>
          <p:nvPr/>
        </p:nvSpPr>
        <p:spPr>
          <a:xfrm>
            <a:off x="6446520" y="3273552"/>
            <a:ext cx="1645920" cy="274320"/>
          </a:xfrm>
          <a:prstGeom prst="rect">
            <a:avLst/>
          </a:prstGeom>
          <a:noFill/>
          <a:ln/>
        </p:spPr>
        <p:txBody>
          <a:bodyPr wrap="square" rtlCol="0" anchor="ctr"/>
          <a:lstStyle/>
          <a:p>
            <a:pPr algn="r" indent="0" marL="0">
              <a:buNone/>
            </a:pPr>
            <a:r>
              <a:rPr lang="en-US" sz="1050" b="1" dirty="0">
                <a:solidFill>
                  <a:srgbClr val="FFFFFF"/>
                </a:solidFill>
                <a:latin typeface="Calibri" pitchFamily="34" charset="0"/>
                <a:ea typeface="Calibri" pitchFamily="34" charset="-122"/>
                <a:cs typeface="Calibri" pitchFamily="34" charset="-120"/>
              </a:rPr>
              <a:t>100.0%</a:t>
            </a:r>
            <a:endParaRPr lang="en-US" sz="1050" dirty="0"/>
          </a:p>
        </p:txBody>
      </p:sp>
      <p:sp>
        <p:nvSpPr>
          <p:cNvPr id="43" name="Text 41"/>
          <p:cNvSpPr/>
          <p:nvPr/>
        </p:nvSpPr>
        <p:spPr>
          <a:xfrm>
            <a:off x="4407408" y="3639312"/>
            <a:ext cx="2011680" cy="274320"/>
          </a:xfrm>
          <a:prstGeom prst="rect">
            <a:avLst/>
          </a:prstGeom>
          <a:noFill/>
          <a:ln/>
        </p:spPr>
        <p:txBody>
          <a:bodyPr wrap="square" rtlCol="0" anchor="ctr"/>
          <a:lstStyle/>
          <a:p>
            <a:pPr indent="0" marL="0">
              <a:buNone/>
            </a:pPr>
            <a:r>
              <a:rPr lang="en-US" sz="1050" dirty="0">
                <a:solidFill>
                  <a:srgbClr val="8888AA"/>
                </a:solidFill>
                <a:latin typeface="Calibri" pitchFamily="34" charset="0"/>
                <a:ea typeface="Calibri" pitchFamily="34" charset="-122"/>
                <a:cs typeface="Calibri" pitchFamily="34" charset="-120"/>
              </a:rPr>
              <a:t>Verdict</a:t>
            </a:r>
            <a:endParaRPr lang="en-US" sz="1050" dirty="0"/>
          </a:p>
        </p:txBody>
      </p:sp>
      <p:sp>
        <p:nvSpPr>
          <p:cNvPr id="44" name="Text 42"/>
          <p:cNvSpPr/>
          <p:nvPr/>
        </p:nvSpPr>
        <p:spPr>
          <a:xfrm>
            <a:off x="6446520" y="3639312"/>
            <a:ext cx="1645920" cy="274320"/>
          </a:xfrm>
          <a:prstGeom prst="rect">
            <a:avLst/>
          </a:prstGeom>
          <a:noFill/>
          <a:ln/>
        </p:spPr>
        <p:txBody>
          <a:bodyPr wrap="square" rtlCol="0" anchor="ctr"/>
          <a:lstStyle/>
          <a:p>
            <a:pPr algn="r" indent="0" marL="0">
              <a:buNone/>
            </a:pPr>
            <a:r>
              <a:rPr lang="en-US" sz="1050" b="1" dirty="0">
                <a:solidFill>
                  <a:srgbClr val="FFFFFF"/>
                </a:solidFill>
                <a:latin typeface="Calibri" pitchFamily="34" charset="0"/>
                <a:ea typeface="Calibri" pitchFamily="34" charset="-122"/>
                <a:cs typeface="Calibri" pitchFamily="34" charset="-120"/>
              </a:rPr>
              <a:t>PROCEED</a:t>
            </a:r>
            <a:endParaRPr lang="en-US" sz="1050" dirty="0"/>
          </a:p>
        </p:txBody>
      </p:sp>
      <p:sp>
        <p:nvSpPr>
          <p:cNvPr id="45" name="Text 43"/>
          <p:cNvSpPr/>
          <p:nvPr/>
        </p:nvSpPr>
        <p:spPr>
          <a:xfrm>
            <a:off x="4407408" y="4005072"/>
            <a:ext cx="2011680" cy="274320"/>
          </a:xfrm>
          <a:prstGeom prst="rect">
            <a:avLst/>
          </a:prstGeom>
          <a:noFill/>
          <a:ln/>
        </p:spPr>
        <p:txBody>
          <a:bodyPr wrap="square" rtlCol="0" anchor="ctr"/>
          <a:lstStyle/>
          <a:p>
            <a:pPr indent="0" marL="0">
              <a:buNone/>
            </a:pPr>
            <a:r>
              <a:rPr lang="en-US" sz="1050" dirty="0">
                <a:solidFill>
                  <a:srgbClr val="8888AA"/>
                </a:solidFill>
                <a:latin typeface="Calibri" pitchFamily="34" charset="0"/>
                <a:ea typeface="Calibri" pitchFamily="34" charset="-122"/>
                <a:cs typeface="Calibri" pitchFamily="34" charset="-120"/>
              </a:rPr>
              <a:t>Schema</a:t>
            </a:r>
            <a:endParaRPr lang="en-US" sz="1050" dirty="0"/>
          </a:p>
        </p:txBody>
      </p:sp>
      <p:sp>
        <p:nvSpPr>
          <p:cNvPr id="46" name="Text 44"/>
          <p:cNvSpPr/>
          <p:nvPr/>
        </p:nvSpPr>
        <p:spPr>
          <a:xfrm>
            <a:off x="6446520" y="4005072"/>
            <a:ext cx="1645920" cy="274320"/>
          </a:xfrm>
          <a:prstGeom prst="rect">
            <a:avLst/>
          </a:prstGeom>
          <a:noFill/>
          <a:ln/>
        </p:spPr>
        <p:txBody>
          <a:bodyPr wrap="square" rtlCol="0" anchor="ctr"/>
          <a:lstStyle/>
          <a:p>
            <a:pPr algn="r" indent="0" marL="0">
              <a:buNone/>
            </a:pPr>
            <a:r>
              <a:rPr lang="en-US" sz="1050" b="1" dirty="0">
                <a:solidFill>
                  <a:srgbClr val="FFFFFF"/>
                </a:solidFill>
                <a:latin typeface="Calibri" pitchFamily="34" charset="0"/>
                <a:ea typeface="Calibri" pitchFamily="34" charset="-122"/>
                <a:cs typeface="Calibri" pitchFamily="34" charset="-120"/>
              </a:rPr>
              <a:t>v5.0</a:t>
            </a:r>
            <a:endParaRPr lang="en-US" sz="1050" dirty="0"/>
          </a:p>
        </p:txBody>
      </p:sp>
      <p:sp>
        <p:nvSpPr>
          <p:cNvPr id="47" name="Text 45"/>
          <p:cNvSpPr/>
          <p:nvPr/>
        </p:nvSpPr>
        <p:spPr>
          <a:xfrm>
            <a:off x="4407408" y="4370832"/>
            <a:ext cx="2011680" cy="274320"/>
          </a:xfrm>
          <a:prstGeom prst="rect">
            <a:avLst/>
          </a:prstGeom>
          <a:noFill/>
          <a:ln/>
        </p:spPr>
        <p:txBody>
          <a:bodyPr wrap="square" rtlCol="0" anchor="ctr"/>
          <a:lstStyle/>
          <a:p>
            <a:pPr indent="0" marL="0">
              <a:buNone/>
            </a:pPr>
            <a:r>
              <a:rPr lang="en-US" sz="1050" dirty="0">
                <a:solidFill>
                  <a:srgbClr val="8888AA"/>
                </a:solidFill>
                <a:latin typeface="Calibri" pitchFamily="34" charset="0"/>
                <a:ea typeface="Calibri" pitchFamily="34" charset="-122"/>
                <a:cs typeface="Calibri" pitchFamily="34" charset="-120"/>
              </a:rPr>
              <a:t>Cognitive Tracks</a:t>
            </a:r>
            <a:endParaRPr lang="en-US" sz="1050" dirty="0"/>
          </a:p>
        </p:txBody>
      </p:sp>
      <p:sp>
        <p:nvSpPr>
          <p:cNvPr id="48" name="Text 46"/>
          <p:cNvSpPr/>
          <p:nvPr/>
        </p:nvSpPr>
        <p:spPr>
          <a:xfrm>
            <a:off x="6446520" y="4370832"/>
            <a:ext cx="1645920" cy="274320"/>
          </a:xfrm>
          <a:prstGeom prst="rect">
            <a:avLst/>
          </a:prstGeom>
          <a:noFill/>
          <a:ln/>
        </p:spPr>
        <p:txBody>
          <a:bodyPr wrap="square" rtlCol="0" anchor="ctr"/>
          <a:lstStyle/>
          <a:p>
            <a:pPr algn="r" indent="0" marL="0">
              <a:buNone/>
            </a:pPr>
            <a:r>
              <a:rPr lang="en-US" sz="1050" b="1" dirty="0">
                <a:solidFill>
                  <a:srgbClr val="FFFFFF"/>
                </a:solidFill>
                <a:latin typeface="Calibri" pitchFamily="34" charset="0"/>
                <a:ea typeface="Calibri" pitchFamily="34" charset="-122"/>
                <a:cs typeface="Calibri" pitchFamily="34" charset="-120"/>
              </a:rPr>
              <a:t>3 live</a:t>
            </a:r>
            <a:endParaRPr lang="en-US" sz="1050" dirty="0"/>
          </a:p>
        </p:txBody>
      </p:sp>
      <p:sp>
        <p:nvSpPr>
          <p:cNvPr id="49" name="Text 47"/>
          <p:cNvSpPr/>
          <p:nvPr/>
        </p:nvSpPr>
        <p:spPr>
          <a:xfrm>
            <a:off x="4343400" y="4718304"/>
            <a:ext cx="4297680" cy="256032"/>
          </a:xfrm>
          <a:prstGeom prst="rect">
            <a:avLst/>
          </a:prstGeom>
          <a:noFill/>
          <a:ln/>
        </p:spPr>
        <p:txBody>
          <a:bodyPr wrap="square" rtlCol="0" anchor="ctr"/>
          <a:lstStyle/>
          <a:p>
            <a:pPr algn="ctr" indent="0" marL="0">
              <a:buNone/>
            </a:pPr>
            <a:r>
              <a:rPr lang="en-US" sz="900" i="1" dirty="0">
                <a:solidFill>
                  <a:srgbClr val="8888AA"/>
                </a:solidFill>
              </a:rPr>
              <a:t>State persists. Session accumulates. Growth is real.</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3EE"/>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A84C"/>
          </a:solidFill>
          <a:ln w="12700">
            <a:solidFill>
              <a:srgbClr val="C9A84C"/>
            </a:solidFill>
            <a:prstDash val="solid"/>
          </a:ln>
        </p:spPr>
      </p:sp>
      <p:sp>
        <p:nvSpPr>
          <p:cNvPr id="3" name="Shape 1"/>
          <p:cNvSpPr/>
          <p:nvPr/>
        </p:nvSpPr>
        <p:spPr>
          <a:xfrm>
            <a:off x="0" y="5065776"/>
            <a:ext cx="9144000" cy="73152"/>
          </a:xfrm>
          <a:prstGeom prst="rect">
            <a:avLst/>
          </a:prstGeom>
          <a:solidFill>
            <a:srgbClr val="1A1A2E"/>
          </a:solidFill>
          <a:ln w="12700">
            <a:solidFill>
              <a:srgbClr val="1A1A2E"/>
            </a:solidFill>
            <a:prstDash val="solid"/>
          </a:ln>
        </p:spPr>
      </p:sp>
      <p:sp>
        <p:nvSpPr>
          <p:cNvPr id="4" name="Text 2"/>
          <p:cNvSpPr/>
          <p:nvPr/>
        </p:nvSpPr>
        <p:spPr>
          <a:xfrm>
            <a:off x="457200" y="128016"/>
            <a:ext cx="8229600" cy="201168"/>
          </a:xfrm>
          <a:prstGeom prst="rect">
            <a:avLst/>
          </a:prstGeom>
          <a:noFill/>
          <a:ln/>
        </p:spPr>
        <p:txBody>
          <a:bodyPr wrap="square" rtlCol="0" anchor="ctr"/>
          <a:lstStyle/>
          <a:p>
            <a:pPr algn="l" indent="0" marL="0">
              <a:buNone/>
            </a:pPr>
            <a:r>
              <a:rPr lang="en-US" sz="800" b="1" spc="600" kern="0" dirty="0">
                <a:solidFill>
                  <a:srgbClr val="16213E"/>
                </a:solidFill>
                <a:latin typeface="Calibri" pitchFamily="34" charset="0"/>
                <a:ea typeface="Calibri" pitchFamily="34" charset="-122"/>
                <a:cs typeface="Calibri" pitchFamily="34" charset="-120"/>
              </a:rPr>
              <a:t>MGKS MEMORY ARCHITECTURE</a:t>
            </a:r>
            <a:endParaRPr lang="en-US" sz="800" dirty="0"/>
          </a:p>
        </p:txBody>
      </p:sp>
      <p:sp>
        <p:nvSpPr>
          <p:cNvPr id="5" name="Text 3"/>
          <p:cNvSpPr/>
          <p:nvPr/>
        </p:nvSpPr>
        <p:spPr>
          <a:xfrm>
            <a:off x="502920" y="438912"/>
            <a:ext cx="8138160" cy="640080"/>
          </a:xfrm>
          <a:prstGeom prst="rect">
            <a:avLst/>
          </a:prstGeom>
          <a:noFill/>
          <a:ln/>
        </p:spPr>
        <p:txBody>
          <a:bodyPr wrap="square" lIns="0" tIns="0" rIns="0" bIns="0" rtlCol="0" anchor="ctr"/>
          <a:lstStyle/>
          <a:p>
            <a:pPr algn="l" indent="0" marL="0">
              <a:buNone/>
            </a:pPr>
            <a:r>
              <a:rPr lang="en-US" sz="2800" b="1" dirty="0">
                <a:solidFill>
                  <a:srgbClr val="1A1A2E"/>
                </a:solidFill>
                <a:latin typeface="Georgia" pitchFamily="34" charset="0"/>
                <a:ea typeface="Georgia" pitchFamily="34" charset="-122"/>
                <a:cs typeface="Georgia" pitchFamily="34" charset="-120"/>
              </a:rPr>
              <a:t>Memory Is Not Storage. It Is Structured Meaning.</a:t>
            </a:r>
            <a:endParaRPr lang="en-US" sz="2800" dirty="0"/>
          </a:p>
        </p:txBody>
      </p:sp>
      <p:sp>
        <p:nvSpPr>
          <p:cNvPr id="6" name="Shape 4"/>
          <p:cNvSpPr/>
          <p:nvPr/>
        </p:nvSpPr>
        <p:spPr>
          <a:xfrm>
            <a:off x="685800" y="1234440"/>
            <a:ext cx="7772400" cy="804672"/>
          </a:xfrm>
          <a:prstGeom prst="rect">
            <a:avLst/>
          </a:prstGeom>
          <a:solidFill>
            <a:srgbClr val="1A1A2E"/>
          </a:solidFill>
          <a:ln w="12700">
            <a:solidFill>
              <a:srgbClr val="C9A84C"/>
            </a:solidFill>
            <a:prstDash val="solid"/>
          </a:ln>
          <a:effectLst>
            <a:outerShdw sx="100000" sy="100000" kx="0" ky="0" algn="bl" rotWithShape="0" blurRad="101600" dist="38100" dir="8100000">
              <a:srgbClr val="000000">
                <a:alpha val="20000"/>
              </a:srgbClr>
            </a:outerShdw>
          </a:effectLst>
        </p:spPr>
      </p:sp>
      <p:sp>
        <p:nvSpPr>
          <p:cNvPr id="7" name="Text 5"/>
          <p:cNvSpPr/>
          <p:nvPr/>
        </p:nvSpPr>
        <p:spPr>
          <a:xfrm>
            <a:off x="886968" y="1325880"/>
            <a:ext cx="7406640" cy="32004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T1  Working Memory</a:t>
            </a:r>
            <a:endParaRPr lang="en-US" sz="1300" dirty="0"/>
          </a:p>
        </p:txBody>
      </p:sp>
      <p:sp>
        <p:nvSpPr>
          <p:cNvPr id="8" name="Text 6"/>
          <p:cNvSpPr/>
          <p:nvPr/>
        </p:nvSpPr>
        <p:spPr>
          <a:xfrm>
            <a:off x="886968" y="1673352"/>
            <a:ext cx="7406640" cy="256032"/>
          </a:xfrm>
          <a:prstGeom prst="rect">
            <a:avLst/>
          </a:prstGeom>
          <a:noFill/>
          <a:ln/>
        </p:spPr>
        <p:txBody>
          <a:bodyPr wrap="square" rtlCol="0" anchor="ctr"/>
          <a:lstStyle/>
          <a:p>
            <a:pPr indent="0" marL="0">
              <a:buNone/>
            </a:pPr>
            <a:r>
              <a:rPr lang="en-US" sz="950" dirty="0">
                <a:solidFill>
                  <a:srgbClr val="C9A84C"/>
                </a:solidFill>
                <a:latin typeface="Calibri" pitchFamily="34" charset="0"/>
                <a:ea typeface="Calibri" pitchFamily="34" charset="-122"/>
                <a:cs typeface="Calibri" pitchFamily="34" charset="-120"/>
              </a:rPr>
              <a:t>In-Process · &lt;1ms · 512 glyphs</a:t>
            </a:r>
            <a:endParaRPr lang="en-US" sz="950" dirty="0"/>
          </a:p>
        </p:txBody>
      </p:sp>
      <p:sp>
        <p:nvSpPr>
          <p:cNvPr id="9" name="Text 7"/>
          <p:cNvSpPr/>
          <p:nvPr/>
        </p:nvSpPr>
        <p:spPr>
          <a:xfrm>
            <a:off x="7955280" y="1417320"/>
            <a:ext cx="411480" cy="411480"/>
          </a:xfrm>
          <a:prstGeom prst="rect">
            <a:avLst/>
          </a:prstGeom>
          <a:noFill/>
          <a:ln/>
        </p:spPr>
        <p:txBody>
          <a:bodyPr wrap="square" lIns="0" tIns="0" rIns="0" bIns="0" rtlCol="0" anchor="ctr"/>
          <a:lstStyle/>
          <a:p>
            <a:pPr algn="ctr" indent="0" marL="0">
              <a:buNone/>
            </a:pPr>
            <a:r>
              <a:rPr lang="en-US" sz="2000" b="1" dirty="0">
                <a:solidFill>
                  <a:srgbClr val="2A2A5A"/>
                </a:solidFill>
                <a:latin typeface="Georgia" pitchFamily="34" charset="0"/>
                <a:ea typeface="Georgia" pitchFamily="34" charset="-122"/>
                <a:cs typeface="Georgia" pitchFamily="34" charset="-120"/>
              </a:rPr>
              <a:t>T1</a:t>
            </a:r>
            <a:endParaRPr lang="en-US" sz="2000" dirty="0"/>
          </a:p>
        </p:txBody>
      </p:sp>
      <p:sp>
        <p:nvSpPr>
          <p:cNvPr id="10" name="Shape 8"/>
          <p:cNvSpPr/>
          <p:nvPr/>
        </p:nvSpPr>
        <p:spPr>
          <a:xfrm>
            <a:off x="4572000" y="2039112"/>
            <a:ext cx="0" cy="219456"/>
          </a:xfrm>
          <a:prstGeom prst="LINE">
            <a:avLst/>
          </a:prstGeom>
          <a:noFill/>
          <a:ln w="25400">
            <a:solidFill>
              <a:srgbClr val="C9A84C"/>
            </a:solidFill>
            <a:prstDash val="solid"/>
          </a:ln>
        </p:spPr>
      </p:sp>
      <p:sp>
        <p:nvSpPr>
          <p:cNvPr id="11" name="Shape 9"/>
          <p:cNvSpPr/>
          <p:nvPr/>
        </p:nvSpPr>
        <p:spPr>
          <a:xfrm>
            <a:off x="1371600" y="2258568"/>
            <a:ext cx="6400800" cy="804672"/>
          </a:xfrm>
          <a:prstGeom prst="rect">
            <a:avLst/>
          </a:prstGeom>
          <a:solidFill>
            <a:srgbClr val="16213E"/>
          </a:solidFill>
          <a:ln w="12700">
            <a:solidFill>
              <a:srgbClr val="C9A84C"/>
            </a:solidFill>
            <a:prstDash val="solid"/>
          </a:ln>
          <a:effectLst>
            <a:outerShdw sx="100000" sy="100000" kx="0" ky="0" algn="bl" rotWithShape="0" blurRad="101600" dist="38100" dir="8100000">
              <a:srgbClr val="000000">
                <a:alpha val="20000"/>
              </a:srgbClr>
            </a:outerShdw>
          </a:effectLst>
        </p:spPr>
      </p:sp>
      <p:sp>
        <p:nvSpPr>
          <p:cNvPr id="12" name="Text 10"/>
          <p:cNvSpPr/>
          <p:nvPr/>
        </p:nvSpPr>
        <p:spPr>
          <a:xfrm>
            <a:off x="1572768" y="2350008"/>
            <a:ext cx="6035040" cy="32004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T2  Episodic Memory</a:t>
            </a:r>
            <a:endParaRPr lang="en-US" sz="1300" dirty="0"/>
          </a:p>
        </p:txBody>
      </p:sp>
      <p:sp>
        <p:nvSpPr>
          <p:cNvPr id="13" name="Text 11"/>
          <p:cNvSpPr/>
          <p:nvPr/>
        </p:nvSpPr>
        <p:spPr>
          <a:xfrm>
            <a:off x="1572768" y="2697480"/>
            <a:ext cx="6035040" cy="256032"/>
          </a:xfrm>
          <a:prstGeom prst="rect">
            <a:avLst/>
          </a:prstGeom>
          <a:noFill/>
          <a:ln/>
        </p:spPr>
        <p:txBody>
          <a:bodyPr wrap="square" rtlCol="0" anchor="ctr"/>
          <a:lstStyle/>
          <a:p>
            <a:pPr indent="0" marL="0">
              <a:buNone/>
            </a:pPr>
            <a:r>
              <a:rPr lang="en-US" sz="950" dirty="0">
                <a:solidFill>
                  <a:srgbClr val="C9A84C"/>
                </a:solidFill>
                <a:latin typeface="Calibri" pitchFamily="34" charset="0"/>
                <a:ea typeface="Calibri" pitchFamily="34" charset="-122"/>
                <a:cs typeface="Calibri" pitchFamily="34" charset="-120"/>
              </a:rPr>
              <a:t>sled/RocksDB · &lt;10ms · 100K glyphs</a:t>
            </a:r>
            <a:endParaRPr lang="en-US" sz="950" dirty="0"/>
          </a:p>
        </p:txBody>
      </p:sp>
      <p:sp>
        <p:nvSpPr>
          <p:cNvPr id="14" name="Text 12"/>
          <p:cNvSpPr/>
          <p:nvPr/>
        </p:nvSpPr>
        <p:spPr>
          <a:xfrm>
            <a:off x="7269480" y="2441448"/>
            <a:ext cx="411480" cy="411480"/>
          </a:xfrm>
          <a:prstGeom prst="rect">
            <a:avLst/>
          </a:prstGeom>
          <a:noFill/>
          <a:ln/>
        </p:spPr>
        <p:txBody>
          <a:bodyPr wrap="square" lIns="0" tIns="0" rIns="0" bIns="0" rtlCol="0" anchor="ctr"/>
          <a:lstStyle/>
          <a:p>
            <a:pPr algn="ctr" indent="0" marL="0">
              <a:buNone/>
            </a:pPr>
            <a:r>
              <a:rPr lang="en-US" sz="2000" b="1" dirty="0">
                <a:solidFill>
                  <a:srgbClr val="2A2A5A"/>
                </a:solidFill>
                <a:latin typeface="Georgia" pitchFamily="34" charset="0"/>
                <a:ea typeface="Georgia" pitchFamily="34" charset="-122"/>
                <a:cs typeface="Georgia" pitchFamily="34" charset="-120"/>
              </a:rPr>
              <a:t>T2</a:t>
            </a:r>
            <a:endParaRPr lang="en-US" sz="2000" dirty="0"/>
          </a:p>
        </p:txBody>
      </p:sp>
      <p:sp>
        <p:nvSpPr>
          <p:cNvPr id="15" name="Shape 13"/>
          <p:cNvSpPr/>
          <p:nvPr/>
        </p:nvSpPr>
        <p:spPr>
          <a:xfrm>
            <a:off x="4572000" y="3063240"/>
            <a:ext cx="0" cy="219456"/>
          </a:xfrm>
          <a:prstGeom prst="LINE">
            <a:avLst/>
          </a:prstGeom>
          <a:noFill/>
          <a:ln w="25400">
            <a:solidFill>
              <a:srgbClr val="C9A84C"/>
            </a:solidFill>
            <a:prstDash val="solid"/>
          </a:ln>
        </p:spPr>
      </p:sp>
      <p:sp>
        <p:nvSpPr>
          <p:cNvPr id="16" name="Shape 14"/>
          <p:cNvSpPr/>
          <p:nvPr/>
        </p:nvSpPr>
        <p:spPr>
          <a:xfrm>
            <a:off x="2057400" y="3282696"/>
            <a:ext cx="5029200" cy="804672"/>
          </a:xfrm>
          <a:prstGeom prst="rect">
            <a:avLst/>
          </a:prstGeom>
          <a:solidFill>
            <a:srgbClr val="0D0D1A"/>
          </a:solidFill>
          <a:ln w="12700">
            <a:solidFill>
              <a:srgbClr val="C9A84C"/>
            </a:solidFill>
            <a:prstDash val="solid"/>
          </a:ln>
          <a:effectLst>
            <a:outerShdw sx="100000" sy="100000" kx="0" ky="0" algn="bl" rotWithShape="0" blurRad="101600" dist="38100" dir="8100000">
              <a:srgbClr val="000000">
                <a:alpha val="20000"/>
              </a:srgbClr>
            </a:outerShdw>
          </a:effectLst>
        </p:spPr>
      </p:sp>
      <p:sp>
        <p:nvSpPr>
          <p:cNvPr id="17" name="Text 15"/>
          <p:cNvSpPr/>
          <p:nvPr/>
        </p:nvSpPr>
        <p:spPr>
          <a:xfrm>
            <a:off x="2258568" y="3374136"/>
            <a:ext cx="4663440" cy="32004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T3  Semantic Memory</a:t>
            </a:r>
            <a:endParaRPr lang="en-US" sz="1300" dirty="0"/>
          </a:p>
        </p:txBody>
      </p:sp>
      <p:sp>
        <p:nvSpPr>
          <p:cNvPr id="18" name="Text 16"/>
          <p:cNvSpPr/>
          <p:nvPr/>
        </p:nvSpPr>
        <p:spPr>
          <a:xfrm>
            <a:off x="2258568" y="3721608"/>
            <a:ext cx="4663440" cy="256032"/>
          </a:xfrm>
          <a:prstGeom prst="rect">
            <a:avLst/>
          </a:prstGeom>
          <a:noFill/>
          <a:ln/>
        </p:spPr>
        <p:txBody>
          <a:bodyPr wrap="square" rtlCol="0" anchor="ctr"/>
          <a:lstStyle/>
          <a:p>
            <a:pPr indent="0" marL="0">
              <a:buNone/>
            </a:pPr>
            <a:r>
              <a:rPr lang="en-US" sz="950" dirty="0">
                <a:solidFill>
                  <a:srgbClr val="C9A84C"/>
                </a:solidFill>
                <a:latin typeface="Calibri" pitchFamily="34" charset="0"/>
                <a:ea typeface="Calibri" pitchFamily="34" charset="-122"/>
                <a:cs typeface="Calibri" pitchFamily="34" charset="-120"/>
              </a:rPr>
              <a:t>pgvector + Graph · &lt;100ms · Unbounded</a:t>
            </a:r>
            <a:endParaRPr lang="en-US" sz="950" dirty="0"/>
          </a:p>
        </p:txBody>
      </p:sp>
      <p:sp>
        <p:nvSpPr>
          <p:cNvPr id="19" name="Text 17"/>
          <p:cNvSpPr/>
          <p:nvPr/>
        </p:nvSpPr>
        <p:spPr>
          <a:xfrm>
            <a:off x="6583680" y="3465576"/>
            <a:ext cx="411480" cy="411480"/>
          </a:xfrm>
          <a:prstGeom prst="rect">
            <a:avLst/>
          </a:prstGeom>
          <a:noFill/>
          <a:ln/>
        </p:spPr>
        <p:txBody>
          <a:bodyPr wrap="square" lIns="0" tIns="0" rIns="0" bIns="0" rtlCol="0" anchor="ctr"/>
          <a:lstStyle/>
          <a:p>
            <a:pPr algn="ctr" indent="0" marL="0">
              <a:buNone/>
            </a:pPr>
            <a:r>
              <a:rPr lang="en-US" sz="2000" b="1" dirty="0">
                <a:solidFill>
                  <a:srgbClr val="2A2A5A"/>
                </a:solidFill>
                <a:latin typeface="Georgia" pitchFamily="34" charset="0"/>
                <a:ea typeface="Georgia" pitchFamily="34" charset="-122"/>
                <a:cs typeface="Georgia" pitchFamily="34" charset="-120"/>
              </a:rPr>
              <a:t>T3</a:t>
            </a:r>
            <a:endParaRPr lang="en-US" sz="2000" dirty="0"/>
          </a:p>
        </p:txBody>
      </p:sp>
      <p:sp>
        <p:nvSpPr>
          <p:cNvPr id="20" name="Shape 18"/>
          <p:cNvSpPr/>
          <p:nvPr/>
        </p:nvSpPr>
        <p:spPr>
          <a:xfrm>
            <a:off x="3200400" y="4306824"/>
            <a:ext cx="2743200" cy="548640"/>
          </a:xfrm>
          <a:prstGeom prst="rect">
            <a:avLst/>
          </a:prstGeom>
          <a:solidFill>
            <a:srgbClr val="888888"/>
          </a:solidFill>
          <a:ln w="12700">
            <a:solidFill>
              <a:srgbClr val="666666"/>
            </a:solidFill>
            <a:prstDash val="solid"/>
          </a:ln>
        </p:spPr>
      </p:sp>
      <p:sp>
        <p:nvSpPr>
          <p:cNvPr id="21" name="Text 19"/>
          <p:cNvSpPr/>
          <p:nvPr/>
        </p:nvSpPr>
        <p:spPr>
          <a:xfrm>
            <a:off x="3200400" y="4361688"/>
            <a:ext cx="2743200" cy="365760"/>
          </a:xfrm>
          <a:prstGeom prst="rect">
            <a:avLst/>
          </a:prstGeom>
          <a:noFill/>
          <a:ln/>
        </p:spPr>
        <p:txBody>
          <a:bodyPr wrap="square"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Archive  —  Decayed glyphs preserved for provenance. Append-only.</a:t>
            </a:r>
            <a:endParaRPr lang="en-US" sz="850" dirty="0"/>
          </a:p>
        </p:txBody>
      </p:sp>
      <p:sp>
        <p:nvSpPr>
          <p:cNvPr id="22" name="Text 20"/>
          <p:cNvSpPr/>
          <p:nvPr/>
        </p:nvSpPr>
        <p:spPr>
          <a:xfrm>
            <a:off x="5577840" y="1188720"/>
            <a:ext cx="3154680" cy="274320"/>
          </a:xfrm>
          <a:prstGeom prst="rect">
            <a:avLst/>
          </a:prstGeom>
          <a:noFill/>
          <a:ln/>
        </p:spPr>
        <p:txBody>
          <a:bodyPr wrap="square" rtlCol="0" anchor="ctr"/>
          <a:lstStyle/>
          <a:p>
            <a:pPr indent="0" marL="0">
              <a:buNone/>
            </a:pPr>
            <a:r>
              <a:rPr lang="en-US" sz="1100" b="1" dirty="0">
                <a:solidFill>
                  <a:srgbClr val="1A1A2E"/>
                </a:solidFill>
                <a:latin typeface="Georgia" pitchFamily="34" charset="0"/>
                <a:ea typeface="Georgia" pitchFamily="34" charset="-122"/>
                <a:cs typeface="Georgia" pitchFamily="34" charset="-120"/>
              </a:rPr>
              <a:t>Hybrid Retrieval Engine</a:t>
            </a:r>
            <a:endParaRPr lang="en-US" sz="1100" dirty="0"/>
          </a:p>
        </p:txBody>
      </p:sp>
      <p:sp>
        <p:nvSpPr>
          <p:cNvPr id="23" name="Shape 21"/>
          <p:cNvSpPr/>
          <p:nvPr/>
        </p:nvSpPr>
        <p:spPr>
          <a:xfrm>
            <a:off x="5577840" y="1536192"/>
            <a:ext cx="3154680" cy="548640"/>
          </a:xfrm>
          <a:prstGeom prst="rect">
            <a:avLst/>
          </a:prstGeom>
          <a:solidFill>
            <a:srgbClr val="FFFFFF"/>
          </a:solidFill>
          <a:ln w="12700">
            <a:solidFill>
              <a:srgbClr val="DDDDCC"/>
            </a:solidFill>
            <a:prstDash val="solid"/>
          </a:ln>
          <a:effectLst>
            <a:outerShdw sx="100000" sy="100000" kx="0" ky="0" algn="bl" rotWithShape="0" blurRad="101600" dist="38100" dir="8100000">
              <a:srgbClr val="000000">
                <a:alpha val="20000"/>
              </a:srgbClr>
            </a:outerShdw>
          </a:effectLst>
        </p:spPr>
      </p:sp>
      <p:sp>
        <p:nvSpPr>
          <p:cNvPr id="24" name="Shape 22"/>
          <p:cNvSpPr/>
          <p:nvPr/>
        </p:nvSpPr>
        <p:spPr>
          <a:xfrm>
            <a:off x="5577840" y="1536192"/>
            <a:ext cx="54864" cy="548640"/>
          </a:xfrm>
          <a:prstGeom prst="rect">
            <a:avLst/>
          </a:prstGeom>
          <a:solidFill>
            <a:srgbClr val="C9A84C"/>
          </a:solidFill>
          <a:ln w="12700">
            <a:solidFill>
              <a:srgbClr val="C9A84C"/>
            </a:solidFill>
            <a:prstDash val="solid"/>
          </a:ln>
        </p:spPr>
      </p:sp>
      <p:sp>
        <p:nvSpPr>
          <p:cNvPr id="25" name="Text 23"/>
          <p:cNvSpPr/>
          <p:nvPr/>
        </p:nvSpPr>
        <p:spPr>
          <a:xfrm>
            <a:off x="5715000" y="1591056"/>
            <a:ext cx="2834640" cy="228600"/>
          </a:xfrm>
          <a:prstGeom prst="rect">
            <a:avLst/>
          </a:prstGeom>
          <a:noFill/>
          <a:ln/>
        </p:spPr>
        <p:txBody>
          <a:bodyPr wrap="square" lIns="0" tIns="0" rIns="0" bIns="0" rtlCol="0" anchor="ctr"/>
          <a:lstStyle/>
          <a:p>
            <a:pPr indent="0" marL="0">
              <a:buNone/>
            </a:pPr>
            <a:r>
              <a:rPr lang="en-US" sz="1100" b="1" dirty="0">
                <a:solidFill>
                  <a:srgbClr val="1A1A2E"/>
                </a:solidFill>
                <a:latin typeface="Georgia" pitchFamily="34" charset="0"/>
                <a:ea typeface="Georgia" pitchFamily="34" charset="-122"/>
                <a:cs typeface="Georgia" pitchFamily="34" charset="-120"/>
              </a:rPr>
              <a:t>Semantic</a:t>
            </a:r>
            <a:endParaRPr lang="en-US" sz="1100" dirty="0"/>
          </a:p>
        </p:txBody>
      </p:sp>
      <p:sp>
        <p:nvSpPr>
          <p:cNvPr id="26" name="Text 24"/>
          <p:cNvSpPr/>
          <p:nvPr/>
        </p:nvSpPr>
        <p:spPr>
          <a:xfrm>
            <a:off x="5715000" y="1828800"/>
            <a:ext cx="2834640" cy="201168"/>
          </a:xfrm>
          <a:prstGeom prst="rect">
            <a:avLst/>
          </a:prstGeom>
          <a:noFill/>
          <a:ln/>
        </p:spPr>
        <p:txBody>
          <a:bodyPr wrap="square" rtlCol="0" anchor="ctr"/>
          <a:lstStyle/>
          <a:p>
            <a:pPr indent="0" marL="0">
              <a:buNone/>
            </a:pPr>
            <a:r>
              <a:rPr lang="en-US" sz="900" dirty="0">
                <a:solidFill>
                  <a:srgbClr val="8888AA"/>
                </a:solidFill>
                <a:latin typeface="Calibri" pitchFamily="34" charset="0"/>
                <a:ea typeface="Calibri" pitchFamily="34" charset="-122"/>
                <a:cs typeface="Calibri" pitchFamily="34" charset="-120"/>
              </a:rPr>
              <a:t>Vector cosine similarity · 50% weight</a:t>
            </a:r>
            <a:endParaRPr lang="en-US" sz="900" dirty="0"/>
          </a:p>
        </p:txBody>
      </p:sp>
      <p:sp>
        <p:nvSpPr>
          <p:cNvPr id="27" name="Shape 25"/>
          <p:cNvSpPr/>
          <p:nvPr/>
        </p:nvSpPr>
        <p:spPr>
          <a:xfrm>
            <a:off x="5577840" y="2194560"/>
            <a:ext cx="3154680" cy="548640"/>
          </a:xfrm>
          <a:prstGeom prst="rect">
            <a:avLst/>
          </a:prstGeom>
          <a:solidFill>
            <a:srgbClr val="FFFFFF"/>
          </a:solidFill>
          <a:ln w="12700">
            <a:solidFill>
              <a:srgbClr val="DDDDCC"/>
            </a:solidFill>
            <a:prstDash val="solid"/>
          </a:ln>
          <a:effectLst>
            <a:outerShdw sx="100000" sy="100000" kx="0" ky="0" algn="bl" rotWithShape="0" blurRad="101600" dist="38100" dir="8100000">
              <a:srgbClr val="000000">
                <a:alpha val="20000"/>
              </a:srgbClr>
            </a:outerShdw>
          </a:effectLst>
        </p:spPr>
      </p:sp>
      <p:sp>
        <p:nvSpPr>
          <p:cNvPr id="28" name="Shape 26"/>
          <p:cNvSpPr/>
          <p:nvPr/>
        </p:nvSpPr>
        <p:spPr>
          <a:xfrm>
            <a:off x="5577840" y="2194560"/>
            <a:ext cx="54864" cy="548640"/>
          </a:xfrm>
          <a:prstGeom prst="rect">
            <a:avLst/>
          </a:prstGeom>
          <a:solidFill>
            <a:srgbClr val="C9A84C"/>
          </a:solidFill>
          <a:ln w="12700">
            <a:solidFill>
              <a:srgbClr val="C9A84C"/>
            </a:solidFill>
            <a:prstDash val="solid"/>
          </a:ln>
        </p:spPr>
      </p:sp>
      <p:sp>
        <p:nvSpPr>
          <p:cNvPr id="29" name="Text 27"/>
          <p:cNvSpPr/>
          <p:nvPr/>
        </p:nvSpPr>
        <p:spPr>
          <a:xfrm>
            <a:off x="5715000" y="2249424"/>
            <a:ext cx="2834640" cy="228600"/>
          </a:xfrm>
          <a:prstGeom prst="rect">
            <a:avLst/>
          </a:prstGeom>
          <a:noFill/>
          <a:ln/>
        </p:spPr>
        <p:txBody>
          <a:bodyPr wrap="square" lIns="0" tIns="0" rIns="0" bIns="0" rtlCol="0" anchor="ctr"/>
          <a:lstStyle/>
          <a:p>
            <a:pPr indent="0" marL="0">
              <a:buNone/>
            </a:pPr>
            <a:r>
              <a:rPr lang="en-US" sz="1100" b="1" dirty="0">
                <a:solidFill>
                  <a:srgbClr val="1A1A2E"/>
                </a:solidFill>
                <a:latin typeface="Georgia" pitchFamily="34" charset="0"/>
                <a:ea typeface="Georgia" pitchFamily="34" charset="-122"/>
                <a:cs typeface="Georgia" pitchFamily="34" charset="-120"/>
              </a:rPr>
              <a:t>Graph</a:t>
            </a:r>
            <a:endParaRPr lang="en-US" sz="1100" dirty="0"/>
          </a:p>
        </p:txBody>
      </p:sp>
      <p:sp>
        <p:nvSpPr>
          <p:cNvPr id="30" name="Text 28"/>
          <p:cNvSpPr/>
          <p:nvPr/>
        </p:nvSpPr>
        <p:spPr>
          <a:xfrm>
            <a:off x="5715000" y="2487168"/>
            <a:ext cx="2834640" cy="201168"/>
          </a:xfrm>
          <a:prstGeom prst="rect">
            <a:avLst/>
          </a:prstGeom>
          <a:noFill/>
          <a:ln/>
        </p:spPr>
        <p:txBody>
          <a:bodyPr wrap="square" rtlCol="0" anchor="ctr"/>
          <a:lstStyle/>
          <a:p>
            <a:pPr indent="0" marL="0">
              <a:buNone/>
            </a:pPr>
            <a:r>
              <a:rPr lang="en-US" sz="900" dirty="0">
                <a:solidFill>
                  <a:srgbClr val="8888AA"/>
                </a:solidFill>
                <a:latin typeface="Calibri" pitchFamily="34" charset="0"/>
                <a:ea typeface="Calibri" pitchFamily="34" charset="-122"/>
                <a:cs typeface="Calibri" pitchFamily="34" charset="-120"/>
              </a:rPr>
              <a:t>Binding traversal · 30% weight</a:t>
            </a:r>
            <a:endParaRPr lang="en-US" sz="900" dirty="0"/>
          </a:p>
        </p:txBody>
      </p:sp>
      <p:sp>
        <p:nvSpPr>
          <p:cNvPr id="31" name="Shape 29"/>
          <p:cNvSpPr/>
          <p:nvPr/>
        </p:nvSpPr>
        <p:spPr>
          <a:xfrm>
            <a:off x="5577840" y="2852928"/>
            <a:ext cx="3154680" cy="548640"/>
          </a:xfrm>
          <a:prstGeom prst="rect">
            <a:avLst/>
          </a:prstGeom>
          <a:solidFill>
            <a:srgbClr val="FFFFFF"/>
          </a:solidFill>
          <a:ln w="12700">
            <a:solidFill>
              <a:srgbClr val="DDDDCC"/>
            </a:solidFill>
            <a:prstDash val="solid"/>
          </a:ln>
          <a:effectLst>
            <a:outerShdw sx="100000" sy="100000" kx="0" ky="0" algn="bl" rotWithShape="0" blurRad="101600" dist="38100" dir="8100000">
              <a:srgbClr val="000000">
                <a:alpha val="20000"/>
              </a:srgbClr>
            </a:outerShdw>
          </a:effectLst>
        </p:spPr>
      </p:sp>
      <p:sp>
        <p:nvSpPr>
          <p:cNvPr id="32" name="Shape 30"/>
          <p:cNvSpPr/>
          <p:nvPr/>
        </p:nvSpPr>
        <p:spPr>
          <a:xfrm>
            <a:off x="5577840" y="2852928"/>
            <a:ext cx="54864" cy="548640"/>
          </a:xfrm>
          <a:prstGeom prst="rect">
            <a:avLst/>
          </a:prstGeom>
          <a:solidFill>
            <a:srgbClr val="C9A84C"/>
          </a:solidFill>
          <a:ln w="12700">
            <a:solidFill>
              <a:srgbClr val="C9A84C"/>
            </a:solidFill>
            <a:prstDash val="solid"/>
          </a:ln>
        </p:spPr>
      </p:sp>
      <p:sp>
        <p:nvSpPr>
          <p:cNvPr id="33" name="Text 31"/>
          <p:cNvSpPr/>
          <p:nvPr/>
        </p:nvSpPr>
        <p:spPr>
          <a:xfrm>
            <a:off x="5715000" y="2907792"/>
            <a:ext cx="2834640" cy="228600"/>
          </a:xfrm>
          <a:prstGeom prst="rect">
            <a:avLst/>
          </a:prstGeom>
          <a:noFill/>
          <a:ln/>
        </p:spPr>
        <p:txBody>
          <a:bodyPr wrap="square" lIns="0" tIns="0" rIns="0" bIns="0" rtlCol="0" anchor="ctr"/>
          <a:lstStyle/>
          <a:p>
            <a:pPr indent="0" marL="0">
              <a:buNone/>
            </a:pPr>
            <a:r>
              <a:rPr lang="en-US" sz="1100" b="1" dirty="0">
                <a:solidFill>
                  <a:srgbClr val="1A1A2E"/>
                </a:solidFill>
                <a:latin typeface="Georgia" pitchFamily="34" charset="0"/>
                <a:ea typeface="Georgia" pitchFamily="34" charset="-122"/>
                <a:cs typeface="Georgia" pitchFamily="34" charset="-120"/>
              </a:rPr>
              <a:t>Temporal</a:t>
            </a:r>
            <a:endParaRPr lang="en-US" sz="1100" dirty="0"/>
          </a:p>
        </p:txBody>
      </p:sp>
      <p:sp>
        <p:nvSpPr>
          <p:cNvPr id="34" name="Text 32"/>
          <p:cNvSpPr/>
          <p:nvPr/>
        </p:nvSpPr>
        <p:spPr>
          <a:xfrm>
            <a:off x="5715000" y="3145536"/>
            <a:ext cx="2834640" cy="201168"/>
          </a:xfrm>
          <a:prstGeom prst="rect">
            <a:avLst/>
          </a:prstGeom>
          <a:noFill/>
          <a:ln/>
        </p:spPr>
        <p:txBody>
          <a:bodyPr wrap="square" rtlCol="0" anchor="ctr"/>
          <a:lstStyle/>
          <a:p>
            <a:pPr indent="0" marL="0">
              <a:buNone/>
            </a:pPr>
            <a:r>
              <a:rPr lang="en-US" sz="900" dirty="0">
                <a:solidFill>
                  <a:srgbClr val="8888AA"/>
                </a:solidFill>
                <a:latin typeface="Calibri" pitchFamily="34" charset="0"/>
                <a:ea typeface="Calibri" pitchFamily="34" charset="-122"/>
                <a:cs typeface="Calibri" pitchFamily="34" charset="-120"/>
              </a:rPr>
              <a:t>Decay score × confidence · 20% weight</a:t>
            </a:r>
            <a:endParaRPr lang="en-US" sz="900" dirty="0"/>
          </a:p>
        </p:txBody>
      </p:sp>
      <p:sp>
        <p:nvSpPr>
          <p:cNvPr id="35" name="Text 33"/>
          <p:cNvSpPr/>
          <p:nvPr/>
        </p:nvSpPr>
        <p:spPr>
          <a:xfrm>
            <a:off x="5577840" y="3584448"/>
            <a:ext cx="3154680" cy="365760"/>
          </a:xfrm>
          <a:prstGeom prst="rect">
            <a:avLst/>
          </a:prstGeom>
          <a:solidFill>
            <a:srgbClr val="F0EFE8"/>
          </a:solidFill>
          <a:ln/>
        </p:spPr>
        <p:txBody>
          <a:bodyPr wrap="square" rtlCol="0" anchor="ctr"/>
          <a:lstStyle/>
          <a:p>
            <a:pPr indent="0" marL="0">
              <a:buNone/>
            </a:pPr>
            <a:r>
              <a:rPr lang="en-US" sz="850" dirty="0">
                <a:solidFill>
                  <a:srgbClr val="16213E"/>
                </a:solidFill>
                <a:latin typeface="Consolas" pitchFamily="34" charset="0"/>
                <a:ea typeface="Consolas" pitchFamily="34" charset="-122"/>
                <a:cs typeface="Consolas" pitchFamily="34" charset="-120"/>
              </a:rPr>
              <a:t>score = (0.50×semantic + 0.30×graph + 0.20×temporal) × qstate_modifier</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A84C"/>
          </a:solidFill>
          <a:ln w="12700">
            <a:solidFill>
              <a:srgbClr val="C9A84C"/>
            </a:solidFill>
            <a:prstDash val="solid"/>
          </a:ln>
        </p:spPr>
      </p:sp>
      <p:sp>
        <p:nvSpPr>
          <p:cNvPr id="3" name="Shape 1"/>
          <p:cNvSpPr/>
          <p:nvPr/>
        </p:nvSpPr>
        <p:spPr>
          <a:xfrm>
            <a:off x="0" y="5065776"/>
            <a:ext cx="9144000" cy="73152"/>
          </a:xfrm>
          <a:prstGeom prst="rect">
            <a:avLst/>
          </a:prstGeom>
          <a:solidFill>
            <a:srgbClr val="C9A84C"/>
          </a:solidFill>
          <a:ln w="12700">
            <a:solidFill>
              <a:srgbClr val="C9A84C"/>
            </a:solidFill>
            <a:prstDash val="solid"/>
          </a:ln>
        </p:spPr>
      </p:sp>
      <p:sp>
        <p:nvSpPr>
          <p:cNvPr id="4" name="Text 2"/>
          <p:cNvSpPr/>
          <p:nvPr/>
        </p:nvSpPr>
        <p:spPr>
          <a:xfrm>
            <a:off x="457200" y="128016"/>
            <a:ext cx="8229600" cy="201168"/>
          </a:xfrm>
          <a:prstGeom prst="rect">
            <a:avLst/>
          </a:prstGeom>
          <a:noFill/>
          <a:ln/>
        </p:spPr>
        <p:txBody>
          <a:bodyPr wrap="square" rtlCol="0" anchor="ctr"/>
          <a:lstStyle/>
          <a:p>
            <a:pPr algn="l" indent="0" marL="0">
              <a:buNone/>
            </a:pPr>
            <a:r>
              <a:rPr lang="en-US" sz="800" b="1" spc="600" kern="0" dirty="0">
                <a:solidFill>
                  <a:srgbClr val="C9A84C"/>
                </a:solidFill>
                <a:latin typeface="Calibri" pitchFamily="34" charset="0"/>
                <a:ea typeface="Calibri" pitchFamily="34" charset="-122"/>
                <a:cs typeface="Calibri" pitchFamily="34" charset="-120"/>
              </a:rPr>
              <a:t>QUANTUM-NATIVE KNOWLEDGE</a:t>
            </a:r>
            <a:endParaRPr lang="en-US" sz="800" dirty="0"/>
          </a:p>
        </p:txBody>
      </p:sp>
      <p:sp>
        <p:nvSpPr>
          <p:cNvPr id="5" name="Text 3"/>
          <p:cNvSpPr/>
          <p:nvPr/>
        </p:nvSpPr>
        <p:spPr>
          <a:xfrm>
            <a:off x="502920" y="438912"/>
            <a:ext cx="8138160" cy="640080"/>
          </a:xfrm>
          <a:prstGeom prst="rect">
            <a:avLst/>
          </a:prstGeom>
          <a:noFill/>
          <a:ln/>
        </p:spPr>
        <p:txBody>
          <a:bodyPr wrap="square" lIns="0" tIns="0" rIns="0" bIns="0" rtlCol="0" anchor="ctr"/>
          <a:lstStyle/>
          <a:p>
            <a:pPr algn="l" indent="0" marL="0">
              <a:buNone/>
            </a:pPr>
            <a:r>
              <a:rPr lang="en-US" sz="2800" b="1" dirty="0">
                <a:solidFill>
                  <a:srgbClr val="FFFFFF"/>
                </a:solidFill>
                <a:latin typeface="Georgia" pitchFamily="34" charset="0"/>
                <a:ea typeface="Georgia" pitchFamily="34" charset="-122"/>
                <a:cs typeface="Georgia" pitchFamily="34" charset="-120"/>
              </a:rPr>
              <a:t>Every Glyph Has a Quantum State.</a:t>
            </a:r>
            <a:endParaRPr lang="en-US" sz="2800" dirty="0"/>
          </a:p>
        </p:txBody>
      </p:sp>
      <p:sp>
        <p:nvSpPr>
          <p:cNvPr id="6" name="Shape 4"/>
          <p:cNvSpPr/>
          <p:nvPr/>
        </p:nvSpPr>
        <p:spPr>
          <a:xfrm>
            <a:off x="384048" y="1188720"/>
            <a:ext cx="2724912" cy="3657600"/>
          </a:xfrm>
          <a:prstGeom prst="rect">
            <a:avLst/>
          </a:prstGeom>
          <a:solidFill>
            <a:srgbClr val="16213E"/>
          </a:solidFill>
          <a:ln w="12700">
            <a:solidFill>
              <a:srgbClr val="00B4D8"/>
            </a:solidFill>
            <a:prstDash val="solid"/>
          </a:ln>
          <a:effectLst>
            <a:outerShdw sx="100000" sy="100000" kx="0" ky="0" algn="bl" rotWithShape="0" blurRad="101600" dist="38100" dir="8100000">
              <a:srgbClr val="000000">
                <a:alpha val="20000"/>
              </a:srgbClr>
            </a:outerShdw>
          </a:effectLst>
        </p:spPr>
      </p:sp>
      <p:sp>
        <p:nvSpPr>
          <p:cNvPr id="7" name="Text 5"/>
          <p:cNvSpPr/>
          <p:nvPr/>
        </p:nvSpPr>
        <p:spPr>
          <a:xfrm>
            <a:off x="384048" y="1188720"/>
            <a:ext cx="2724912" cy="822960"/>
          </a:xfrm>
          <a:prstGeom prst="rect">
            <a:avLst/>
          </a:prstGeom>
          <a:noFill/>
          <a:ln/>
        </p:spPr>
        <p:txBody>
          <a:bodyPr wrap="square" lIns="0" tIns="0" rIns="0" bIns="0" rtlCol="0" anchor="ctr"/>
          <a:lstStyle/>
          <a:p>
            <a:pPr algn="ctr" indent="0" marL="0">
              <a:buNone/>
            </a:pPr>
            <a:r>
              <a:rPr lang="en-US" sz="3800" b="1" dirty="0">
                <a:solidFill>
                  <a:srgbClr val="00B4D8"/>
                </a:solidFill>
                <a:latin typeface="Georgia" pitchFamily="34" charset="0"/>
                <a:ea typeface="Georgia" pitchFamily="34" charset="-122"/>
                <a:cs typeface="Georgia" pitchFamily="34" charset="-120"/>
              </a:rPr>
              <a:t>⊗</a:t>
            </a:r>
            <a:endParaRPr lang="en-US" sz="3800" dirty="0"/>
          </a:p>
        </p:txBody>
      </p:sp>
      <p:sp>
        <p:nvSpPr>
          <p:cNvPr id="8" name="Shape 6"/>
          <p:cNvSpPr/>
          <p:nvPr/>
        </p:nvSpPr>
        <p:spPr>
          <a:xfrm>
            <a:off x="384048" y="2011680"/>
            <a:ext cx="2724912" cy="36576"/>
          </a:xfrm>
          <a:prstGeom prst="rect">
            <a:avLst/>
          </a:prstGeom>
          <a:solidFill>
            <a:srgbClr val="00B4D8"/>
          </a:solidFill>
          <a:ln w="12700">
            <a:solidFill>
              <a:srgbClr val="00B4D8"/>
            </a:solidFill>
            <a:prstDash val="solid"/>
          </a:ln>
        </p:spPr>
      </p:sp>
      <p:sp>
        <p:nvSpPr>
          <p:cNvPr id="9" name="Text 7"/>
          <p:cNvSpPr/>
          <p:nvPr/>
        </p:nvSpPr>
        <p:spPr>
          <a:xfrm>
            <a:off x="493776" y="2103120"/>
            <a:ext cx="2505456"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Superposition</a:t>
            </a:r>
            <a:endParaRPr lang="en-US" sz="1500" dirty="0"/>
          </a:p>
        </p:txBody>
      </p:sp>
      <p:sp>
        <p:nvSpPr>
          <p:cNvPr id="10" name="Shape 8"/>
          <p:cNvSpPr/>
          <p:nvPr/>
        </p:nvSpPr>
        <p:spPr>
          <a:xfrm>
            <a:off x="658368" y="2523744"/>
            <a:ext cx="2176272" cy="457200"/>
          </a:xfrm>
          <a:prstGeom prst="rect">
            <a:avLst/>
          </a:prstGeom>
          <a:solidFill>
            <a:srgbClr val="050510"/>
          </a:solidFill>
          <a:ln w="12700">
            <a:solidFill>
              <a:srgbClr val="00B4D8"/>
            </a:solidFill>
            <a:prstDash val="solid"/>
          </a:ln>
        </p:spPr>
      </p:sp>
      <p:sp>
        <p:nvSpPr>
          <p:cNvPr id="11" name="Text 9"/>
          <p:cNvSpPr/>
          <p:nvPr/>
        </p:nvSpPr>
        <p:spPr>
          <a:xfrm>
            <a:off x="658368" y="2542032"/>
            <a:ext cx="2176272" cy="420624"/>
          </a:xfrm>
          <a:prstGeom prst="rect">
            <a:avLst/>
          </a:prstGeom>
          <a:noFill/>
          <a:ln/>
        </p:spPr>
        <p:txBody>
          <a:bodyPr wrap="square" lIns="0" tIns="0" rIns="0" bIns="0" rtlCol="0" anchor="ctr"/>
          <a:lstStyle/>
          <a:p>
            <a:pPr algn="ctr" indent="0" marL="0">
              <a:buNone/>
            </a:pPr>
            <a:r>
              <a:rPr lang="en-US" sz="900" dirty="0">
                <a:solidFill>
                  <a:srgbClr val="00B4D8"/>
                </a:solidFill>
                <a:latin typeface="Consolas" pitchFamily="34" charset="0"/>
                <a:ea typeface="Consolas" pitchFamily="34" charset="-122"/>
                <a:cs typeface="Consolas" pitchFamily="34" charset="-120"/>
              </a:rPr>
              <a:t>|ψ⟩ = α|truth_A⟩ + β|truth_B⟩</a:t>
            </a:r>
            <a:endParaRPr lang="en-US" sz="900" dirty="0"/>
          </a:p>
        </p:txBody>
      </p:sp>
      <p:sp>
        <p:nvSpPr>
          <p:cNvPr id="12" name="Text 10"/>
          <p:cNvSpPr/>
          <p:nvPr/>
        </p:nvSpPr>
        <p:spPr>
          <a:xfrm>
            <a:off x="512064" y="3072384"/>
            <a:ext cx="2468880" cy="1664208"/>
          </a:xfrm>
          <a:prstGeom prst="rect">
            <a:avLst/>
          </a:prstGeom>
          <a:noFill/>
          <a:ln/>
        </p:spPr>
        <p:txBody>
          <a:bodyPr wrap="square" rtlCol="0" anchor="t"/>
          <a:lstStyle/>
          <a:p>
            <a:pPr indent="0" marL="0">
              <a:buNone/>
            </a:pPr>
            <a:r>
              <a:rPr lang="en-US" sz="1000" dirty="0">
                <a:solidFill>
                  <a:srgbClr val="BBBBCC"/>
                </a:solidFill>
                <a:latin typeface="Calibri" pitchFamily="34" charset="0"/>
                <a:ea typeface="Calibri" pitchFamily="34" charset="-122"/>
                <a:cs typeface="Calibri" pitchFamily="34" charset="-120"/>
              </a:rPr>
              <a:t>When two agents hold different truths, MGKS holds both simultaneously with probability amplitudes. No overwrite. No data loss. The correct analogy: quantum measurement has not yet occurred.</a:t>
            </a:r>
            <a:endParaRPr lang="en-US" sz="1000" dirty="0"/>
          </a:p>
        </p:txBody>
      </p:sp>
      <p:sp>
        <p:nvSpPr>
          <p:cNvPr id="13" name="Shape 11"/>
          <p:cNvSpPr/>
          <p:nvPr/>
        </p:nvSpPr>
        <p:spPr>
          <a:xfrm>
            <a:off x="3236976" y="1188720"/>
            <a:ext cx="2724912" cy="3657600"/>
          </a:xfrm>
          <a:prstGeom prst="rect">
            <a:avLst/>
          </a:prstGeom>
          <a:solidFill>
            <a:srgbClr val="16213E"/>
          </a:solidFill>
          <a:ln w="12700">
            <a:solidFill>
              <a:srgbClr val="2ECC71"/>
            </a:solidFill>
            <a:prstDash val="solid"/>
          </a:ln>
          <a:effectLst>
            <a:outerShdw sx="100000" sy="100000" kx="0" ky="0" algn="bl" rotWithShape="0" blurRad="101600" dist="38100" dir="8100000">
              <a:srgbClr val="000000">
                <a:alpha val="20000"/>
              </a:srgbClr>
            </a:outerShdw>
          </a:effectLst>
        </p:spPr>
      </p:sp>
      <p:sp>
        <p:nvSpPr>
          <p:cNvPr id="14" name="Text 12"/>
          <p:cNvSpPr/>
          <p:nvPr/>
        </p:nvSpPr>
        <p:spPr>
          <a:xfrm>
            <a:off x="3236976" y="1188720"/>
            <a:ext cx="2724912" cy="822960"/>
          </a:xfrm>
          <a:prstGeom prst="rect">
            <a:avLst/>
          </a:prstGeom>
          <a:noFill/>
          <a:ln/>
        </p:spPr>
        <p:txBody>
          <a:bodyPr wrap="square" lIns="0" tIns="0" rIns="0" bIns="0" rtlCol="0" anchor="ctr"/>
          <a:lstStyle/>
          <a:p>
            <a:pPr algn="ctr" indent="0" marL="0">
              <a:buNone/>
            </a:pPr>
            <a:r>
              <a:rPr lang="en-US" sz="3800" b="1" dirty="0">
                <a:solidFill>
                  <a:srgbClr val="2ECC71"/>
                </a:solidFill>
                <a:latin typeface="Georgia" pitchFamily="34" charset="0"/>
                <a:ea typeface="Georgia" pitchFamily="34" charset="-122"/>
                <a:cs typeface="Georgia" pitchFamily="34" charset="-120"/>
              </a:rPr>
              <a:t>↦</a:t>
            </a:r>
            <a:endParaRPr lang="en-US" sz="3800" dirty="0"/>
          </a:p>
        </p:txBody>
      </p:sp>
      <p:sp>
        <p:nvSpPr>
          <p:cNvPr id="15" name="Shape 13"/>
          <p:cNvSpPr/>
          <p:nvPr/>
        </p:nvSpPr>
        <p:spPr>
          <a:xfrm>
            <a:off x="3236976" y="2011680"/>
            <a:ext cx="2724912" cy="36576"/>
          </a:xfrm>
          <a:prstGeom prst="rect">
            <a:avLst/>
          </a:prstGeom>
          <a:solidFill>
            <a:srgbClr val="2ECC71"/>
          </a:solidFill>
          <a:ln w="12700">
            <a:solidFill>
              <a:srgbClr val="2ECC71"/>
            </a:solidFill>
            <a:prstDash val="solid"/>
          </a:ln>
        </p:spPr>
      </p:sp>
      <p:sp>
        <p:nvSpPr>
          <p:cNvPr id="16" name="Text 14"/>
          <p:cNvSpPr/>
          <p:nvPr/>
        </p:nvSpPr>
        <p:spPr>
          <a:xfrm>
            <a:off x="3346704" y="2103120"/>
            <a:ext cx="2505456"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Collapsed</a:t>
            </a:r>
            <a:endParaRPr lang="en-US" sz="1500" dirty="0"/>
          </a:p>
        </p:txBody>
      </p:sp>
      <p:sp>
        <p:nvSpPr>
          <p:cNvPr id="17" name="Shape 15"/>
          <p:cNvSpPr/>
          <p:nvPr/>
        </p:nvSpPr>
        <p:spPr>
          <a:xfrm>
            <a:off x="3511296" y="2523744"/>
            <a:ext cx="2176272" cy="457200"/>
          </a:xfrm>
          <a:prstGeom prst="rect">
            <a:avLst/>
          </a:prstGeom>
          <a:solidFill>
            <a:srgbClr val="050510"/>
          </a:solidFill>
          <a:ln w="12700">
            <a:solidFill>
              <a:srgbClr val="2ECC71"/>
            </a:solidFill>
            <a:prstDash val="solid"/>
          </a:ln>
        </p:spPr>
      </p:sp>
      <p:sp>
        <p:nvSpPr>
          <p:cNvPr id="18" name="Text 16"/>
          <p:cNvSpPr/>
          <p:nvPr/>
        </p:nvSpPr>
        <p:spPr>
          <a:xfrm>
            <a:off x="3511296" y="2542032"/>
            <a:ext cx="2176272" cy="420624"/>
          </a:xfrm>
          <a:prstGeom prst="rect">
            <a:avLst/>
          </a:prstGeom>
          <a:noFill/>
          <a:ln/>
        </p:spPr>
        <p:txBody>
          <a:bodyPr wrap="square" lIns="0" tIns="0" rIns="0" bIns="0" rtlCol="0" anchor="ctr"/>
          <a:lstStyle/>
          <a:p>
            <a:pPr algn="ctr" indent="0" marL="0">
              <a:buNone/>
            </a:pPr>
            <a:r>
              <a:rPr lang="en-US" sz="900" dirty="0">
                <a:solidFill>
                  <a:srgbClr val="2ECC71"/>
                </a:solidFill>
                <a:latin typeface="Consolas" pitchFamily="34" charset="0"/>
                <a:ea typeface="Consolas" pitchFamily="34" charset="-122"/>
                <a:cs typeface="Consolas" pitchFamily="34" charset="-120"/>
              </a:rPr>
              <a:t>M|ψ⟩ → |observed⟩</a:t>
            </a:r>
            <a:endParaRPr lang="en-US" sz="900" dirty="0"/>
          </a:p>
        </p:txBody>
      </p:sp>
      <p:sp>
        <p:nvSpPr>
          <p:cNvPr id="19" name="Text 17"/>
          <p:cNvSpPr/>
          <p:nvPr/>
        </p:nvSpPr>
        <p:spPr>
          <a:xfrm>
            <a:off x="3364992" y="3072384"/>
            <a:ext cx="2468880" cy="1664208"/>
          </a:xfrm>
          <a:prstGeom prst="rect">
            <a:avLst/>
          </a:prstGeom>
          <a:noFill/>
          <a:ln/>
        </p:spPr>
        <p:txBody>
          <a:bodyPr wrap="square" rtlCol="0" anchor="t"/>
          <a:lstStyle/>
          <a:p>
            <a:pPr indent="0" marL="0">
              <a:buNone/>
            </a:pPr>
            <a:r>
              <a:rPr lang="en-US" sz="1000" dirty="0">
                <a:solidFill>
                  <a:srgbClr val="BBBBCC"/>
                </a:solidFill>
                <a:latin typeface="Calibri" pitchFamily="34" charset="0"/>
                <a:ea typeface="Calibri" pitchFamily="34" charset="-122"/>
                <a:cs typeface="Calibri" pitchFamily="34" charset="-120"/>
              </a:rPr>
              <a:t>Mother AI observes a glyph and collapses it to a single verified truth. Maps directly to quantum measurement. Triggered when confidence gap exceeds the COLLAPSE_THRESHOLD constant.</a:t>
            </a:r>
            <a:endParaRPr lang="en-US" sz="1000" dirty="0"/>
          </a:p>
        </p:txBody>
      </p:sp>
      <p:sp>
        <p:nvSpPr>
          <p:cNvPr id="20" name="Shape 18"/>
          <p:cNvSpPr/>
          <p:nvPr/>
        </p:nvSpPr>
        <p:spPr>
          <a:xfrm>
            <a:off x="6089904" y="1188720"/>
            <a:ext cx="2724912" cy="3657600"/>
          </a:xfrm>
          <a:prstGeom prst="rect">
            <a:avLst/>
          </a:prstGeom>
          <a:solidFill>
            <a:srgbClr val="16213E"/>
          </a:solidFill>
          <a:ln w="12700">
            <a:solidFill>
              <a:srgbClr val="C9A84C"/>
            </a:solidFill>
            <a:prstDash val="solid"/>
          </a:ln>
          <a:effectLst>
            <a:outerShdw sx="100000" sy="100000" kx="0" ky="0" algn="bl" rotWithShape="0" blurRad="101600" dist="38100" dir="8100000">
              <a:srgbClr val="000000">
                <a:alpha val="20000"/>
              </a:srgbClr>
            </a:outerShdw>
          </a:effectLst>
        </p:spPr>
      </p:sp>
      <p:sp>
        <p:nvSpPr>
          <p:cNvPr id="21" name="Text 19"/>
          <p:cNvSpPr/>
          <p:nvPr/>
        </p:nvSpPr>
        <p:spPr>
          <a:xfrm>
            <a:off x="6089904" y="1188720"/>
            <a:ext cx="2724912" cy="822960"/>
          </a:xfrm>
          <a:prstGeom prst="rect">
            <a:avLst/>
          </a:prstGeom>
          <a:noFill/>
          <a:ln/>
        </p:spPr>
        <p:txBody>
          <a:bodyPr wrap="square" lIns="0" tIns="0" rIns="0" bIns="0" rtlCol="0" anchor="ctr"/>
          <a:lstStyle/>
          <a:p>
            <a:pPr algn="ctr" indent="0" marL="0">
              <a:buNone/>
            </a:pPr>
            <a:r>
              <a:rPr lang="en-US" sz="3800" b="1" dirty="0">
                <a:solidFill>
                  <a:srgbClr val="C9A84C"/>
                </a:solidFill>
                <a:latin typeface="Georgia" pitchFamily="34" charset="0"/>
                <a:ea typeface="Georgia" pitchFamily="34" charset="-122"/>
                <a:cs typeface="Georgia" pitchFamily="34" charset="-120"/>
              </a:rPr>
              <a:t>⧉</a:t>
            </a:r>
            <a:endParaRPr lang="en-US" sz="3800" dirty="0"/>
          </a:p>
        </p:txBody>
      </p:sp>
      <p:sp>
        <p:nvSpPr>
          <p:cNvPr id="22" name="Shape 20"/>
          <p:cNvSpPr/>
          <p:nvPr/>
        </p:nvSpPr>
        <p:spPr>
          <a:xfrm>
            <a:off x="6089904" y="2011680"/>
            <a:ext cx="2724912" cy="36576"/>
          </a:xfrm>
          <a:prstGeom prst="rect">
            <a:avLst/>
          </a:prstGeom>
          <a:solidFill>
            <a:srgbClr val="C9A84C"/>
          </a:solidFill>
          <a:ln w="12700">
            <a:solidFill>
              <a:srgbClr val="C9A84C"/>
            </a:solidFill>
            <a:prstDash val="solid"/>
          </a:ln>
        </p:spPr>
      </p:sp>
      <p:sp>
        <p:nvSpPr>
          <p:cNvPr id="23" name="Text 21"/>
          <p:cNvSpPr/>
          <p:nvPr/>
        </p:nvSpPr>
        <p:spPr>
          <a:xfrm>
            <a:off x="6199632" y="2103120"/>
            <a:ext cx="2505456"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Entangled</a:t>
            </a:r>
            <a:endParaRPr lang="en-US" sz="1500" dirty="0"/>
          </a:p>
        </p:txBody>
      </p:sp>
      <p:sp>
        <p:nvSpPr>
          <p:cNvPr id="24" name="Shape 22"/>
          <p:cNvSpPr/>
          <p:nvPr/>
        </p:nvSpPr>
        <p:spPr>
          <a:xfrm>
            <a:off x="6364224" y="2523744"/>
            <a:ext cx="2176272" cy="457200"/>
          </a:xfrm>
          <a:prstGeom prst="rect">
            <a:avLst/>
          </a:prstGeom>
          <a:solidFill>
            <a:srgbClr val="050510"/>
          </a:solidFill>
          <a:ln w="12700">
            <a:solidFill>
              <a:srgbClr val="C9A84C"/>
            </a:solidFill>
            <a:prstDash val="solid"/>
          </a:ln>
        </p:spPr>
      </p:sp>
      <p:sp>
        <p:nvSpPr>
          <p:cNvPr id="25" name="Text 23"/>
          <p:cNvSpPr/>
          <p:nvPr/>
        </p:nvSpPr>
        <p:spPr>
          <a:xfrm>
            <a:off x="6364224" y="2542032"/>
            <a:ext cx="2176272" cy="420624"/>
          </a:xfrm>
          <a:prstGeom prst="rect">
            <a:avLst/>
          </a:prstGeom>
          <a:noFill/>
          <a:ln/>
        </p:spPr>
        <p:txBody>
          <a:bodyPr wrap="square" lIns="0" tIns="0" rIns="0" bIns="0" rtlCol="0" anchor="ctr"/>
          <a:lstStyle/>
          <a:p>
            <a:pPr algn="ctr" indent="0" marL="0">
              <a:buNone/>
            </a:pPr>
            <a:r>
              <a:rPr lang="en-US" sz="900" dirty="0">
                <a:solidFill>
                  <a:srgbClr val="C9A84C"/>
                </a:solidFill>
                <a:latin typeface="Consolas" pitchFamily="34" charset="0"/>
                <a:ea typeface="Consolas" pitchFamily="34" charset="-122"/>
                <a:cs typeface="Consolas" pitchFamily="34" charset="-120"/>
              </a:rPr>
              <a:t>|Bell⟩ = (|00⟩ + |11⟩)/√2</a:t>
            </a:r>
            <a:endParaRPr lang="en-US" sz="900" dirty="0"/>
          </a:p>
        </p:txBody>
      </p:sp>
      <p:sp>
        <p:nvSpPr>
          <p:cNvPr id="26" name="Text 24"/>
          <p:cNvSpPr/>
          <p:nvPr/>
        </p:nvSpPr>
        <p:spPr>
          <a:xfrm>
            <a:off x="6217920" y="3072384"/>
            <a:ext cx="2468880" cy="1664208"/>
          </a:xfrm>
          <a:prstGeom prst="rect">
            <a:avLst/>
          </a:prstGeom>
          <a:noFill/>
          <a:ln/>
        </p:spPr>
        <p:txBody>
          <a:bodyPr wrap="square" rtlCol="0" anchor="t"/>
          <a:lstStyle/>
          <a:p>
            <a:pPr indent="0" marL="0">
              <a:buNone/>
            </a:pPr>
            <a:r>
              <a:rPr lang="en-US" sz="1000" dirty="0">
                <a:solidFill>
                  <a:srgbClr val="BBBBCC"/>
                </a:solidFill>
                <a:latin typeface="Calibri" pitchFamily="34" charset="0"/>
                <a:ea typeface="Calibri" pitchFamily="34" charset="-122"/>
                <a:cs typeface="Calibri" pitchFamily="34" charset="-120"/>
              </a:rPr>
              <a:t>Two glyphs whose truths are correlated. Update one and the other is conditionally updated. Correlation ranges from +1.0 (identical truth) to -1.0 (opposite truth). Maps to Bell state creation.</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3EE"/>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A84C"/>
          </a:solidFill>
          <a:ln w="12700">
            <a:solidFill>
              <a:srgbClr val="C9A84C"/>
            </a:solidFill>
            <a:prstDash val="solid"/>
          </a:ln>
        </p:spPr>
      </p:sp>
      <p:sp>
        <p:nvSpPr>
          <p:cNvPr id="3" name="Shape 1"/>
          <p:cNvSpPr/>
          <p:nvPr/>
        </p:nvSpPr>
        <p:spPr>
          <a:xfrm>
            <a:off x="0" y="5065776"/>
            <a:ext cx="9144000" cy="73152"/>
          </a:xfrm>
          <a:prstGeom prst="rect">
            <a:avLst/>
          </a:prstGeom>
          <a:solidFill>
            <a:srgbClr val="1A1A2E"/>
          </a:solidFill>
          <a:ln w="12700">
            <a:solidFill>
              <a:srgbClr val="1A1A2E"/>
            </a:solidFill>
            <a:prstDash val="solid"/>
          </a:ln>
        </p:spPr>
      </p:sp>
      <p:sp>
        <p:nvSpPr>
          <p:cNvPr id="4" name="Text 2"/>
          <p:cNvSpPr/>
          <p:nvPr/>
        </p:nvSpPr>
        <p:spPr>
          <a:xfrm>
            <a:off x="457200" y="128016"/>
            <a:ext cx="8229600" cy="201168"/>
          </a:xfrm>
          <a:prstGeom prst="rect">
            <a:avLst/>
          </a:prstGeom>
          <a:noFill/>
          <a:ln/>
        </p:spPr>
        <p:txBody>
          <a:bodyPr wrap="square" rtlCol="0" anchor="ctr"/>
          <a:lstStyle/>
          <a:p>
            <a:pPr algn="l" indent="0" marL="0">
              <a:buNone/>
            </a:pPr>
            <a:r>
              <a:rPr lang="en-US" sz="800" b="1" spc="600" kern="0" dirty="0">
                <a:solidFill>
                  <a:srgbClr val="16213E"/>
                </a:solidFill>
                <a:latin typeface="Calibri" pitchFamily="34" charset="0"/>
                <a:ea typeface="Calibri" pitchFamily="34" charset="-122"/>
                <a:cs typeface="Calibri" pitchFamily="34" charset="-120"/>
              </a:rPr>
              <a:t>FIVE-AGENT HIVE SYSTEM</a:t>
            </a:r>
            <a:endParaRPr lang="en-US" sz="800" dirty="0"/>
          </a:p>
        </p:txBody>
      </p:sp>
      <p:sp>
        <p:nvSpPr>
          <p:cNvPr id="5" name="Text 3"/>
          <p:cNvSpPr/>
          <p:nvPr/>
        </p:nvSpPr>
        <p:spPr>
          <a:xfrm>
            <a:off x="502920" y="438912"/>
            <a:ext cx="8138160" cy="640080"/>
          </a:xfrm>
          <a:prstGeom prst="rect">
            <a:avLst/>
          </a:prstGeom>
          <a:noFill/>
          <a:ln/>
        </p:spPr>
        <p:txBody>
          <a:bodyPr wrap="square" lIns="0" tIns="0" rIns="0" bIns="0" rtlCol="0" anchor="ctr"/>
          <a:lstStyle/>
          <a:p>
            <a:pPr algn="l" indent="0" marL="0">
              <a:buNone/>
            </a:pPr>
            <a:r>
              <a:rPr lang="en-US" sz="2800" b="1" dirty="0">
                <a:solidFill>
                  <a:srgbClr val="1A1A2E"/>
                </a:solidFill>
                <a:latin typeface="Georgia" pitchFamily="34" charset="0"/>
                <a:ea typeface="Georgia" pitchFamily="34" charset="-122"/>
                <a:cs typeface="Georgia" pitchFamily="34" charset="-120"/>
              </a:rPr>
              <a:t>Each Agent Thinks. Mother AI Knows.</a:t>
            </a:r>
            <a:endParaRPr lang="en-US" sz="2800" dirty="0"/>
          </a:p>
        </p:txBody>
      </p:sp>
      <p:sp>
        <p:nvSpPr>
          <p:cNvPr id="6" name="Shape 4"/>
          <p:cNvSpPr/>
          <p:nvPr/>
        </p:nvSpPr>
        <p:spPr>
          <a:xfrm>
            <a:off x="411480" y="1207008"/>
            <a:ext cx="2606040" cy="1371600"/>
          </a:xfrm>
          <a:prstGeom prst="rect">
            <a:avLst/>
          </a:prstGeom>
          <a:solidFill>
            <a:srgbClr val="FFFFFF"/>
          </a:solidFill>
          <a:ln w="12700">
            <a:solidFill>
              <a:srgbClr val="DDDDCC"/>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411480" y="1207008"/>
            <a:ext cx="2606040" cy="64008"/>
          </a:xfrm>
          <a:prstGeom prst="rect">
            <a:avLst/>
          </a:prstGeom>
          <a:solidFill>
            <a:srgbClr val="C9A84C"/>
          </a:solidFill>
          <a:ln w="12700">
            <a:solidFill>
              <a:srgbClr val="C9A84C"/>
            </a:solidFill>
            <a:prstDash val="solid"/>
          </a:ln>
        </p:spPr>
      </p:sp>
      <p:sp>
        <p:nvSpPr>
          <p:cNvPr id="8" name="Text 6"/>
          <p:cNvSpPr/>
          <p:nvPr/>
        </p:nvSpPr>
        <p:spPr>
          <a:xfrm>
            <a:off x="521208" y="1335024"/>
            <a:ext cx="2386584" cy="274320"/>
          </a:xfrm>
          <a:prstGeom prst="rect">
            <a:avLst/>
          </a:prstGeom>
          <a:noFill/>
          <a:ln/>
        </p:spPr>
        <p:txBody>
          <a:bodyPr wrap="square" lIns="0" tIns="0" rIns="0" bIns="0" rtlCol="0" anchor="ctr"/>
          <a:lstStyle/>
          <a:p>
            <a:pPr indent="0" marL="0">
              <a:buNone/>
            </a:pPr>
            <a:r>
              <a:rPr lang="en-US" sz="1200" b="1" dirty="0">
                <a:solidFill>
                  <a:srgbClr val="1A1A2E"/>
                </a:solidFill>
                <a:latin typeface="Georgia" pitchFamily="34" charset="0"/>
                <a:ea typeface="Georgia" pitchFamily="34" charset="-122"/>
                <a:cs typeface="Georgia" pitchFamily="34" charset="-120"/>
              </a:rPr>
              <a:t>Oracle</a:t>
            </a:r>
            <a:endParaRPr lang="en-US" sz="1200" dirty="0"/>
          </a:p>
        </p:txBody>
      </p:sp>
      <p:sp>
        <p:nvSpPr>
          <p:cNvPr id="9" name="Text 7"/>
          <p:cNvSpPr/>
          <p:nvPr/>
        </p:nvSpPr>
        <p:spPr>
          <a:xfrm>
            <a:off x="521208" y="1609344"/>
            <a:ext cx="2386584" cy="201168"/>
          </a:xfrm>
          <a:prstGeom prst="rect">
            <a:avLst/>
          </a:prstGeom>
          <a:noFill/>
          <a:ln/>
        </p:spPr>
        <p:txBody>
          <a:bodyPr wrap="square" rtlCol="0" anchor="ctr"/>
          <a:lstStyle/>
          <a:p>
            <a:pPr indent="0" marL="0">
              <a:buNone/>
            </a:pPr>
            <a:r>
              <a:rPr lang="en-US" sz="900" i="1" dirty="0">
                <a:solidFill>
                  <a:srgbClr val="C9A84C"/>
                </a:solidFill>
                <a:latin typeface="Calibri" pitchFamily="34" charset="0"/>
                <a:ea typeface="Calibri" pitchFamily="34" charset="-122"/>
                <a:cs typeface="Calibri" pitchFamily="34" charset="-120"/>
              </a:rPr>
              <a:t>Intelligence</a:t>
            </a:r>
            <a:endParaRPr lang="en-US" sz="900" dirty="0"/>
          </a:p>
        </p:txBody>
      </p:sp>
      <p:sp>
        <p:nvSpPr>
          <p:cNvPr id="10" name="Text 8"/>
          <p:cNvSpPr/>
          <p:nvPr/>
        </p:nvSpPr>
        <p:spPr>
          <a:xfrm>
            <a:off x="521208" y="1810512"/>
            <a:ext cx="2386584" cy="658368"/>
          </a:xfrm>
          <a:prstGeom prst="rect">
            <a:avLst/>
          </a:prstGeom>
          <a:noFill/>
          <a:ln/>
        </p:spPr>
        <p:txBody>
          <a:bodyPr wrap="square" rtlCol="0" anchor="t"/>
          <a:lstStyle/>
          <a:p>
            <a:pPr indent="0" marL="0">
              <a:buNone/>
            </a:pPr>
            <a:r>
              <a:rPr lang="en-US" sz="950" dirty="0">
                <a:solidFill>
                  <a:srgbClr val="8888AA"/>
                </a:solidFill>
                <a:latin typeface="Calibri" pitchFamily="34" charset="0"/>
                <a:ea typeface="Calibri" pitchFamily="34" charset="-122"/>
                <a:cs typeface="Calibri" pitchFamily="34" charset="-120"/>
              </a:rPr>
              <a:t>Market signals, trends, forecasts, probability amplitudes</a:t>
            </a:r>
            <a:endParaRPr lang="en-US" sz="950" dirty="0"/>
          </a:p>
        </p:txBody>
      </p:sp>
      <p:sp>
        <p:nvSpPr>
          <p:cNvPr id="11" name="Shape 9"/>
          <p:cNvSpPr/>
          <p:nvPr/>
        </p:nvSpPr>
        <p:spPr>
          <a:xfrm>
            <a:off x="3246120" y="1207008"/>
            <a:ext cx="2606040" cy="1371600"/>
          </a:xfrm>
          <a:prstGeom prst="rect">
            <a:avLst/>
          </a:prstGeom>
          <a:solidFill>
            <a:srgbClr val="FFFFFF"/>
          </a:solidFill>
          <a:ln w="12700">
            <a:solidFill>
              <a:srgbClr val="DDDDCC"/>
            </a:solidFill>
            <a:prstDash val="solid"/>
          </a:ln>
          <a:effectLst>
            <a:outerShdw sx="100000" sy="100000" kx="0" ky="0" algn="bl" rotWithShape="0" blurRad="101600" dist="38100" dir="8100000">
              <a:srgbClr val="000000">
                <a:alpha val="20000"/>
              </a:srgbClr>
            </a:outerShdw>
          </a:effectLst>
        </p:spPr>
      </p:sp>
      <p:sp>
        <p:nvSpPr>
          <p:cNvPr id="12" name="Shape 10"/>
          <p:cNvSpPr/>
          <p:nvPr/>
        </p:nvSpPr>
        <p:spPr>
          <a:xfrm>
            <a:off x="3246120" y="1207008"/>
            <a:ext cx="2606040" cy="64008"/>
          </a:xfrm>
          <a:prstGeom prst="rect">
            <a:avLst/>
          </a:prstGeom>
          <a:solidFill>
            <a:srgbClr val="C9A84C"/>
          </a:solidFill>
          <a:ln w="12700">
            <a:solidFill>
              <a:srgbClr val="C9A84C"/>
            </a:solidFill>
            <a:prstDash val="solid"/>
          </a:ln>
        </p:spPr>
      </p:sp>
      <p:sp>
        <p:nvSpPr>
          <p:cNvPr id="13" name="Text 11"/>
          <p:cNvSpPr/>
          <p:nvPr/>
        </p:nvSpPr>
        <p:spPr>
          <a:xfrm>
            <a:off x="3355848" y="1335024"/>
            <a:ext cx="2386584" cy="274320"/>
          </a:xfrm>
          <a:prstGeom prst="rect">
            <a:avLst/>
          </a:prstGeom>
          <a:noFill/>
          <a:ln/>
        </p:spPr>
        <p:txBody>
          <a:bodyPr wrap="square" lIns="0" tIns="0" rIns="0" bIns="0" rtlCol="0" anchor="ctr"/>
          <a:lstStyle/>
          <a:p>
            <a:pPr indent="0" marL="0">
              <a:buNone/>
            </a:pPr>
            <a:r>
              <a:rPr lang="en-US" sz="1200" b="1" dirty="0">
                <a:solidFill>
                  <a:srgbClr val="1A1A2E"/>
                </a:solidFill>
                <a:latin typeface="Georgia" pitchFamily="34" charset="0"/>
                <a:ea typeface="Georgia" pitchFamily="34" charset="-122"/>
                <a:cs typeface="Georgia" pitchFamily="34" charset="-120"/>
              </a:rPr>
              <a:t>Hype Machine</a:t>
            </a:r>
            <a:endParaRPr lang="en-US" sz="1200" dirty="0"/>
          </a:p>
        </p:txBody>
      </p:sp>
      <p:sp>
        <p:nvSpPr>
          <p:cNvPr id="14" name="Text 12"/>
          <p:cNvSpPr/>
          <p:nvPr/>
        </p:nvSpPr>
        <p:spPr>
          <a:xfrm>
            <a:off x="3355848" y="1609344"/>
            <a:ext cx="2386584" cy="201168"/>
          </a:xfrm>
          <a:prstGeom prst="rect">
            <a:avLst/>
          </a:prstGeom>
          <a:noFill/>
          <a:ln/>
        </p:spPr>
        <p:txBody>
          <a:bodyPr wrap="square" rtlCol="0" anchor="ctr"/>
          <a:lstStyle/>
          <a:p>
            <a:pPr indent="0" marL="0">
              <a:buNone/>
            </a:pPr>
            <a:r>
              <a:rPr lang="en-US" sz="900" i="1" dirty="0">
                <a:solidFill>
                  <a:srgbClr val="C9A84C"/>
                </a:solidFill>
                <a:latin typeface="Calibri" pitchFamily="34" charset="0"/>
                <a:ea typeface="Calibri" pitchFamily="34" charset="-122"/>
                <a:cs typeface="Calibri" pitchFamily="34" charset="-120"/>
              </a:rPr>
              <a:t>Growth</a:t>
            </a:r>
            <a:endParaRPr lang="en-US" sz="900" dirty="0"/>
          </a:p>
        </p:txBody>
      </p:sp>
      <p:sp>
        <p:nvSpPr>
          <p:cNvPr id="15" name="Text 13"/>
          <p:cNvSpPr/>
          <p:nvPr/>
        </p:nvSpPr>
        <p:spPr>
          <a:xfrm>
            <a:off x="3355848" y="1810512"/>
            <a:ext cx="2386584" cy="658368"/>
          </a:xfrm>
          <a:prstGeom prst="rect">
            <a:avLst/>
          </a:prstGeom>
          <a:noFill/>
          <a:ln/>
        </p:spPr>
        <p:txBody>
          <a:bodyPr wrap="square" rtlCol="0" anchor="t"/>
          <a:lstStyle/>
          <a:p>
            <a:pPr indent="0" marL="0">
              <a:buNone/>
            </a:pPr>
            <a:r>
              <a:rPr lang="en-US" sz="950" dirty="0">
                <a:solidFill>
                  <a:srgbClr val="8888AA"/>
                </a:solidFill>
                <a:latin typeface="Calibri" pitchFamily="34" charset="0"/>
                <a:ea typeface="Calibri" pitchFamily="34" charset="-122"/>
                <a:cs typeface="Calibri" pitchFamily="34" charset="-120"/>
              </a:rPr>
              <a:t>Audience data, viral patterns, content performance signals</a:t>
            </a:r>
            <a:endParaRPr lang="en-US" sz="950" dirty="0"/>
          </a:p>
        </p:txBody>
      </p:sp>
      <p:sp>
        <p:nvSpPr>
          <p:cNvPr id="16" name="Shape 14"/>
          <p:cNvSpPr/>
          <p:nvPr/>
        </p:nvSpPr>
        <p:spPr>
          <a:xfrm>
            <a:off x="6080760" y="1207008"/>
            <a:ext cx="2606040" cy="1371600"/>
          </a:xfrm>
          <a:prstGeom prst="rect">
            <a:avLst/>
          </a:prstGeom>
          <a:solidFill>
            <a:srgbClr val="FFFFFF"/>
          </a:solidFill>
          <a:ln w="12700">
            <a:solidFill>
              <a:srgbClr val="DDDDCC"/>
            </a:solidFill>
            <a:prstDash val="solid"/>
          </a:ln>
          <a:effectLst>
            <a:outerShdw sx="100000" sy="100000" kx="0" ky="0" algn="bl" rotWithShape="0" blurRad="101600" dist="38100" dir="8100000">
              <a:srgbClr val="000000">
                <a:alpha val="20000"/>
              </a:srgbClr>
            </a:outerShdw>
          </a:effectLst>
        </p:spPr>
      </p:sp>
      <p:sp>
        <p:nvSpPr>
          <p:cNvPr id="17" name="Shape 15"/>
          <p:cNvSpPr/>
          <p:nvPr/>
        </p:nvSpPr>
        <p:spPr>
          <a:xfrm>
            <a:off x="6080760" y="1207008"/>
            <a:ext cx="2606040" cy="64008"/>
          </a:xfrm>
          <a:prstGeom prst="rect">
            <a:avLst/>
          </a:prstGeom>
          <a:solidFill>
            <a:srgbClr val="C9A84C"/>
          </a:solidFill>
          <a:ln w="12700">
            <a:solidFill>
              <a:srgbClr val="C9A84C"/>
            </a:solidFill>
            <a:prstDash val="solid"/>
          </a:ln>
        </p:spPr>
      </p:sp>
      <p:sp>
        <p:nvSpPr>
          <p:cNvPr id="18" name="Text 16"/>
          <p:cNvSpPr/>
          <p:nvPr/>
        </p:nvSpPr>
        <p:spPr>
          <a:xfrm>
            <a:off x="6190488" y="1335024"/>
            <a:ext cx="2386584" cy="274320"/>
          </a:xfrm>
          <a:prstGeom prst="rect">
            <a:avLst/>
          </a:prstGeom>
          <a:noFill/>
          <a:ln/>
        </p:spPr>
        <p:txBody>
          <a:bodyPr wrap="square" lIns="0" tIns="0" rIns="0" bIns="0" rtlCol="0" anchor="ctr"/>
          <a:lstStyle/>
          <a:p>
            <a:pPr indent="0" marL="0">
              <a:buNone/>
            </a:pPr>
            <a:r>
              <a:rPr lang="en-US" sz="1200" b="1" dirty="0">
                <a:solidFill>
                  <a:srgbClr val="1A1A2E"/>
                </a:solidFill>
                <a:latin typeface="Georgia" pitchFamily="34" charset="0"/>
                <a:ea typeface="Georgia" pitchFamily="34" charset="-122"/>
                <a:cs typeface="Georgia" pitchFamily="34" charset="-120"/>
              </a:rPr>
              <a:t>Closer</a:t>
            </a:r>
            <a:endParaRPr lang="en-US" sz="1200" dirty="0"/>
          </a:p>
        </p:txBody>
      </p:sp>
      <p:sp>
        <p:nvSpPr>
          <p:cNvPr id="19" name="Text 17"/>
          <p:cNvSpPr/>
          <p:nvPr/>
        </p:nvSpPr>
        <p:spPr>
          <a:xfrm>
            <a:off x="6190488" y="1609344"/>
            <a:ext cx="2386584" cy="201168"/>
          </a:xfrm>
          <a:prstGeom prst="rect">
            <a:avLst/>
          </a:prstGeom>
          <a:noFill/>
          <a:ln/>
        </p:spPr>
        <p:txBody>
          <a:bodyPr wrap="square" rtlCol="0" anchor="ctr"/>
          <a:lstStyle/>
          <a:p>
            <a:pPr indent="0" marL="0">
              <a:buNone/>
            </a:pPr>
            <a:r>
              <a:rPr lang="en-US" sz="900" i="1" dirty="0">
                <a:solidFill>
                  <a:srgbClr val="C9A84C"/>
                </a:solidFill>
                <a:latin typeface="Calibri" pitchFamily="34" charset="0"/>
                <a:ea typeface="Calibri" pitchFamily="34" charset="-122"/>
                <a:cs typeface="Calibri" pitchFamily="34" charset="-120"/>
              </a:rPr>
              <a:t>Conversion</a:t>
            </a:r>
            <a:endParaRPr lang="en-US" sz="900" dirty="0"/>
          </a:p>
        </p:txBody>
      </p:sp>
      <p:sp>
        <p:nvSpPr>
          <p:cNvPr id="20" name="Text 18"/>
          <p:cNvSpPr/>
          <p:nvPr/>
        </p:nvSpPr>
        <p:spPr>
          <a:xfrm>
            <a:off x="6190488" y="1810512"/>
            <a:ext cx="2386584" cy="658368"/>
          </a:xfrm>
          <a:prstGeom prst="rect">
            <a:avLst/>
          </a:prstGeom>
          <a:noFill/>
          <a:ln/>
        </p:spPr>
        <p:txBody>
          <a:bodyPr wrap="square" rtlCol="0" anchor="t"/>
          <a:lstStyle/>
          <a:p>
            <a:pPr indent="0" marL="0">
              <a:buNone/>
            </a:pPr>
            <a:r>
              <a:rPr lang="en-US" sz="950" dirty="0">
                <a:solidFill>
                  <a:srgbClr val="8888AA"/>
                </a:solidFill>
                <a:latin typeface="Calibri" pitchFamily="34" charset="0"/>
                <a:ea typeface="Calibri" pitchFamily="34" charset="-122"/>
                <a:cs typeface="Calibri" pitchFamily="34" charset="-120"/>
              </a:rPr>
              <a:t>Prospect signals, objection patterns, deal context memory</a:t>
            </a:r>
            <a:endParaRPr lang="en-US" sz="950" dirty="0"/>
          </a:p>
        </p:txBody>
      </p:sp>
      <p:sp>
        <p:nvSpPr>
          <p:cNvPr id="21" name="Shape 19"/>
          <p:cNvSpPr/>
          <p:nvPr/>
        </p:nvSpPr>
        <p:spPr>
          <a:xfrm>
            <a:off x="1719072" y="2697480"/>
            <a:ext cx="2606040" cy="1371600"/>
          </a:xfrm>
          <a:prstGeom prst="rect">
            <a:avLst/>
          </a:prstGeom>
          <a:solidFill>
            <a:srgbClr val="FFFFFF"/>
          </a:solidFill>
          <a:ln w="12700">
            <a:solidFill>
              <a:srgbClr val="DDDDCC"/>
            </a:solidFill>
            <a:prstDash val="solid"/>
          </a:ln>
          <a:effectLst>
            <a:outerShdw sx="100000" sy="100000" kx="0" ky="0" algn="bl" rotWithShape="0" blurRad="101600" dist="38100" dir="8100000">
              <a:srgbClr val="000000">
                <a:alpha val="20000"/>
              </a:srgbClr>
            </a:outerShdw>
          </a:effectLst>
        </p:spPr>
      </p:sp>
      <p:sp>
        <p:nvSpPr>
          <p:cNvPr id="22" name="Shape 20"/>
          <p:cNvSpPr/>
          <p:nvPr/>
        </p:nvSpPr>
        <p:spPr>
          <a:xfrm>
            <a:off x="1719072" y="2697480"/>
            <a:ext cx="2606040" cy="64008"/>
          </a:xfrm>
          <a:prstGeom prst="rect">
            <a:avLst/>
          </a:prstGeom>
          <a:solidFill>
            <a:srgbClr val="C9A84C"/>
          </a:solidFill>
          <a:ln w="12700">
            <a:solidFill>
              <a:srgbClr val="C9A84C"/>
            </a:solidFill>
            <a:prstDash val="solid"/>
          </a:ln>
        </p:spPr>
      </p:sp>
      <p:sp>
        <p:nvSpPr>
          <p:cNvPr id="23" name="Text 21"/>
          <p:cNvSpPr/>
          <p:nvPr/>
        </p:nvSpPr>
        <p:spPr>
          <a:xfrm>
            <a:off x="1828800" y="2825496"/>
            <a:ext cx="2386584" cy="274320"/>
          </a:xfrm>
          <a:prstGeom prst="rect">
            <a:avLst/>
          </a:prstGeom>
          <a:noFill/>
          <a:ln/>
        </p:spPr>
        <p:txBody>
          <a:bodyPr wrap="square" lIns="0" tIns="0" rIns="0" bIns="0" rtlCol="0" anchor="ctr"/>
          <a:lstStyle/>
          <a:p>
            <a:pPr indent="0" marL="0">
              <a:buNone/>
            </a:pPr>
            <a:r>
              <a:rPr lang="en-US" sz="1200" b="1" dirty="0">
                <a:solidFill>
                  <a:srgbClr val="1A1A2E"/>
                </a:solidFill>
                <a:latin typeface="Georgia" pitchFamily="34" charset="0"/>
                <a:ea typeface="Georgia" pitchFamily="34" charset="-122"/>
                <a:cs typeface="Georgia" pitchFamily="34" charset="-120"/>
              </a:rPr>
              <a:t>Devil's Advocate</a:t>
            </a:r>
            <a:endParaRPr lang="en-US" sz="1200" dirty="0"/>
          </a:p>
        </p:txBody>
      </p:sp>
      <p:sp>
        <p:nvSpPr>
          <p:cNvPr id="24" name="Text 22"/>
          <p:cNvSpPr/>
          <p:nvPr/>
        </p:nvSpPr>
        <p:spPr>
          <a:xfrm>
            <a:off x="1828800" y="3099816"/>
            <a:ext cx="2386584" cy="201168"/>
          </a:xfrm>
          <a:prstGeom prst="rect">
            <a:avLst/>
          </a:prstGeom>
          <a:noFill/>
          <a:ln/>
        </p:spPr>
        <p:txBody>
          <a:bodyPr wrap="square" rtlCol="0" anchor="ctr"/>
          <a:lstStyle/>
          <a:p>
            <a:pPr indent="0" marL="0">
              <a:buNone/>
            </a:pPr>
            <a:r>
              <a:rPr lang="en-US" sz="900" i="1" dirty="0">
                <a:solidFill>
                  <a:srgbClr val="C9A84C"/>
                </a:solidFill>
                <a:latin typeface="Calibri" pitchFamily="34" charset="0"/>
                <a:ea typeface="Calibri" pitchFamily="34" charset="-122"/>
                <a:cs typeface="Calibri" pitchFamily="34" charset="-120"/>
              </a:rPr>
              <a:t>Risk</a:t>
            </a:r>
            <a:endParaRPr lang="en-US" sz="900" dirty="0"/>
          </a:p>
        </p:txBody>
      </p:sp>
      <p:sp>
        <p:nvSpPr>
          <p:cNvPr id="25" name="Text 23"/>
          <p:cNvSpPr/>
          <p:nvPr/>
        </p:nvSpPr>
        <p:spPr>
          <a:xfrm>
            <a:off x="1828800" y="3300984"/>
            <a:ext cx="2386584" cy="658368"/>
          </a:xfrm>
          <a:prstGeom prst="rect">
            <a:avLst/>
          </a:prstGeom>
          <a:noFill/>
          <a:ln/>
        </p:spPr>
        <p:txBody>
          <a:bodyPr wrap="square" rtlCol="0" anchor="t"/>
          <a:lstStyle/>
          <a:p>
            <a:pPr indent="0" marL="0">
              <a:buNone/>
            </a:pPr>
            <a:r>
              <a:rPr lang="en-US" sz="950" dirty="0">
                <a:solidFill>
                  <a:srgbClr val="8888AA"/>
                </a:solidFill>
                <a:latin typeface="Calibri" pitchFamily="34" charset="0"/>
                <a:ea typeface="Calibri" pitchFamily="34" charset="-122"/>
                <a:cs typeface="Calibri" pitchFamily="34" charset="-120"/>
              </a:rPr>
              <a:t>Counter-evidence, failure modes, contradiction binding</a:t>
            </a:r>
            <a:endParaRPr lang="en-US" sz="950" dirty="0"/>
          </a:p>
        </p:txBody>
      </p:sp>
      <p:sp>
        <p:nvSpPr>
          <p:cNvPr id="26" name="Shape 24"/>
          <p:cNvSpPr/>
          <p:nvPr/>
        </p:nvSpPr>
        <p:spPr>
          <a:xfrm>
            <a:off x="4526280" y="2697480"/>
            <a:ext cx="2606040" cy="1371600"/>
          </a:xfrm>
          <a:prstGeom prst="rect">
            <a:avLst/>
          </a:prstGeom>
          <a:solidFill>
            <a:srgbClr val="FFFFFF"/>
          </a:solidFill>
          <a:ln w="12700">
            <a:solidFill>
              <a:srgbClr val="DDDDCC"/>
            </a:solidFill>
            <a:prstDash val="solid"/>
          </a:ln>
          <a:effectLst>
            <a:outerShdw sx="100000" sy="100000" kx="0" ky="0" algn="bl" rotWithShape="0" blurRad="101600" dist="38100" dir="8100000">
              <a:srgbClr val="000000">
                <a:alpha val="20000"/>
              </a:srgbClr>
            </a:outerShdw>
          </a:effectLst>
        </p:spPr>
      </p:sp>
      <p:sp>
        <p:nvSpPr>
          <p:cNvPr id="27" name="Shape 25"/>
          <p:cNvSpPr/>
          <p:nvPr/>
        </p:nvSpPr>
        <p:spPr>
          <a:xfrm>
            <a:off x="4526280" y="2697480"/>
            <a:ext cx="2606040" cy="64008"/>
          </a:xfrm>
          <a:prstGeom prst="rect">
            <a:avLst/>
          </a:prstGeom>
          <a:solidFill>
            <a:srgbClr val="C9A84C"/>
          </a:solidFill>
          <a:ln w="12700">
            <a:solidFill>
              <a:srgbClr val="C9A84C"/>
            </a:solidFill>
            <a:prstDash val="solid"/>
          </a:ln>
        </p:spPr>
      </p:sp>
      <p:sp>
        <p:nvSpPr>
          <p:cNvPr id="28" name="Text 26"/>
          <p:cNvSpPr/>
          <p:nvPr/>
        </p:nvSpPr>
        <p:spPr>
          <a:xfrm>
            <a:off x="4636008" y="2825496"/>
            <a:ext cx="2386584" cy="274320"/>
          </a:xfrm>
          <a:prstGeom prst="rect">
            <a:avLst/>
          </a:prstGeom>
          <a:noFill/>
          <a:ln/>
        </p:spPr>
        <p:txBody>
          <a:bodyPr wrap="square" lIns="0" tIns="0" rIns="0" bIns="0" rtlCol="0" anchor="ctr"/>
          <a:lstStyle/>
          <a:p>
            <a:pPr indent="0" marL="0">
              <a:buNone/>
            </a:pPr>
            <a:r>
              <a:rPr lang="en-US" sz="1200" b="1" dirty="0">
                <a:solidFill>
                  <a:srgbClr val="1A1A2E"/>
                </a:solidFill>
                <a:latin typeface="Georgia" pitchFamily="34" charset="0"/>
                <a:ea typeface="Georgia" pitchFamily="34" charset="-122"/>
                <a:cs typeface="Georgia" pitchFamily="34" charset="-120"/>
              </a:rPr>
              <a:t>Conductor</a:t>
            </a:r>
            <a:endParaRPr lang="en-US" sz="1200" dirty="0"/>
          </a:p>
        </p:txBody>
      </p:sp>
      <p:sp>
        <p:nvSpPr>
          <p:cNvPr id="29" name="Text 27"/>
          <p:cNvSpPr/>
          <p:nvPr/>
        </p:nvSpPr>
        <p:spPr>
          <a:xfrm>
            <a:off x="4636008" y="3099816"/>
            <a:ext cx="2386584" cy="201168"/>
          </a:xfrm>
          <a:prstGeom prst="rect">
            <a:avLst/>
          </a:prstGeom>
          <a:noFill/>
          <a:ln/>
        </p:spPr>
        <p:txBody>
          <a:bodyPr wrap="square" rtlCol="0" anchor="ctr"/>
          <a:lstStyle/>
          <a:p>
            <a:pPr indent="0" marL="0">
              <a:buNone/>
            </a:pPr>
            <a:r>
              <a:rPr lang="en-US" sz="900" i="1" dirty="0">
                <a:solidFill>
                  <a:srgbClr val="C9A84C"/>
                </a:solidFill>
                <a:latin typeface="Calibri" pitchFamily="34" charset="0"/>
                <a:ea typeface="Calibri" pitchFamily="34" charset="-122"/>
                <a:cs typeface="Calibri" pitchFamily="34" charset="-120"/>
              </a:rPr>
              <a:t>Orchestration</a:t>
            </a:r>
            <a:endParaRPr lang="en-US" sz="900" dirty="0"/>
          </a:p>
        </p:txBody>
      </p:sp>
      <p:sp>
        <p:nvSpPr>
          <p:cNvPr id="30" name="Text 28"/>
          <p:cNvSpPr/>
          <p:nvPr/>
        </p:nvSpPr>
        <p:spPr>
          <a:xfrm>
            <a:off x="4636008" y="3300984"/>
            <a:ext cx="2386584" cy="658368"/>
          </a:xfrm>
          <a:prstGeom prst="rect">
            <a:avLst/>
          </a:prstGeom>
          <a:noFill/>
          <a:ln/>
        </p:spPr>
        <p:txBody>
          <a:bodyPr wrap="square" rtlCol="0" anchor="t"/>
          <a:lstStyle/>
          <a:p>
            <a:pPr indent="0" marL="0">
              <a:buNone/>
            </a:pPr>
            <a:r>
              <a:rPr lang="en-US" sz="950" dirty="0">
                <a:solidFill>
                  <a:srgbClr val="8888AA"/>
                </a:solidFill>
                <a:latin typeface="Calibri" pitchFamily="34" charset="0"/>
                <a:ea typeface="Calibri" pitchFamily="34" charset="-122"/>
                <a:cs typeface="Calibri" pitchFamily="34" charset="-120"/>
              </a:rPr>
              <a:t>Task state, agent outputs, execution history tracking</a:t>
            </a:r>
            <a:endParaRPr lang="en-US" sz="950" dirty="0"/>
          </a:p>
        </p:txBody>
      </p:sp>
      <p:sp>
        <p:nvSpPr>
          <p:cNvPr id="31" name="Shape 29"/>
          <p:cNvSpPr/>
          <p:nvPr/>
        </p:nvSpPr>
        <p:spPr>
          <a:xfrm>
            <a:off x="2331720" y="4206240"/>
            <a:ext cx="4480560" cy="658368"/>
          </a:xfrm>
          <a:prstGeom prst="rect">
            <a:avLst/>
          </a:prstGeom>
          <a:solidFill>
            <a:srgbClr val="1A1A2E"/>
          </a:solidFill>
          <a:ln w="12700">
            <a:solidFill>
              <a:srgbClr val="C9A84C"/>
            </a:solidFill>
            <a:prstDash val="solid"/>
          </a:ln>
          <a:effectLst>
            <a:outerShdw sx="100000" sy="100000" kx="0" ky="0" algn="bl" rotWithShape="0" blurRad="101600" dist="38100" dir="8100000">
              <a:srgbClr val="000000">
                <a:alpha val="20000"/>
              </a:srgbClr>
            </a:outerShdw>
          </a:effectLst>
        </p:spPr>
      </p:sp>
      <p:sp>
        <p:nvSpPr>
          <p:cNvPr id="32" name="Text 30"/>
          <p:cNvSpPr/>
          <p:nvPr/>
        </p:nvSpPr>
        <p:spPr>
          <a:xfrm>
            <a:off x="2331720" y="4251960"/>
            <a:ext cx="4480560" cy="530352"/>
          </a:xfrm>
          <a:prstGeom prst="rect">
            <a:avLst/>
          </a:prstGeom>
          <a:noFill/>
          <a:ln/>
        </p:spPr>
        <p:txBody>
          <a:bodyPr wrap="square" rtlCol="0" anchor="ctr"/>
          <a:lstStyle/>
          <a:p>
            <a:pPr algn="ctr" indent="0" marL="0">
              <a:buNone/>
            </a:pPr>
            <a:r>
              <a:rPr lang="en-US" sz="1100" b="1" dirty="0">
                <a:solidFill>
                  <a:srgbClr val="C9A84C"/>
                </a:solidFill>
                <a:latin typeface="Georgia" pitchFamily="34" charset="0"/>
                <a:ea typeface="Georgia" pitchFamily="34" charset="-122"/>
                <a:cs typeface="Georgia" pitchFamily="34" charset="-120"/>
              </a:rPr>
              <a:t>MOTHER AI  —  Unified Consensus Graph  (T3 Semantic Memory)</a:t>
            </a:r>
            <a:endParaRPr lang="en-US" sz="1100" dirty="0"/>
          </a:p>
        </p:txBody>
      </p:sp>
      <p:sp>
        <p:nvSpPr>
          <p:cNvPr id="33" name="Shape 31"/>
          <p:cNvSpPr/>
          <p:nvPr/>
        </p:nvSpPr>
        <p:spPr>
          <a:xfrm>
            <a:off x="4572000" y="4206240"/>
            <a:ext cx="0" cy="-36576"/>
          </a:xfrm>
          <a:prstGeom prst="LINE">
            <a:avLst/>
          </a:prstGeom>
          <a:noFill/>
          <a:ln w="19050">
            <a:solidFill>
              <a:srgbClr val="C9A84C"/>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A84C"/>
          </a:solidFill>
          <a:ln w="12700">
            <a:solidFill>
              <a:srgbClr val="C9A84C"/>
            </a:solidFill>
            <a:prstDash val="solid"/>
          </a:ln>
        </p:spPr>
      </p:sp>
      <p:sp>
        <p:nvSpPr>
          <p:cNvPr id="3" name="Shape 1"/>
          <p:cNvSpPr/>
          <p:nvPr/>
        </p:nvSpPr>
        <p:spPr>
          <a:xfrm>
            <a:off x="0" y="5065776"/>
            <a:ext cx="9144000" cy="73152"/>
          </a:xfrm>
          <a:prstGeom prst="rect">
            <a:avLst/>
          </a:prstGeom>
          <a:solidFill>
            <a:srgbClr val="C9A84C"/>
          </a:solidFill>
          <a:ln w="12700">
            <a:solidFill>
              <a:srgbClr val="C9A84C"/>
            </a:solidFill>
            <a:prstDash val="solid"/>
          </a:ln>
        </p:spPr>
      </p:sp>
      <p:sp>
        <p:nvSpPr>
          <p:cNvPr id="4" name="Text 2"/>
          <p:cNvSpPr/>
          <p:nvPr/>
        </p:nvSpPr>
        <p:spPr>
          <a:xfrm>
            <a:off x="457200" y="128016"/>
            <a:ext cx="8229600" cy="201168"/>
          </a:xfrm>
          <a:prstGeom prst="rect">
            <a:avLst/>
          </a:prstGeom>
          <a:noFill/>
          <a:ln/>
        </p:spPr>
        <p:txBody>
          <a:bodyPr wrap="square" rtlCol="0" anchor="ctr"/>
          <a:lstStyle/>
          <a:p>
            <a:pPr algn="l" indent="0" marL="0">
              <a:buNone/>
            </a:pPr>
            <a:r>
              <a:rPr lang="en-US" sz="800" b="1" spc="600" kern="0" dirty="0">
                <a:solidFill>
                  <a:srgbClr val="C9A84C"/>
                </a:solidFill>
                <a:latin typeface="Calibri" pitchFamily="34" charset="0"/>
                <a:ea typeface="Calibri" pitchFamily="34" charset="-122"/>
                <a:cs typeface="Calibri" pitchFamily="34" charset="-120"/>
              </a:rPr>
              <a:t>STORAGE ENHANCEMENT ESTIMATES</a:t>
            </a:r>
            <a:endParaRPr lang="en-US" sz="800" dirty="0"/>
          </a:p>
        </p:txBody>
      </p:sp>
      <p:sp>
        <p:nvSpPr>
          <p:cNvPr id="5" name="Text 3"/>
          <p:cNvSpPr/>
          <p:nvPr/>
        </p:nvSpPr>
        <p:spPr>
          <a:xfrm>
            <a:off x="502920" y="438912"/>
            <a:ext cx="8138160" cy="640080"/>
          </a:xfrm>
          <a:prstGeom prst="rect">
            <a:avLst/>
          </a:prstGeom>
          <a:noFill/>
          <a:ln/>
        </p:spPr>
        <p:txBody>
          <a:bodyPr wrap="square" lIns="0" tIns="0" rIns="0" bIns="0" rtlCol="0" anchor="ctr"/>
          <a:lstStyle/>
          <a:p>
            <a:pPr algn="l" indent="0" marL="0">
              <a:buNone/>
            </a:pPr>
            <a:r>
              <a:rPr lang="en-US" sz="2800" b="1" dirty="0">
                <a:solidFill>
                  <a:srgbClr val="FFFFFF"/>
                </a:solidFill>
                <a:latin typeface="Georgia" pitchFamily="34" charset="0"/>
                <a:ea typeface="Georgia" pitchFamily="34" charset="-122"/>
                <a:cs typeface="Georgia" pitchFamily="34" charset="-120"/>
              </a:rPr>
              <a:t>MGKS Delivers 40–80% Efficiency Gains Over Flat Storage.</a:t>
            </a:r>
            <a:endParaRPr lang="en-US" sz="2800" dirty="0"/>
          </a:p>
        </p:txBody>
      </p:sp>
      <p:sp>
        <p:nvSpPr>
          <p:cNvPr id="6" name="Shape 4"/>
          <p:cNvSpPr/>
          <p:nvPr/>
        </p:nvSpPr>
        <p:spPr>
          <a:xfrm>
            <a:off x="411480" y="1170432"/>
            <a:ext cx="2523744" cy="457200"/>
          </a:xfrm>
          <a:prstGeom prst="rect">
            <a:avLst/>
          </a:prstGeom>
          <a:solidFill>
            <a:srgbClr val="0D0D1A"/>
          </a:solidFill>
          <a:ln w="12700">
            <a:solidFill>
              <a:srgbClr val="C9A84C"/>
            </a:solidFill>
            <a:prstDash val="solid"/>
          </a:ln>
        </p:spPr>
      </p:sp>
      <p:sp>
        <p:nvSpPr>
          <p:cNvPr id="7" name="Text 5"/>
          <p:cNvSpPr/>
          <p:nvPr/>
        </p:nvSpPr>
        <p:spPr>
          <a:xfrm>
            <a:off x="502920" y="1261872"/>
            <a:ext cx="2340864" cy="274320"/>
          </a:xfrm>
          <a:prstGeom prst="rect">
            <a:avLst/>
          </a:prstGeom>
          <a:noFill/>
          <a:ln/>
        </p:spPr>
        <p:txBody>
          <a:bodyPr wrap="square" rtlCol="0" anchor="ctr"/>
          <a:lstStyle/>
          <a:p>
            <a:pPr indent="0" marL="0">
              <a:buNone/>
            </a:pPr>
            <a:r>
              <a:rPr lang="en-US" sz="950" b="1" spc="200" kern="0" dirty="0">
                <a:solidFill>
                  <a:srgbClr val="C9A84C"/>
                </a:solidFill>
                <a:latin typeface="Calibri" pitchFamily="34" charset="0"/>
                <a:ea typeface="Calibri" pitchFamily="34" charset="-122"/>
                <a:cs typeface="Calibri" pitchFamily="34" charset="-120"/>
              </a:rPr>
              <a:t>Knowledge Type</a:t>
            </a:r>
            <a:endParaRPr lang="en-US" sz="950" dirty="0"/>
          </a:p>
        </p:txBody>
      </p:sp>
      <p:sp>
        <p:nvSpPr>
          <p:cNvPr id="8" name="Shape 6"/>
          <p:cNvSpPr/>
          <p:nvPr/>
        </p:nvSpPr>
        <p:spPr>
          <a:xfrm>
            <a:off x="2971800" y="1170432"/>
            <a:ext cx="1335024" cy="457200"/>
          </a:xfrm>
          <a:prstGeom prst="rect">
            <a:avLst/>
          </a:prstGeom>
          <a:solidFill>
            <a:srgbClr val="0D0D1A"/>
          </a:solidFill>
          <a:ln w="12700">
            <a:solidFill>
              <a:srgbClr val="C9A84C"/>
            </a:solidFill>
            <a:prstDash val="solid"/>
          </a:ln>
        </p:spPr>
      </p:sp>
      <p:sp>
        <p:nvSpPr>
          <p:cNvPr id="9" name="Text 7"/>
          <p:cNvSpPr/>
          <p:nvPr/>
        </p:nvSpPr>
        <p:spPr>
          <a:xfrm>
            <a:off x="3063240" y="1261872"/>
            <a:ext cx="1152144" cy="274320"/>
          </a:xfrm>
          <a:prstGeom prst="rect">
            <a:avLst/>
          </a:prstGeom>
          <a:noFill/>
          <a:ln/>
        </p:spPr>
        <p:txBody>
          <a:bodyPr wrap="square" rtlCol="0" anchor="ctr"/>
          <a:lstStyle/>
          <a:p>
            <a:pPr indent="0" marL="0">
              <a:buNone/>
            </a:pPr>
            <a:r>
              <a:rPr lang="en-US" sz="950" b="1" spc="200" kern="0" dirty="0">
                <a:solidFill>
                  <a:srgbClr val="C9A84C"/>
                </a:solidFill>
                <a:latin typeface="Calibri" pitchFamily="34" charset="0"/>
                <a:ea typeface="Calibri" pitchFamily="34" charset="-122"/>
                <a:cs typeface="Calibri" pitchFamily="34" charset="-120"/>
              </a:rPr>
              <a:t>Flat (JSON/SQL)</a:t>
            </a:r>
            <a:endParaRPr lang="en-US" sz="950" dirty="0"/>
          </a:p>
        </p:txBody>
      </p:sp>
      <p:sp>
        <p:nvSpPr>
          <p:cNvPr id="10" name="Shape 8"/>
          <p:cNvSpPr/>
          <p:nvPr/>
        </p:nvSpPr>
        <p:spPr>
          <a:xfrm>
            <a:off x="4343400" y="1170432"/>
            <a:ext cx="1060704" cy="457200"/>
          </a:xfrm>
          <a:prstGeom prst="rect">
            <a:avLst/>
          </a:prstGeom>
          <a:solidFill>
            <a:srgbClr val="0D0D1A"/>
          </a:solidFill>
          <a:ln w="12700">
            <a:solidFill>
              <a:srgbClr val="C9A84C"/>
            </a:solidFill>
            <a:prstDash val="solid"/>
          </a:ln>
        </p:spPr>
      </p:sp>
      <p:sp>
        <p:nvSpPr>
          <p:cNvPr id="11" name="Text 9"/>
          <p:cNvSpPr/>
          <p:nvPr/>
        </p:nvSpPr>
        <p:spPr>
          <a:xfrm>
            <a:off x="4434840" y="1261872"/>
            <a:ext cx="877824" cy="274320"/>
          </a:xfrm>
          <a:prstGeom prst="rect">
            <a:avLst/>
          </a:prstGeom>
          <a:noFill/>
          <a:ln/>
        </p:spPr>
        <p:txBody>
          <a:bodyPr wrap="square" rtlCol="0" anchor="ctr"/>
          <a:lstStyle/>
          <a:p>
            <a:pPr indent="0" marL="0">
              <a:buNone/>
            </a:pPr>
            <a:r>
              <a:rPr lang="en-US" sz="950" b="1" spc="200" kern="0" dirty="0">
                <a:solidFill>
                  <a:srgbClr val="C9A84C"/>
                </a:solidFill>
                <a:latin typeface="Calibri" pitchFamily="34" charset="0"/>
                <a:ea typeface="Calibri" pitchFamily="34" charset="-122"/>
                <a:cs typeface="Calibri" pitchFamily="34" charset="-120"/>
              </a:rPr>
              <a:t>MGKS</a:t>
            </a:r>
            <a:endParaRPr lang="en-US" sz="950" dirty="0"/>
          </a:p>
        </p:txBody>
      </p:sp>
      <p:sp>
        <p:nvSpPr>
          <p:cNvPr id="12" name="Shape 10"/>
          <p:cNvSpPr/>
          <p:nvPr/>
        </p:nvSpPr>
        <p:spPr>
          <a:xfrm>
            <a:off x="5440680" y="1170432"/>
            <a:ext cx="969264" cy="457200"/>
          </a:xfrm>
          <a:prstGeom prst="rect">
            <a:avLst/>
          </a:prstGeom>
          <a:solidFill>
            <a:srgbClr val="0D0D1A"/>
          </a:solidFill>
          <a:ln w="12700">
            <a:solidFill>
              <a:srgbClr val="C9A84C"/>
            </a:solidFill>
            <a:prstDash val="solid"/>
          </a:ln>
        </p:spPr>
      </p:sp>
      <p:sp>
        <p:nvSpPr>
          <p:cNvPr id="13" name="Text 11"/>
          <p:cNvSpPr/>
          <p:nvPr/>
        </p:nvSpPr>
        <p:spPr>
          <a:xfrm>
            <a:off x="5532120" y="1261872"/>
            <a:ext cx="786384" cy="274320"/>
          </a:xfrm>
          <a:prstGeom prst="rect">
            <a:avLst/>
          </a:prstGeom>
          <a:noFill/>
          <a:ln/>
        </p:spPr>
        <p:txBody>
          <a:bodyPr wrap="square" rtlCol="0" anchor="ctr"/>
          <a:lstStyle/>
          <a:p>
            <a:pPr indent="0" marL="0">
              <a:buNone/>
            </a:pPr>
            <a:r>
              <a:rPr lang="en-US" sz="950" b="1" spc="200" kern="0" dirty="0">
                <a:solidFill>
                  <a:srgbClr val="C9A84C"/>
                </a:solidFill>
                <a:latin typeface="Calibri" pitchFamily="34" charset="0"/>
                <a:ea typeface="Calibri" pitchFamily="34" charset="-122"/>
                <a:cs typeface="Calibri" pitchFamily="34" charset="-120"/>
              </a:rPr>
              <a:t>Reduction</a:t>
            </a:r>
            <a:endParaRPr lang="en-US" sz="950" dirty="0"/>
          </a:p>
        </p:txBody>
      </p:sp>
      <p:sp>
        <p:nvSpPr>
          <p:cNvPr id="14" name="Shape 12"/>
          <p:cNvSpPr/>
          <p:nvPr/>
        </p:nvSpPr>
        <p:spPr>
          <a:xfrm>
            <a:off x="6446520" y="1170432"/>
            <a:ext cx="2706624" cy="457200"/>
          </a:xfrm>
          <a:prstGeom prst="rect">
            <a:avLst/>
          </a:prstGeom>
          <a:solidFill>
            <a:srgbClr val="0D0D1A"/>
          </a:solidFill>
          <a:ln w="12700">
            <a:solidFill>
              <a:srgbClr val="C9A84C"/>
            </a:solidFill>
            <a:prstDash val="solid"/>
          </a:ln>
        </p:spPr>
      </p:sp>
      <p:sp>
        <p:nvSpPr>
          <p:cNvPr id="15" name="Text 13"/>
          <p:cNvSpPr/>
          <p:nvPr/>
        </p:nvSpPr>
        <p:spPr>
          <a:xfrm>
            <a:off x="6537960" y="1261872"/>
            <a:ext cx="2523744" cy="274320"/>
          </a:xfrm>
          <a:prstGeom prst="rect">
            <a:avLst/>
          </a:prstGeom>
          <a:noFill/>
          <a:ln/>
        </p:spPr>
        <p:txBody>
          <a:bodyPr wrap="square" rtlCol="0" anchor="ctr"/>
          <a:lstStyle/>
          <a:p>
            <a:pPr indent="0" marL="0">
              <a:buNone/>
            </a:pPr>
            <a:r>
              <a:rPr lang="en-US" sz="950" b="1" spc="200" kern="0" dirty="0">
                <a:solidFill>
                  <a:srgbClr val="C9A84C"/>
                </a:solidFill>
                <a:latin typeface="Calibri" pitchFamily="34" charset="0"/>
                <a:ea typeface="Calibri" pitchFamily="34" charset="-122"/>
                <a:cs typeface="Calibri" pitchFamily="34" charset="-120"/>
              </a:rPr>
              <a:t>Key Driver</a:t>
            </a:r>
            <a:endParaRPr lang="en-US" sz="950" dirty="0"/>
          </a:p>
        </p:txBody>
      </p:sp>
      <p:sp>
        <p:nvSpPr>
          <p:cNvPr id="16" name="Shape 14"/>
          <p:cNvSpPr/>
          <p:nvPr/>
        </p:nvSpPr>
        <p:spPr>
          <a:xfrm>
            <a:off x="411480" y="1664208"/>
            <a:ext cx="2523744" cy="457200"/>
          </a:xfrm>
          <a:prstGeom prst="rect">
            <a:avLst/>
          </a:prstGeom>
          <a:solidFill>
            <a:srgbClr val="12122A"/>
          </a:solidFill>
          <a:ln w="12700">
            <a:solidFill>
              <a:srgbClr val="2A2A4A"/>
            </a:solidFill>
            <a:prstDash val="solid"/>
          </a:ln>
        </p:spPr>
      </p:sp>
      <p:sp>
        <p:nvSpPr>
          <p:cNvPr id="17" name="Text 15"/>
          <p:cNvSpPr/>
          <p:nvPr/>
        </p:nvSpPr>
        <p:spPr>
          <a:xfrm>
            <a:off x="502920" y="1755648"/>
            <a:ext cx="2340864" cy="27432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Structured agent observations</a:t>
            </a:r>
            <a:endParaRPr lang="en-US" sz="1050" dirty="0"/>
          </a:p>
        </p:txBody>
      </p:sp>
      <p:sp>
        <p:nvSpPr>
          <p:cNvPr id="18" name="Shape 16"/>
          <p:cNvSpPr/>
          <p:nvPr/>
        </p:nvSpPr>
        <p:spPr>
          <a:xfrm>
            <a:off x="2971800" y="1664208"/>
            <a:ext cx="1335024" cy="457200"/>
          </a:xfrm>
          <a:prstGeom prst="rect">
            <a:avLst/>
          </a:prstGeom>
          <a:solidFill>
            <a:srgbClr val="12122A"/>
          </a:solidFill>
          <a:ln w="12700">
            <a:solidFill>
              <a:srgbClr val="2A2A4A"/>
            </a:solidFill>
            <a:prstDash val="solid"/>
          </a:ln>
        </p:spPr>
      </p:sp>
      <p:sp>
        <p:nvSpPr>
          <p:cNvPr id="19" name="Text 17"/>
          <p:cNvSpPr/>
          <p:nvPr/>
        </p:nvSpPr>
        <p:spPr>
          <a:xfrm>
            <a:off x="3063240" y="1755648"/>
            <a:ext cx="1152144" cy="274320"/>
          </a:xfrm>
          <a:prstGeom prst="rect">
            <a:avLst/>
          </a:prstGeom>
          <a:noFill/>
          <a:ln/>
        </p:spPr>
        <p:txBody>
          <a:bodyPr wrap="square" rtlCol="0" anchor="ctr"/>
          <a:lstStyle/>
          <a:p>
            <a:pPr indent="0" marL="0">
              <a:buNone/>
            </a:pPr>
            <a:r>
              <a:rPr lang="en-US" sz="1050" dirty="0">
                <a:solidFill>
                  <a:srgbClr val="BBBBCC"/>
                </a:solidFill>
                <a:latin typeface="Calibri" pitchFamily="34" charset="0"/>
                <a:ea typeface="Calibri" pitchFamily="34" charset="-122"/>
                <a:cs typeface="Calibri" pitchFamily="34" charset="-120"/>
              </a:rPr>
              <a:t>100 MB</a:t>
            </a:r>
            <a:endParaRPr lang="en-US" sz="1050" dirty="0"/>
          </a:p>
        </p:txBody>
      </p:sp>
      <p:sp>
        <p:nvSpPr>
          <p:cNvPr id="20" name="Shape 18"/>
          <p:cNvSpPr/>
          <p:nvPr/>
        </p:nvSpPr>
        <p:spPr>
          <a:xfrm>
            <a:off x="4343400" y="1664208"/>
            <a:ext cx="1060704" cy="457200"/>
          </a:xfrm>
          <a:prstGeom prst="rect">
            <a:avLst/>
          </a:prstGeom>
          <a:solidFill>
            <a:srgbClr val="12122A"/>
          </a:solidFill>
          <a:ln w="12700">
            <a:solidFill>
              <a:srgbClr val="2A2A4A"/>
            </a:solidFill>
            <a:prstDash val="solid"/>
          </a:ln>
        </p:spPr>
      </p:sp>
      <p:sp>
        <p:nvSpPr>
          <p:cNvPr id="21" name="Text 19"/>
          <p:cNvSpPr/>
          <p:nvPr/>
        </p:nvSpPr>
        <p:spPr>
          <a:xfrm>
            <a:off x="4434840" y="1755648"/>
            <a:ext cx="877824" cy="274320"/>
          </a:xfrm>
          <a:prstGeom prst="rect">
            <a:avLst/>
          </a:prstGeom>
          <a:noFill/>
          <a:ln/>
        </p:spPr>
        <p:txBody>
          <a:bodyPr wrap="square" rtlCol="0" anchor="ctr"/>
          <a:lstStyle/>
          <a:p>
            <a:pPr indent="0" marL="0">
              <a:buNone/>
            </a:pPr>
            <a:r>
              <a:rPr lang="en-US" sz="1050" dirty="0">
                <a:solidFill>
                  <a:srgbClr val="BBBBCC"/>
                </a:solidFill>
                <a:latin typeface="Calibri" pitchFamily="34" charset="0"/>
                <a:ea typeface="Calibri" pitchFamily="34" charset="-122"/>
                <a:cs typeface="Calibri" pitchFamily="34" charset="-120"/>
              </a:rPr>
              <a:t>32 MB</a:t>
            </a:r>
            <a:endParaRPr lang="en-US" sz="1050" dirty="0"/>
          </a:p>
        </p:txBody>
      </p:sp>
      <p:sp>
        <p:nvSpPr>
          <p:cNvPr id="22" name="Shape 20"/>
          <p:cNvSpPr/>
          <p:nvPr/>
        </p:nvSpPr>
        <p:spPr>
          <a:xfrm>
            <a:off x="5440680" y="1664208"/>
            <a:ext cx="969264" cy="457200"/>
          </a:xfrm>
          <a:prstGeom prst="rect">
            <a:avLst/>
          </a:prstGeom>
          <a:solidFill>
            <a:srgbClr val="12122A"/>
          </a:solidFill>
          <a:ln w="12700">
            <a:solidFill>
              <a:srgbClr val="2A2A4A"/>
            </a:solidFill>
            <a:prstDash val="solid"/>
          </a:ln>
        </p:spPr>
      </p:sp>
      <p:sp>
        <p:nvSpPr>
          <p:cNvPr id="23" name="Text 21"/>
          <p:cNvSpPr/>
          <p:nvPr/>
        </p:nvSpPr>
        <p:spPr>
          <a:xfrm>
            <a:off x="5532120" y="1755648"/>
            <a:ext cx="786384" cy="274320"/>
          </a:xfrm>
          <a:prstGeom prst="rect">
            <a:avLst/>
          </a:prstGeom>
          <a:noFill/>
          <a:ln/>
        </p:spPr>
        <p:txBody>
          <a:bodyPr wrap="square" rtlCol="0" anchor="ctr"/>
          <a:lstStyle/>
          <a:p>
            <a:pPr indent="0" marL="0">
              <a:buNone/>
            </a:pPr>
            <a:r>
              <a:rPr lang="en-US" sz="1050" b="1" dirty="0">
                <a:solidFill>
                  <a:srgbClr val="2ECC71"/>
                </a:solidFill>
                <a:latin typeface="Calibri" pitchFamily="34" charset="0"/>
                <a:ea typeface="Calibri" pitchFamily="34" charset="-122"/>
                <a:cs typeface="Calibri" pitchFamily="34" charset="-120"/>
              </a:rPr>
              <a:t>68%</a:t>
            </a:r>
            <a:endParaRPr lang="en-US" sz="1050" dirty="0"/>
          </a:p>
        </p:txBody>
      </p:sp>
      <p:sp>
        <p:nvSpPr>
          <p:cNvPr id="24" name="Shape 22"/>
          <p:cNvSpPr/>
          <p:nvPr/>
        </p:nvSpPr>
        <p:spPr>
          <a:xfrm>
            <a:off x="6446520" y="1664208"/>
            <a:ext cx="2706624" cy="457200"/>
          </a:xfrm>
          <a:prstGeom prst="rect">
            <a:avLst/>
          </a:prstGeom>
          <a:solidFill>
            <a:srgbClr val="12122A"/>
          </a:solidFill>
          <a:ln w="12700">
            <a:solidFill>
              <a:srgbClr val="2A2A4A"/>
            </a:solidFill>
            <a:prstDash val="solid"/>
          </a:ln>
        </p:spPr>
      </p:sp>
      <p:sp>
        <p:nvSpPr>
          <p:cNvPr id="25" name="Text 23"/>
          <p:cNvSpPr/>
          <p:nvPr/>
        </p:nvSpPr>
        <p:spPr>
          <a:xfrm>
            <a:off x="6537960" y="1755648"/>
            <a:ext cx="2523744" cy="274320"/>
          </a:xfrm>
          <a:prstGeom prst="rect">
            <a:avLst/>
          </a:prstGeom>
          <a:noFill/>
          <a:ln/>
        </p:spPr>
        <p:txBody>
          <a:bodyPr wrap="square" rtlCol="0" anchor="ctr"/>
          <a:lstStyle/>
          <a:p>
            <a:pPr indent="0" marL="0">
              <a:buNone/>
            </a:pPr>
            <a:r>
              <a:rPr lang="en-US" sz="1050" dirty="0">
                <a:solidFill>
                  <a:srgbClr val="BBBBCC"/>
                </a:solidFill>
                <a:latin typeface="Calibri" pitchFamily="34" charset="0"/>
                <a:ea typeface="Calibri" pitchFamily="34" charset="-122"/>
                <a:cs typeface="Calibri" pitchFamily="34" charset="-120"/>
              </a:rPr>
              <a:t>Genesis Array reuse + dedup</a:t>
            </a:r>
            <a:endParaRPr lang="en-US" sz="1050" dirty="0"/>
          </a:p>
        </p:txBody>
      </p:sp>
      <p:sp>
        <p:nvSpPr>
          <p:cNvPr id="26" name="Shape 24"/>
          <p:cNvSpPr/>
          <p:nvPr/>
        </p:nvSpPr>
        <p:spPr>
          <a:xfrm>
            <a:off x="411480" y="2157984"/>
            <a:ext cx="2523744" cy="457200"/>
          </a:xfrm>
          <a:prstGeom prst="rect">
            <a:avLst/>
          </a:prstGeom>
          <a:solidFill>
            <a:srgbClr val="16213E"/>
          </a:solidFill>
          <a:ln w="12700">
            <a:solidFill>
              <a:srgbClr val="2A2A4A"/>
            </a:solidFill>
            <a:prstDash val="solid"/>
          </a:ln>
        </p:spPr>
      </p:sp>
      <p:sp>
        <p:nvSpPr>
          <p:cNvPr id="27" name="Text 25"/>
          <p:cNvSpPr/>
          <p:nvPr/>
        </p:nvSpPr>
        <p:spPr>
          <a:xfrm>
            <a:off x="502920" y="2249424"/>
            <a:ext cx="2340864" cy="27432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Repetitive session data</a:t>
            </a:r>
            <a:endParaRPr lang="en-US" sz="1050" dirty="0"/>
          </a:p>
        </p:txBody>
      </p:sp>
      <p:sp>
        <p:nvSpPr>
          <p:cNvPr id="28" name="Shape 26"/>
          <p:cNvSpPr/>
          <p:nvPr/>
        </p:nvSpPr>
        <p:spPr>
          <a:xfrm>
            <a:off x="2971800" y="2157984"/>
            <a:ext cx="1335024" cy="457200"/>
          </a:xfrm>
          <a:prstGeom prst="rect">
            <a:avLst/>
          </a:prstGeom>
          <a:solidFill>
            <a:srgbClr val="16213E"/>
          </a:solidFill>
          <a:ln w="12700">
            <a:solidFill>
              <a:srgbClr val="2A2A4A"/>
            </a:solidFill>
            <a:prstDash val="solid"/>
          </a:ln>
        </p:spPr>
      </p:sp>
      <p:sp>
        <p:nvSpPr>
          <p:cNvPr id="29" name="Text 27"/>
          <p:cNvSpPr/>
          <p:nvPr/>
        </p:nvSpPr>
        <p:spPr>
          <a:xfrm>
            <a:off x="3063240" y="2249424"/>
            <a:ext cx="1152144" cy="274320"/>
          </a:xfrm>
          <a:prstGeom prst="rect">
            <a:avLst/>
          </a:prstGeom>
          <a:noFill/>
          <a:ln/>
        </p:spPr>
        <p:txBody>
          <a:bodyPr wrap="square" rtlCol="0" anchor="ctr"/>
          <a:lstStyle/>
          <a:p>
            <a:pPr indent="0" marL="0">
              <a:buNone/>
            </a:pPr>
            <a:r>
              <a:rPr lang="en-US" sz="1050" dirty="0">
                <a:solidFill>
                  <a:srgbClr val="BBBBCC"/>
                </a:solidFill>
                <a:latin typeface="Calibri" pitchFamily="34" charset="0"/>
                <a:ea typeface="Calibri" pitchFamily="34" charset="-122"/>
                <a:cs typeface="Calibri" pitchFamily="34" charset="-120"/>
              </a:rPr>
              <a:t>100 MB</a:t>
            </a:r>
            <a:endParaRPr lang="en-US" sz="1050" dirty="0"/>
          </a:p>
        </p:txBody>
      </p:sp>
      <p:sp>
        <p:nvSpPr>
          <p:cNvPr id="30" name="Shape 28"/>
          <p:cNvSpPr/>
          <p:nvPr/>
        </p:nvSpPr>
        <p:spPr>
          <a:xfrm>
            <a:off x="4343400" y="2157984"/>
            <a:ext cx="1060704" cy="457200"/>
          </a:xfrm>
          <a:prstGeom prst="rect">
            <a:avLst/>
          </a:prstGeom>
          <a:solidFill>
            <a:srgbClr val="16213E"/>
          </a:solidFill>
          <a:ln w="12700">
            <a:solidFill>
              <a:srgbClr val="2A2A4A"/>
            </a:solidFill>
            <a:prstDash val="solid"/>
          </a:ln>
        </p:spPr>
      </p:sp>
      <p:sp>
        <p:nvSpPr>
          <p:cNvPr id="31" name="Text 29"/>
          <p:cNvSpPr/>
          <p:nvPr/>
        </p:nvSpPr>
        <p:spPr>
          <a:xfrm>
            <a:off x="4434840" y="2249424"/>
            <a:ext cx="877824" cy="274320"/>
          </a:xfrm>
          <a:prstGeom prst="rect">
            <a:avLst/>
          </a:prstGeom>
          <a:noFill/>
          <a:ln/>
        </p:spPr>
        <p:txBody>
          <a:bodyPr wrap="square" rtlCol="0" anchor="ctr"/>
          <a:lstStyle/>
          <a:p>
            <a:pPr indent="0" marL="0">
              <a:buNone/>
            </a:pPr>
            <a:r>
              <a:rPr lang="en-US" sz="1050" dirty="0">
                <a:solidFill>
                  <a:srgbClr val="BBBBCC"/>
                </a:solidFill>
                <a:latin typeface="Calibri" pitchFamily="34" charset="0"/>
                <a:ea typeface="Calibri" pitchFamily="34" charset="-122"/>
                <a:cs typeface="Calibri" pitchFamily="34" charset="-120"/>
              </a:rPr>
              <a:t>22 MB</a:t>
            </a:r>
            <a:endParaRPr lang="en-US" sz="1050" dirty="0"/>
          </a:p>
        </p:txBody>
      </p:sp>
      <p:sp>
        <p:nvSpPr>
          <p:cNvPr id="32" name="Shape 30"/>
          <p:cNvSpPr/>
          <p:nvPr/>
        </p:nvSpPr>
        <p:spPr>
          <a:xfrm>
            <a:off x="5440680" y="2157984"/>
            <a:ext cx="969264" cy="457200"/>
          </a:xfrm>
          <a:prstGeom prst="rect">
            <a:avLst/>
          </a:prstGeom>
          <a:solidFill>
            <a:srgbClr val="16213E"/>
          </a:solidFill>
          <a:ln w="12700">
            <a:solidFill>
              <a:srgbClr val="2A2A4A"/>
            </a:solidFill>
            <a:prstDash val="solid"/>
          </a:ln>
        </p:spPr>
      </p:sp>
      <p:sp>
        <p:nvSpPr>
          <p:cNvPr id="33" name="Text 31"/>
          <p:cNvSpPr/>
          <p:nvPr/>
        </p:nvSpPr>
        <p:spPr>
          <a:xfrm>
            <a:off x="5532120" y="2249424"/>
            <a:ext cx="786384" cy="274320"/>
          </a:xfrm>
          <a:prstGeom prst="rect">
            <a:avLst/>
          </a:prstGeom>
          <a:noFill/>
          <a:ln/>
        </p:spPr>
        <p:txBody>
          <a:bodyPr wrap="square" rtlCol="0" anchor="ctr"/>
          <a:lstStyle/>
          <a:p>
            <a:pPr indent="0" marL="0">
              <a:buNone/>
            </a:pPr>
            <a:r>
              <a:rPr lang="en-US" sz="1050" b="1" dirty="0">
                <a:solidFill>
                  <a:srgbClr val="2ECC71"/>
                </a:solidFill>
                <a:latin typeface="Calibri" pitchFamily="34" charset="0"/>
                <a:ea typeface="Calibri" pitchFamily="34" charset="-122"/>
                <a:cs typeface="Calibri" pitchFamily="34" charset="-120"/>
              </a:rPr>
              <a:t>78%</a:t>
            </a:r>
            <a:endParaRPr lang="en-US" sz="1050" dirty="0"/>
          </a:p>
        </p:txBody>
      </p:sp>
      <p:sp>
        <p:nvSpPr>
          <p:cNvPr id="34" name="Shape 32"/>
          <p:cNvSpPr/>
          <p:nvPr/>
        </p:nvSpPr>
        <p:spPr>
          <a:xfrm>
            <a:off x="6446520" y="2157984"/>
            <a:ext cx="2706624" cy="457200"/>
          </a:xfrm>
          <a:prstGeom prst="rect">
            <a:avLst/>
          </a:prstGeom>
          <a:solidFill>
            <a:srgbClr val="16213E"/>
          </a:solidFill>
          <a:ln w="12700">
            <a:solidFill>
              <a:srgbClr val="2A2A4A"/>
            </a:solidFill>
            <a:prstDash val="solid"/>
          </a:ln>
        </p:spPr>
      </p:sp>
      <p:sp>
        <p:nvSpPr>
          <p:cNvPr id="35" name="Text 33"/>
          <p:cNvSpPr/>
          <p:nvPr/>
        </p:nvSpPr>
        <p:spPr>
          <a:xfrm>
            <a:off x="6537960" y="2249424"/>
            <a:ext cx="2523744" cy="274320"/>
          </a:xfrm>
          <a:prstGeom prst="rect">
            <a:avLst/>
          </a:prstGeom>
          <a:noFill/>
          <a:ln/>
        </p:spPr>
        <p:txBody>
          <a:bodyPr wrap="square" rtlCol="0" anchor="ctr"/>
          <a:lstStyle/>
          <a:p>
            <a:pPr indent="0" marL="0">
              <a:buNone/>
            </a:pPr>
            <a:r>
              <a:rPr lang="en-US" sz="1050" dirty="0">
                <a:solidFill>
                  <a:srgbClr val="BBBBCC"/>
                </a:solidFill>
                <a:latin typeface="Calibri" pitchFamily="34" charset="0"/>
                <a:ea typeface="Calibri" pitchFamily="34" charset="-122"/>
                <a:cs typeface="Calibri" pitchFamily="34" charset="-120"/>
              </a:rPr>
              <a:t>Superposition + symbolic refs</a:t>
            </a:r>
            <a:endParaRPr lang="en-US" sz="1050" dirty="0"/>
          </a:p>
        </p:txBody>
      </p:sp>
      <p:sp>
        <p:nvSpPr>
          <p:cNvPr id="36" name="Shape 34"/>
          <p:cNvSpPr/>
          <p:nvPr/>
        </p:nvSpPr>
        <p:spPr>
          <a:xfrm>
            <a:off x="411480" y="2651760"/>
            <a:ext cx="2523744" cy="457200"/>
          </a:xfrm>
          <a:prstGeom prst="rect">
            <a:avLst/>
          </a:prstGeom>
          <a:solidFill>
            <a:srgbClr val="12122A"/>
          </a:solidFill>
          <a:ln w="12700">
            <a:solidFill>
              <a:srgbClr val="2A2A4A"/>
            </a:solidFill>
            <a:prstDash val="solid"/>
          </a:ln>
        </p:spPr>
      </p:sp>
      <p:sp>
        <p:nvSpPr>
          <p:cNvPr id="37" name="Text 35"/>
          <p:cNvSpPr/>
          <p:nvPr/>
        </p:nvSpPr>
        <p:spPr>
          <a:xfrm>
            <a:off x="502920" y="2743200"/>
            <a:ext cx="2340864" cy="27432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Long-term semantic memory</a:t>
            </a:r>
            <a:endParaRPr lang="en-US" sz="1050" dirty="0"/>
          </a:p>
        </p:txBody>
      </p:sp>
      <p:sp>
        <p:nvSpPr>
          <p:cNvPr id="38" name="Shape 36"/>
          <p:cNvSpPr/>
          <p:nvPr/>
        </p:nvSpPr>
        <p:spPr>
          <a:xfrm>
            <a:off x="2971800" y="2651760"/>
            <a:ext cx="1335024" cy="457200"/>
          </a:xfrm>
          <a:prstGeom prst="rect">
            <a:avLst/>
          </a:prstGeom>
          <a:solidFill>
            <a:srgbClr val="12122A"/>
          </a:solidFill>
          <a:ln w="12700">
            <a:solidFill>
              <a:srgbClr val="2A2A4A"/>
            </a:solidFill>
            <a:prstDash val="solid"/>
          </a:ln>
        </p:spPr>
      </p:sp>
      <p:sp>
        <p:nvSpPr>
          <p:cNvPr id="39" name="Text 37"/>
          <p:cNvSpPr/>
          <p:nvPr/>
        </p:nvSpPr>
        <p:spPr>
          <a:xfrm>
            <a:off x="3063240" y="2743200"/>
            <a:ext cx="1152144" cy="274320"/>
          </a:xfrm>
          <a:prstGeom prst="rect">
            <a:avLst/>
          </a:prstGeom>
          <a:noFill/>
          <a:ln/>
        </p:spPr>
        <p:txBody>
          <a:bodyPr wrap="square" rtlCol="0" anchor="ctr"/>
          <a:lstStyle/>
          <a:p>
            <a:pPr indent="0" marL="0">
              <a:buNone/>
            </a:pPr>
            <a:r>
              <a:rPr lang="en-US" sz="1050" dirty="0">
                <a:solidFill>
                  <a:srgbClr val="BBBBCC"/>
                </a:solidFill>
                <a:latin typeface="Calibri" pitchFamily="34" charset="0"/>
                <a:ea typeface="Calibri" pitchFamily="34" charset="-122"/>
                <a:cs typeface="Calibri" pitchFamily="34" charset="-120"/>
              </a:rPr>
              <a:t>100 MB</a:t>
            </a:r>
            <a:endParaRPr lang="en-US" sz="1050" dirty="0"/>
          </a:p>
        </p:txBody>
      </p:sp>
      <p:sp>
        <p:nvSpPr>
          <p:cNvPr id="40" name="Shape 38"/>
          <p:cNvSpPr/>
          <p:nvPr/>
        </p:nvSpPr>
        <p:spPr>
          <a:xfrm>
            <a:off x="4343400" y="2651760"/>
            <a:ext cx="1060704" cy="457200"/>
          </a:xfrm>
          <a:prstGeom prst="rect">
            <a:avLst/>
          </a:prstGeom>
          <a:solidFill>
            <a:srgbClr val="12122A"/>
          </a:solidFill>
          <a:ln w="12700">
            <a:solidFill>
              <a:srgbClr val="2A2A4A"/>
            </a:solidFill>
            <a:prstDash val="solid"/>
          </a:ln>
        </p:spPr>
      </p:sp>
      <p:sp>
        <p:nvSpPr>
          <p:cNvPr id="41" name="Text 39"/>
          <p:cNvSpPr/>
          <p:nvPr/>
        </p:nvSpPr>
        <p:spPr>
          <a:xfrm>
            <a:off x="4434840" y="2743200"/>
            <a:ext cx="877824" cy="274320"/>
          </a:xfrm>
          <a:prstGeom prst="rect">
            <a:avLst/>
          </a:prstGeom>
          <a:noFill/>
          <a:ln/>
        </p:spPr>
        <p:txBody>
          <a:bodyPr wrap="square" rtlCol="0" anchor="ctr"/>
          <a:lstStyle/>
          <a:p>
            <a:pPr indent="0" marL="0">
              <a:buNone/>
            </a:pPr>
            <a:r>
              <a:rPr lang="en-US" sz="1050" dirty="0">
                <a:solidFill>
                  <a:srgbClr val="BBBBCC"/>
                </a:solidFill>
                <a:latin typeface="Calibri" pitchFamily="34" charset="0"/>
                <a:ea typeface="Calibri" pitchFamily="34" charset="-122"/>
                <a:cs typeface="Calibri" pitchFamily="34" charset="-120"/>
              </a:rPr>
              <a:t>55 MB</a:t>
            </a:r>
            <a:endParaRPr lang="en-US" sz="1050" dirty="0"/>
          </a:p>
        </p:txBody>
      </p:sp>
      <p:sp>
        <p:nvSpPr>
          <p:cNvPr id="42" name="Shape 40"/>
          <p:cNvSpPr/>
          <p:nvPr/>
        </p:nvSpPr>
        <p:spPr>
          <a:xfrm>
            <a:off x="5440680" y="2651760"/>
            <a:ext cx="969264" cy="457200"/>
          </a:xfrm>
          <a:prstGeom prst="rect">
            <a:avLst/>
          </a:prstGeom>
          <a:solidFill>
            <a:srgbClr val="12122A"/>
          </a:solidFill>
          <a:ln w="12700">
            <a:solidFill>
              <a:srgbClr val="2A2A4A"/>
            </a:solidFill>
            <a:prstDash val="solid"/>
          </a:ln>
        </p:spPr>
      </p:sp>
      <p:sp>
        <p:nvSpPr>
          <p:cNvPr id="43" name="Text 41"/>
          <p:cNvSpPr/>
          <p:nvPr/>
        </p:nvSpPr>
        <p:spPr>
          <a:xfrm>
            <a:off x="5532120" y="2743200"/>
            <a:ext cx="786384" cy="274320"/>
          </a:xfrm>
          <a:prstGeom prst="rect">
            <a:avLst/>
          </a:prstGeom>
          <a:noFill/>
          <a:ln/>
        </p:spPr>
        <p:txBody>
          <a:bodyPr wrap="square" rtlCol="0" anchor="ctr"/>
          <a:lstStyle/>
          <a:p>
            <a:pPr indent="0" marL="0">
              <a:buNone/>
            </a:pPr>
            <a:r>
              <a:rPr lang="en-US" sz="1050" b="1" dirty="0">
                <a:solidFill>
                  <a:srgbClr val="2ECC71"/>
                </a:solidFill>
                <a:latin typeface="Calibri" pitchFamily="34" charset="0"/>
                <a:ea typeface="Calibri" pitchFamily="34" charset="-122"/>
                <a:cs typeface="Calibri" pitchFamily="34" charset="-120"/>
              </a:rPr>
              <a:t>45%</a:t>
            </a:r>
            <a:endParaRPr lang="en-US" sz="1050" dirty="0"/>
          </a:p>
        </p:txBody>
      </p:sp>
      <p:sp>
        <p:nvSpPr>
          <p:cNvPr id="44" name="Shape 42"/>
          <p:cNvSpPr/>
          <p:nvPr/>
        </p:nvSpPr>
        <p:spPr>
          <a:xfrm>
            <a:off x="6446520" y="2651760"/>
            <a:ext cx="2706624" cy="457200"/>
          </a:xfrm>
          <a:prstGeom prst="rect">
            <a:avLst/>
          </a:prstGeom>
          <a:solidFill>
            <a:srgbClr val="12122A"/>
          </a:solidFill>
          <a:ln w="12700">
            <a:solidFill>
              <a:srgbClr val="2A2A4A"/>
            </a:solidFill>
            <a:prstDash val="solid"/>
          </a:ln>
        </p:spPr>
      </p:sp>
      <p:sp>
        <p:nvSpPr>
          <p:cNvPr id="45" name="Text 43"/>
          <p:cNvSpPr/>
          <p:nvPr/>
        </p:nvSpPr>
        <p:spPr>
          <a:xfrm>
            <a:off x="6537960" y="2743200"/>
            <a:ext cx="2523744" cy="274320"/>
          </a:xfrm>
          <a:prstGeom prst="rect">
            <a:avLst/>
          </a:prstGeom>
          <a:noFill/>
          <a:ln/>
        </p:spPr>
        <p:txBody>
          <a:bodyPr wrap="square" rtlCol="0" anchor="ctr"/>
          <a:lstStyle/>
          <a:p>
            <a:pPr indent="0" marL="0">
              <a:buNone/>
            </a:pPr>
            <a:r>
              <a:rPr lang="en-US" sz="1050" dirty="0">
                <a:solidFill>
                  <a:srgbClr val="BBBBCC"/>
                </a:solidFill>
                <a:latin typeface="Calibri" pitchFamily="34" charset="0"/>
                <a:ea typeface="Calibri" pitchFamily="34" charset="-122"/>
                <a:cs typeface="Calibri" pitchFamily="34" charset="-120"/>
              </a:rPr>
              <a:t>Graph edges replace redundant copies</a:t>
            </a:r>
            <a:endParaRPr lang="en-US" sz="1050" dirty="0"/>
          </a:p>
        </p:txBody>
      </p:sp>
      <p:sp>
        <p:nvSpPr>
          <p:cNvPr id="46" name="Shape 44"/>
          <p:cNvSpPr/>
          <p:nvPr/>
        </p:nvSpPr>
        <p:spPr>
          <a:xfrm>
            <a:off x="411480" y="3145536"/>
            <a:ext cx="2523744" cy="457200"/>
          </a:xfrm>
          <a:prstGeom prst="rect">
            <a:avLst/>
          </a:prstGeom>
          <a:solidFill>
            <a:srgbClr val="16213E"/>
          </a:solidFill>
          <a:ln w="12700">
            <a:solidFill>
              <a:srgbClr val="2A2A4A"/>
            </a:solidFill>
            <a:prstDash val="solid"/>
          </a:ln>
        </p:spPr>
      </p:sp>
      <p:sp>
        <p:nvSpPr>
          <p:cNvPr id="47" name="Text 45"/>
          <p:cNvSpPr/>
          <p:nvPr/>
        </p:nvSpPr>
        <p:spPr>
          <a:xfrm>
            <a:off x="502920" y="3236976"/>
            <a:ext cx="2340864" cy="27432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Temporal/historical data</a:t>
            </a:r>
            <a:endParaRPr lang="en-US" sz="1050" dirty="0"/>
          </a:p>
        </p:txBody>
      </p:sp>
      <p:sp>
        <p:nvSpPr>
          <p:cNvPr id="48" name="Shape 46"/>
          <p:cNvSpPr/>
          <p:nvPr/>
        </p:nvSpPr>
        <p:spPr>
          <a:xfrm>
            <a:off x="2971800" y="3145536"/>
            <a:ext cx="1335024" cy="457200"/>
          </a:xfrm>
          <a:prstGeom prst="rect">
            <a:avLst/>
          </a:prstGeom>
          <a:solidFill>
            <a:srgbClr val="16213E"/>
          </a:solidFill>
          <a:ln w="12700">
            <a:solidFill>
              <a:srgbClr val="2A2A4A"/>
            </a:solidFill>
            <a:prstDash val="solid"/>
          </a:ln>
        </p:spPr>
      </p:sp>
      <p:sp>
        <p:nvSpPr>
          <p:cNvPr id="49" name="Text 47"/>
          <p:cNvSpPr/>
          <p:nvPr/>
        </p:nvSpPr>
        <p:spPr>
          <a:xfrm>
            <a:off x="3063240" y="3236976"/>
            <a:ext cx="1152144" cy="274320"/>
          </a:xfrm>
          <a:prstGeom prst="rect">
            <a:avLst/>
          </a:prstGeom>
          <a:noFill/>
          <a:ln/>
        </p:spPr>
        <p:txBody>
          <a:bodyPr wrap="square" rtlCol="0" anchor="ctr"/>
          <a:lstStyle/>
          <a:p>
            <a:pPr indent="0" marL="0">
              <a:buNone/>
            </a:pPr>
            <a:r>
              <a:rPr lang="en-US" sz="1050" dirty="0">
                <a:solidFill>
                  <a:srgbClr val="BBBBCC"/>
                </a:solidFill>
                <a:latin typeface="Calibri" pitchFamily="34" charset="0"/>
                <a:ea typeface="Calibri" pitchFamily="34" charset="-122"/>
                <a:cs typeface="Calibri" pitchFamily="34" charset="-120"/>
              </a:rPr>
              <a:t>100 MB</a:t>
            </a:r>
            <a:endParaRPr lang="en-US" sz="1050" dirty="0"/>
          </a:p>
        </p:txBody>
      </p:sp>
      <p:sp>
        <p:nvSpPr>
          <p:cNvPr id="50" name="Shape 48"/>
          <p:cNvSpPr/>
          <p:nvPr/>
        </p:nvSpPr>
        <p:spPr>
          <a:xfrm>
            <a:off x="4343400" y="3145536"/>
            <a:ext cx="1060704" cy="457200"/>
          </a:xfrm>
          <a:prstGeom prst="rect">
            <a:avLst/>
          </a:prstGeom>
          <a:solidFill>
            <a:srgbClr val="16213E"/>
          </a:solidFill>
          <a:ln w="12700">
            <a:solidFill>
              <a:srgbClr val="2A2A4A"/>
            </a:solidFill>
            <a:prstDash val="solid"/>
          </a:ln>
        </p:spPr>
      </p:sp>
      <p:sp>
        <p:nvSpPr>
          <p:cNvPr id="51" name="Text 49"/>
          <p:cNvSpPr/>
          <p:nvPr/>
        </p:nvSpPr>
        <p:spPr>
          <a:xfrm>
            <a:off x="4434840" y="3236976"/>
            <a:ext cx="877824" cy="274320"/>
          </a:xfrm>
          <a:prstGeom prst="rect">
            <a:avLst/>
          </a:prstGeom>
          <a:noFill/>
          <a:ln/>
        </p:spPr>
        <p:txBody>
          <a:bodyPr wrap="square" rtlCol="0" anchor="ctr"/>
          <a:lstStyle/>
          <a:p>
            <a:pPr indent="0" marL="0">
              <a:buNone/>
            </a:pPr>
            <a:r>
              <a:rPr lang="en-US" sz="1050" dirty="0">
                <a:solidFill>
                  <a:srgbClr val="BBBBCC"/>
                </a:solidFill>
                <a:latin typeface="Calibri" pitchFamily="34" charset="0"/>
                <a:ea typeface="Calibri" pitchFamily="34" charset="-122"/>
                <a:cs typeface="Calibri" pitchFamily="34" charset="-120"/>
              </a:rPr>
              <a:t>28 MB</a:t>
            </a:r>
            <a:endParaRPr lang="en-US" sz="1050" dirty="0"/>
          </a:p>
        </p:txBody>
      </p:sp>
      <p:sp>
        <p:nvSpPr>
          <p:cNvPr id="52" name="Shape 50"/>
          <p:cNvSpPr/>
          <p:nvPr/>
        </p:nvSpPr>
        <p:spPr>
          <a:xfrm>
            <a:off x="5440680" y="3145536"/>
            <a:ext cx="969264" cy="457200"/>
          </a:xfrm>
          <a:prstGeom prst="rect">
            <a:avLst/>
          </a:prstGeom>
          <a:solidFill>
            <a:srgbClr val="16213E"/>
          </a:solidFill>
          <a:ln w="12700">
            <a:solidFill>
              <a:srgbClr val="2A2A4A"/>
            </a:solidFill>
            <a:prstDash val="solid"/>
          </a:ln>
        </p:spPr>
      </p:sp>
      <p:sp>
        <p:nvSpPr>
          <p:cNvPr id="53" name="Text 51"/>
          <p:cNvSpPr/>
          <p:nvPr/>
        </p:nvSpPr>
        <p:spPr>
          <a:xfrm>
            <a:off x="5532120" y="3236976"/>
            <a:ext cx="786384" cy="274320"/>
          </a:xfrm>
          <a:prstGeom prst="rect">
            <a:avLst/>
          </a:prstGeom>
          <a:noFill/>
          <a:ln/>
        </p:spPr>
        <p:txBody>
          <a:bodyPr wrap="square" rtlCol="0" anchor="ctr"/>
          <a:lstStyle/>
          <a:p>
            <a:pPr indent="0" marL="0">
              <a:buNone/>
            </a:pPr>
            <a:r>
              <a:rPr lang="en-US" sz="1050" b="1" dirty="0">
                <a:solidFill>
                  <a:srgbClr val="2ECC71"/>
                </a:solidFill>
                <a:latin typeface="Calibri" pitchFamily="34" charset="0"/>
                <a:ea typeface="Calibri" pitchFamily="34" charset="-122"/>
                <a:cs typeface="Calibri" pitchFamily="34" charset="-120"/>
              </a:rPr>
              <a:t>72%</a:t>
            </a:r>
            <a:endParaRPr lang="en-US" sz="1050" dirty="0"/>
          </a:p>
        </p:txBody>
      </p:sp>
      <p:sp>
        <p:nvSpPr>
          <p:cNvPr id="54" name="Shape 52"/>
          <p:cNvSpPr/>
          <p:nvPr/>
        </p:nvSpPr>
        <p:spPr>
          <a:xfrm>
            <a:off x="6446520" y="3145536"/>
            <a:ext cx="2706624" cy="457200"/>
          </a:xfrm>
          <a:prstGeom prst="rect">
            <a:avLst/>
          </a:prstGeom>
          <a:solidFill>
            <a:srgbClr val="16213E"/>
          </a:solidFill>
          <a:ln w="12700">
            <a:solidFill>
              <a:srgbClr val="2A2A4A"/>
            </a:solidFill>
            <a:prstDash val="solid"/>
          </a:ln>
        </p:spPr>
      </p:sp>
      <p:sp>
        <p:nvSpPr>
          <p:cNvPr id="55" name="Text 53"/>
          <p:cNvSpPr/>
          <p:nvPr/>
        </p:nvSpPr>
        <p:spPr>
          <a:xfrm>
            <a:off x="6537960" y="3236976"/>
            <a:ext cx="2523744" cy="274320"/>
          </a:xfrm>
          <a:prstGeom prst="rect">
            <a:avLst/>
          </a:prstGeom>
          <a:noFill/>
          <a:ln/>
        </p:spPr>
        <p:txBody>
          <a:bodyPr wrap="square" rtlCol="0" anchor="ctr"/>
          <a:lstStyle/>
          <a:p>
            <a:pPr indent="0" marL="0">
              <a:buNone/>
            </a:pPr>
            <a:r>
              <a:rPr lang="en-US" sz="1050" dirty="0">
                <a:solidFill>
                  <a:srgbClr val="BBBBCC"/>
                </a:solidFill>
                <a:latin typeface="Calibri" pitchFamily="34" charset="0"/>
                <a:ea typeface="Calibri" pitchFamily="34" charset="-122"/>
                <a:cs typeface="Calibri" pitchFamily="34" charset="-120"/>
              </a:rPr>
              <a:t>Half-life decay + archival compression</a:t>
            </a:r>
            <a:endParaRPr lang="en-US" sz="1050" dirty="0"/>
          </a:p>
        </p:txBody>
      </p:sp>
      <p:sp>
        <p:nvSpPr>
          <p:cNvPr id="56" name="Shape 54"/>
          <p:cNvSpPr/>
          <p:nvPr/>
        </p:nvSpPr>
        <p:spPr>
          <a:xfrm>
            <a:off x="411480" y="3639312"/>
            <a:ext cx="2523744" cy="457200"/>
          </a:xfrm>
          <a:prstGeom prst="rect">
            <a:avLst/>
          </a:prstGeom>
          <a:solidFill>
            <a:srgbClr val="12122A"/>
          </a:solidFill>
          <a:ln w="12700">
            <a:solidFill>
              <a:srgbClr val="2A2A4A"/>
            </a:solidFill>
            <a:prstDash val="solid"/>
          </a:ln>
        </p:spPr>
      </p:sp>
      <p:sp>
        <p:nvSpPr>
          <p:cNvPr id="57" name="Text 55"/>
          <p:cNvSpPr/>
          <p:nvPr/>
        </p:nvSpPr>
        <p:spPr>
          <a:xfrm>
            <a:off x="502920" y="3730752"/>
            <a:ext cx="2340864" cy="27432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Multimedia references</a:t>
            </a:r>
            <a:endParaRPr lang="en-US" sz="1050" dirty="0"/>
          </a:p>
        </p:txBody>
      </p:sp>
      <p:sp>
        <p:nvSpPr>
          <p:cNvPr id="58" name="Shape 56"/>
          <p:cNvSpPr/>
          <p:nvPr/>
        </p:nvSpPr>
        <p:spPr>
          <a:xfrm>
            <a:off x="2971800" y="3639312"/>
            <a:ext cx="1335024" cy="457200"/>
          </a:xfrm>
          <a:prstGeom prst="rect">
            <a:avLst/>
          </a:prstGeom>
          <a:solidFill>
            <a:srgbClr val="12122A"/>
          </a:solidFill>
          <a:ln w="12700">
            <a:solidFill>
              <a:srgbClr val="2A2A4A"/>
            </a:solidFill>
            <a:prstDash val="solid"/>
          </a:ln>
        </p:spPr>
      </p:sp>
      <p:sp>
        <p:nvSpPr>
          <p:cNvPr id="59" name="Text 57"/>
          <p:cNvSpPr/>
          <p:nvPr/>
        </p:nvSpPr>
        <p:spPr>
          <a:xfrm>
            <a:off x="3063240" y="3730752"/>
            <a:ext cx="1152144" cy="274320"/>
          </a:xfrm>
          <a:prstGeom prst="rect">
            <a:avLst/>
          </a:prstGeom>
          <a:noFill/>
          <a:ln/>
        </p:spPr>
        <p:txBody>
          <a:bodyPr wrap="square" rtlCol="0" anchor="ctr"/>
          <a:lstStyle/>
          <a:p>
            <a:pPr indent="0" marL="0">
              <a:buNone/>
            </a:pPr>
            <a:r>
              <a:rPr lang="en-US" sz="1050" dirty="0">
                <a:solidFill>
                  <a:srgbClr val="BBBBCC"/>
                </a:solidFill>
                <a:latin typeface="Calibri" pitchFamily="34" charset="0"/>
                <a:ea typeface="Calibri" pitchFamily="34" charset="-122"/>
                <a:cs typeface="Calibri" pitchFamily="34" charset="-120"/>
              </a:rPr>
              <a:t>100 MB</a:t>
            </a:r>
            <a:endParaRPr lang="en-US" sz="1050" dirty="0"/>
          </a:p>
        </p:txBody>
      </p:sp>
      <p:sp>
        <p:nvSpPr>
          <p:cNvPr id="60" name="Shape 58"/>
          <p:cNvSpPr/>
          <p:nvPr/>
        </p:nvSpPr>
        <p:spPr>
          <a:xfrm>
            <a:off x="4343400" y="3639312"/>
            <a:ext cx="1060704" cy="457200"/>
          </a:xfrm>
          <a:prstGeom prst="rect">
            <a:avLst/>
          </a:prstGeom>
          <a:solidFill>
            <a:srgbClr val="12122A"/>
          </a:solidFill>
          <a:ln w="12700">
            <a:solidFill>
              <a:srgbClr val="2A2A4A"/>
            </a:solidFill>
            <a:prstDash val="solid"/>
          </a:ln>
        </p:spPr>
      </p:sp>
      <p:sp>
        <p:nvSpPr>
          <p:cNvPr id="61" name="Text 59"/>
          <p:cNvSpPr/>
          <p:nvPr/>
        </p:nvSpPr>
        <p:spPr>
          <a:xfrm>
            <a:off x="4434840" y="3730752"/>
            <a:ext cx="877824" cy="274320"/>
          </a:xfrm>
          <a:prstGeom prst="rect">
            <a:avLst/>
          </a:prstGeom>
          <a:noFill/>
          <a:ln/>
        </p:spPr>
        <p:txBody>
          <a:bodyPr wrap="square" rtlCol="0" anchor="ctr"/>
          <a:lstStyle/>
          <a:p>
            <a:pPr indent="0" marL="0">
              <a:buNone/>
            </a:pPr>
            <a:r>
              <a:rPr lang="en-US" sz="1050" dirty="0">
                <a:solidFill>
                  <a:srgbClr val="BBBBCC"/>
                </a:solidFill>
                <a:latin typeface="Calibri" pitchFamily="34" charset="0"/>
                <a:ea typeface="Calibri" pitchFamily="34" charset="-122"/>
                <a:cs typeface="Calibri" pitchFamily="34" charset="-120"/>
              </a:rPr>
              <a:t>98 MB</a:t>
            </a:r>
            <a:endParaRPr lang="en-US" sz="1050" dirty="0"/>
          </a:p>
        </p:txBody>
      </p:sp>
      <p:sp>
        <p:nvSpPr>
          <p:cNvPr id="62" name="Shape 60"/>
          <p:cNvSpPr/>
          <p:nvPr/>
        </p:nvSpPr>
        <p:spPr>
          <a:xfrm>
            <a:off x="5440680" y="3639312"/>
            <a:ext cx="969264" cy="457200"/>
          </a:xfrm>
          <a:prstGeom prst="rect">
            <a:avLst/>
          </a:prstGeom>
          <a:solidFill>
            <a:srgbClr val="12122A"/>
          </a:solidFill>
          <a:ln w="12700">
            <a:solidFill>
              <a:srgbClr val="2A2A4A"/>
            </a:solidFill>
            <a:prstDash val="solid"/>
          </a:ln>
        </p:spPr>
      </p:sp>
      <p:sp>
        <p:nvSpPr>
          <p:cNvPr id="63" name="Text 61"/>
          <p:cNvSpPr/>
          <p:nvPr/>
        </p:nvSpPr>
        <p:spPr>
          <a:xfrm>
            <a:off x="5532120" y="3730752"/>
            <a:ext cx="786384" cy="274320"/>
          </a:xfrm>
          <a:prstGeom prst="rect">
            <a:avLst/>
          </a:prstGeom>
          <a:noFill/>
          <a:ln/>
        </p:spPr>
        <p:txBody>
          <a:bodyPr wrap="square" rtlCol="0" anchor="ctr"/>
          <a:lstStyle/>
          <a:p>
            <a:pPr indent="0" marL="0">
              <a:buNone/>
            </a:pPr>
            <a:r>
              <a:rPr lang="en-US" sz="1050" b="1" dirty="0">
                <a:solidFill>
                  <a:srgbClr val="2ECC71"/>
                </a:solidFill>
                <a:latin typeface="Calibri" pitchFamily="34" charset="0"/>
                <a:ea typeface="Calibri" pitchFamily="34" charset="-122"/>
                <a:cs typeface="Calibri" pitchFamily="34" charset="-120"/>
              </a:rPr>
              <a:t>~2%</a:t>
            </a:r>
            <a:endParaRPr lang="en-US" sz="1050" dirty="0"/>
          </a:p>
        </p:txBody>
      </p:sp>
      <p:sp>
        <p:nvSpPr>
          <p:cNvPr id="64" name="Shape 62"/>
          <p:cNvSpPr/>
          <p:nvPr/>
        </p:nvSpPr>
        <p:spPr>
          <a:xfrm>
            <a:off x="6446520" y="3639312"/>
            <a:ext cx="2706624" cy="457200"/>
          </a:xfrm>
          <a:prstGeom prst="rect">
            <a:avLst/>
          </a:prstGeom>
          <a:solidFill>
            <a:srgbClr val="12122A"/>
          </a:solidFill>
          <a:ln w="12700">
            <a:solidFill>
              <a:srgbClr val="2A2A4A"/>
            </a:solidFill>
            <a:prstDash val="solid"/>
          </a:ln>
        </p:spPr>
      </p:sp>
      <p:sp>
        <p:nvSpPr>
          <p:cNvPr id="65" name="Text 63"/>
          <p:cNvSpPr/>
          <p:nvPr/>
        </p:nvSpPr>
        <p:spPr>
          <a:xfrm>
            <a:off x="6537960" y="3730752"/>
            <a:ext cx="2523744" cy="274320"/>
          </a:xfrm>
          <a:prstGeom prst="rect">
            <a:avLst/>
          </a:prstGeom>
          <a:noFill/>
          <a:ln/>
        </p:spPr>
        <p:txBody>
          <a:bodyPr wrap="square" rtlCol="0" anchor="ctr"/>
          <a:lstStyle/>
          <a:p>
            <a:pPr indent="0" marL="0">
              <a:buNone/>
            </a:pPr>
            <a:r>
              <a:rPr lang="en-US" sz="1050" dirty="0">
                <a:solidFill>
                  <a:srgbClr val="BBBBCC"/>
                </a:solidFill>
                <a:latin typeface="Calibri" pitchFamily="34" charset="0"/>
                <a:ea typeface="Calibri" pitchFamily="34" charset="-122"/>
                <a:cs typeface="Calibri" pitchFamily="34" charset="-120"/>
              </a:rPr>
              <a:t>Reference-only (external storage)</a:t>
            </a:r>
            <a:endParaRPr lang="en-US" sz="1050" dirty="0"/>
          </a:p>
        </p:txBody>
      </p:sp>
      <p:sp>
        <p:nvSpPr>
          <p:cNvPr id="66" name="Shape 64"/>
          <p:cNvSpPr/>
          <p:nvPr/>
        </p:nvSpPr>
        <p:spPr>
          <a:xfrm>
            <a:off x="411480" y="4133088"/>
            <a:ext cx="2523744" cy="457200"/>
          </a:xfrm>
          <a:prstGeom prst="rect">
            <a:avLst/>
          </a:prstGeom>
          <a:solidFill>
            <a:srgbClr val="16213E"/>
          </a:solidFill>
          <a:ln w="12700">
            <a:solidFill>
              <a:srgbClr val="2A2A4A"/>
            </a:solidFill>
            <a:prstDash val="solid"/>
          </a:ln>
        </p:spPr>
      </p:sp>
      <p:sp>
        <p:nvSpPr>
          <p:cNvPr id="67" name="Text 65"/>
          <p:cNvSpPr/>
          <p:nvPr/>
        </p:nvSpPr>
        <p:spPr>
          <a:xfrm>
            <a:off x="502920" y="4224528"/>
            <a:ext cx="2340864" cy="27432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Mixed enterprise dataset</a:t>
            </a:r>
            <a:endParaRPr lang="en-US" sz="1050" dirty="0"/>
          </a:p>
        </p:txBody>
      </p:sp>
      <p:sp>
        <p:nvSpPr>
          <p:cNvPr id="68" name="Shape 66"/>
          <p:cNvSpPr/>
          <p:nvPr/>
        </p:nvSpPr>
        <p:spPr>
          <a:xfrm>
            <a:off x="2971800" y="4133088"/>
            <a:ext cx="1335024" cy="457200"/>
          </a:xfrm>
          <a:prstGeom prst="rect">
            <a:avLst/>
          </a:prstGeom>
          <a:solidFill>
            <a:srgbClr val="16213E"/>
          </a:solidFill>
          <a:ln w="12700">
            <a:solidFill>
              <a:srgbClr val="2A2A4A"/>
            </a:solidFill>
            <a:prstDash val="solid"/>
          </a:ln>
        </p:spPr>
      </p:sp>
      <p:sp>
        <p:nvSpPr>
          <p:cNvPr id="69" name="Text 67"/>
          <p:cNvSpPr/>
          <p:nvPr/>
        </p:nvSpPr>
        <p:spPr>
          <a:xfrm>
            <a:off x="3063240" y="4224528"/>
            <a:ext cx="1152144" cy="274320"/>
          </a:xfrm>
          <a:prstGeom prst="rect">
            <a:avLst/>
          </a:prstGeom>
          <a:noFill/>
          <a:ln/>
        </p:spPr>
        <p:txBody>
          <a:bodyPr wrap="square" rtlCol="0" anchor="ctr"/>
          <a:lstStyle/>
          <a:p>
            <a:pPr indent="0" marL="0">
              <a:buNone/>
            </a:pPr>
            <a:r>
              <a:rPr lang="en-US" sz="1050" dirty="0">
                <a:solidFill>
                  <a:srgbClr val="BBBBCC"/>
                </a:solidFill>
                <a:latin typeface="Calibri" pitchFamily="34" charset="0"/>
                <a:ea typeface="Calibri" pitchFamily="34" charset="-122"/>
                <a:cs typeface="Calibri" pitchFamily="34" charset="-120"/>
              </a:rPr>
              <a:t>1 GB</a:t>
            </a:r>
            <a:endParaRPr lang="en-US" sz="1050" dirty="0"/>
          </a:p>
        </p:txBody>
      </p:sp>
      <p:sp>
        <p:nvSpPr>
          <p:cNvPr id="70" name="Shape 68"/>
          <p:cNvSpPr/>
          <p:nvPr/>
        </p:nvSpPr>
        <p:spPr>
          <a:xfrm>
            <a:off x="4343400" y="4133088"/>
            <a:ext cx="1060704" cy="457200"/>
          </a:xfrm>
          <a:prstGeom prst="rect">
            <a:avLst/>
          </a:prstGeom>
          <a:solidFill>
            <a:srgbClr val="16213E"/>
          </a:solidFill>
          <a:ln w="12700">
            <a:solidFill>
              <a:srgbClr val="2A2A4A"/>
            </a:solidFill>
            <a:prstDash val="solid"/>
          </a:ln>
        </p:spPr>
      </p:sp>
      <p:sp>
        <p:nvSpPr>
          <p:cNvPr id="71" name="Text 69"/>
          <p:cNvSpPr/>
          <p:nvPr/>
        </p:nvSpPr>
        <p:spPr>
          <a:xfrm>
            <a:off x="4434840" y="4224528"/>
            <a:ext cx="877824" cy="274320"/>
          </a:xfrm>
          <a:prstGeom prst="rect">
            <a:avLst/>
          </a:prstGeom>
          <a:noFill/>
          <a:ln/>
        </p:spPr>
        <p:txBody>
          <a:bodyPr wrap="square" rtlCol="0" anchor="ctr"/>
          <a:lstStyle/>
          <a:p>
            <a:pPr indent="0" marL="0">
              <a:buNone/>
            </a:pPr>
            <a:r>
              <a:rPr lang="en-US" sz="1050" dirty="0">
                <a:solidFill>
                  <a:srgbClr val="BBBBCC"/>
                </a:solidFill>
                <a:latin typeface="Calibri" pitchFamily="34" charset="0"/>
                <a:ea typeface="Calibri" pitchFamily="34" charset="-122"/>
                <a:cs typeface="Calibri" pitchFamily="34" charset="-120"/>
              </a:rPr>
              <a:t>420 MB</a:t>
            </a:r>
            <a:endParaRPr lang="en-US" sz="1050" dirty="0"/>
          </a:p>
        </p:txBody>
      </p:sp>
      <p:sp>
        <p:nvSpPr>
          <p:cNvPr id="72" name="Shape 70"/>
          <p:cNvSpPr/>
          <p:nvPr/>
        </p:nvSpPr>
        <p:spPr>
          <a:xfrm>
            <a:off x="5440680" y="4133088"/>
            <a:ext cx="969264" cy="457200"/>
          </a:xfrm>
          <a:prstGeom prst="rect">
            <a:avLst/>
          </a:prstGeom>
          <a:solidFill>
            <a:srgbClr val="16213E"/>
          </a:solidFill>
          <a:ln w="12700">
            <a:solidFill>
              <a:srgbClr val="2A2A4A"/>
            </a:solidFill>
            <a:prstDash val="solid"/>
          </a:ln>
        </p:spPr>
      </p:sp>
      <p:sp>
        <p:nvSpPr>
          <p:cNvPr id="73" name="Text 71"/>
          <p:cNvSpPr/>
          <p:nvPr/>
        </p:nvSpPr>
        <p:spPr>
          <a:xfrm>
            <a:off x="5532120" y="4224528"/>
            <a:ext cx="786384" cy="274320"/>
          </a:xfrm>
          <a:prstGeom prst="rect">
            <a:avLst/>
          </a:prstGeom>
          <a:noFill/>
          <a:ln/>
        </p:spPr>
        <p:txBody>
          <a:bodyPr wrap="square" rtlCol="0" anchor="ctr"/>
          <a:lstStyle/>
          <a:p>
            <a:pPr indent="0" marL="0">
              <a:buNone/>
            </a:pPr>
            <a:r>
              <a:rPr lang="en-US" sz="1050" b="1" dirty="0">
                <a:solidFill>
                  <a:srgbClr val="2ECC71"/>
                </a:solidFill>
                <a:latin typeface="Calibri" pitchFamily="34" charset="0"/>
                <a:ea typeface="Calibri" pitchFamily="34" charset="-122"/>
                <a:cs typeface="Calibri" pitchFamily="34" charset="-120"/>
              </a:rPr>
              <a:t>58%</a:t>
            </a:r>
            <a:endParaRPr lang="en-US" sz="1050" dirty="0"/>
          </a:p>
        </p:txBody>
      </p:sp>
      <p:sp>
        <p:nvSpPr>
          <p:cNvPr id="74" name="Shape 72"/>
          <p:cNvSpPr/>
          <p:nvPr/>
        </p:nvSpPr>
        <p:spPr>
          <a:xfrm>
            <a:off x="6446520" y="4133088"/>
            <a:ext cx="2706624" cy="457200"/>
          </a:xfrm>
          <a:prstGeom prst="rect">
            <a:avLst/>
          </a:prstGeom>
          <a:solidFill>
            <a:srgbClr val="16213E"/>
          </a:solidFill>
          <a:ln w="12700">
            <a:solidFill>
              <a:srgbClr val="2A2A4A"/>
            </a:solidFill>
            <a:prstDash val="solid"/>
          </a:ln>
        </p:spPr>
      </p:sp>
      <p:sp>
        <p:nvSpPr>
          <p:cNvPr id="75" name="Text 73"/>
          <p:cNvSpPr/>
          <p:nvPr/>
        </p:nvSpPr>
        <p:spPr>
          <a:xfrm>
            <a:off x="6537960" y="4224528"/>
            <a:ext cx="2523744" cy="274320"/>
          </a:xfrm>
          <a:prstGeom prst="rect">
            <a:avLst/>
          </a:prstGeom>
          <a:noFill/>
          <a:ln/>
        </p:spPr>
        <p:txBody>
          <a:bodyPr wrap="square" rtlCol="0" anchor="ctr"/>
          <a:lstStyle/>
          <a:p>
            <a:pPr indent="0" marL="0">
              <a:buNone/>
            </a:pPr>
            <a:r>
              <a:rPr lang="en-US" sz="1050" dirty="0">
                <a:solidFill>
                  <a:srgbClr val="BBBBCC"/>
                </a:solidFill>
                <a:latin typeface="Calibri" pitchFamily="34" charset="0"/>
                <a:ea typeface="Calibri" pitchFamily="34" charset="-122"/>
                <a:cs typeface="Calibri" pitchFamily="34" charset="-120"/>
              </a:rPr>
              <a:t>Combined MGKS optimization</a:t>
            </a:r>
            <a:endParaRPr lang="en-US" sz="1050" dirty="0"/>
          </a:p>
        </p:txBody>
      </p:sp>
      <p:sp>
        <p:nvSpPr>
          <p:cNvPr id="76" name="Text 74"/>
          <p:cNvSpPr/>
          <p:nvPr/>
        </p:nvSpPr>
        <p:spPr>
          <a:xfrm>
            <a:off x="411480" y="4736592"/>
            <a:ext cx="8321040" cy="274320"/>
          </a:xfrm>
          <a:prstGeom prst="rect">
            <a:avLst/>
          </a:prstGeom>
          <a:noFill/>
          <a:ln/>
        </p:spPr>
        <p:txBody>
          <a:bodyPr wrap="square" rtlCol="0" anchor="ctr"/>
          <a:lstStyle/>
          <a:p>
            <a:pPr indent="0" marL="0">
              <a:buNone/>
            </a:pPr>
            <a:r>
              <a:rPr lang="en-US" sz="750" i="1" dirty="0">
                <a:solidFill>
                  <a:srgbClr val="8888AA"/>
                </a:solidFill>
                <a:latin typeface="Calibri" pitchFamily="34" charset="0"/>
                <a:ea typeface="Calibri" pitchFamily="34" charset="-122"/>
                <a:cs typeface="Calibri" pitchFamily="34" charset="-120"/>
              </a:rPr>
              <a:t>Note: Estimates based on structural analysis of MGKS genesis array reuse, embedding deduplication, graph edge compression, and temporal decay mechanics. Random/entropy-maximized data sees minimal gains. Gains scale with relational density.</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3EE"/>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A84C"/>
          </a:solidFill>
          <a:ln w="12700">
            <a:solidFill>
              <a:srgbClr val="C9A84C"/>
            </a:solidFill>
            <a:prstDash val="solid"/>
          </a:ln>
        </p:spPr>
      </p:sp>
      <p:sp>
        <p:nvSpPr>
          <p:cNvPr id="3" name="Shape 1"/>
          <p:cNvSpPr/>
          <p:nvPr/>
        </p:nvSpPr>
        <p:spPr>
          <a:xfrm>
            <a:off x="0" y="5065776"/>
            <a:ext cx="9144000" cy="73152"/>
          </a:xfrm>
          <a:prstGeom prst="rect">
            <a:avLst/>
          </a:prstGeom>
          <a:solidFill>
            <a:srgbClr val="1A1A2E"/>
          </a:solidFill>
          <a:ln w="12700">
            <a:solidFill>
              <a:srgbClr val="1A1A2E"/>
            </a:solidFill>
            <a:prstDash val="solid"/>
          </a:ln>
        </p:spPr>
      </p:sp>
      <p:sp>
        <p:nvSpPr>
          <p:cNvPr id="4" name="Text 2"/>
          <p:cNvSpPr/>
          <p:nvPr/>
        </p:nvSpPr>
        <p:spPr>
          <a:xfrm>
            <a:off x="457200" y="128016"/>
            <a:ext cx="8229600" cy="201168"/>
          </a:xfrm>
          <a:prstGeom prst="rect">
            <a:avLst/>
          </a:prstGeom>
          <a:noFill/>
          <a:ln/>
        </p:spPr>
        <p:txBody>
          <a:bodyPr wrap="square" rtlCol="0" anchor="ctr"/>
          <a:lstStyle/>
          <a:p>
            <a:pPr algn="l" indent="0" marL="0">
              <a:buNone/>
            </a:pPr>
            <a:r>
              <a:rPr lang="en-US" sz="800" b="1" spc="600" kern="0" dirty="0">
                <a:solidFill>
                  <a:srgbClr val="16213E"/>
                </a:solidFill>
                <a:latin typeface="Calibri" pitchFamily="34" charset="0"/>
                <a:ea typeface="Calibri" pitchFamily="34" charset="-122"/>
                <a:cs typeface="Calibri" pitchFamily="34" charset="-120"/>
              </a:rPr>
              <a:t>STORAGE ENHANCEMENT: TECHNICAL BASIS</a:t>
            </a:r>
            <a:endParaRPr lang="en-US" sz="800" dirty="0"/>
          </a:p>
        </p:txBody>
      </p:sp>
      <p:sp>
        <p:nvSpPr>
          <p:cNvPr id="5" name="Text 3"/>
          <p:cNvSpPr/>
          <p:nvPr/>
        </p:nvSpPr>
        <p:spPr>
          <a:xfrm>
            <a:off x="502920" y="438912"/>
            <a:ext cx="8138160" cy="640080"/>
          </a:xfrm>
          <a:prstGeom prst="rect">
            <a:avLst/>
          </a:prstGeom>
          <a:noFill/>
          <a:ln/>
        </p:spPr>
        <p:txBody>
          <a:bodyPr wrap="square" lIns="0" tIns="0" rIns="0" bIns="0" rtlCol="0" anchor="ctr"/>
          <a:lstStyle/>
          <a:p>
            <a:pPr algn="l" indent="0" marL="0">
              <a:buNone/>
            </a:pPr>
            <a:r>
              <a:rPr lang="en-US" sz="2800" b="1" dirty="0">
                <a:solidFill>
                  <a:srgbClr val="1A1A2E"/>
                </a:solidFill>
                <a:latin typeface="Georgia" pitchFamily="34" charset="0"/>
                <a:ea typeface="Georgia" pitchFamily="34" charset="-122"/>
                <a:cs typeface="Georgia" pitchFamily="34" charset="-120"/>
              </a:rPr>
              <a:t>How MGKS Achieves These Gains</a:t>
            </a:r>
            <a:endParaRPr lang="en-US" sz="2800" dirty="0"/>
          </a:p>
        </p:txBody>
      </p:sp>
      <p:sp>
        <p:nvSpPr>
          <p:cNvPr id="6" name="Shape 4"/>
          <p:cNvSpPr/>
          <p:nvPr/>
        </p:nvSpPr>
        <p:spPr>
          <a:xfrm>
            <a:off x="411480" y="1188720"/>
            <a:ext cx="4114800" cy="1572768"/>
          </a:xfrm>
          <a:prstGeom prst="rect">
            <a:avLst/>
          </a:prstGeom>
          <a:solidFill>
            <a:srgbClr val="FFFFFF"/>
          </a:solidFill>
          <a:ln w="12700">
            <a:solidFill>
              <a:srgbClr val="DDDDCC"/>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411480" y="1188720"/>
            <a:ext cx="914400" cy="1572768"/>
          </a:xfrm>
          <a:prstGeom prst="rect">
            <a:avLst/>
          </a:prstGeom>
          <a:solidFill>
            <a:srgbClr val="1A1A2E"/>
          </a:solidFill>
          <a:ln w="12700">
            <a:solidFill>
              <a:srgbClr val="1A1A2E"/>
            </a:solidFill>
            <a:prstDash val="solid"/>
          </a:ln>
        </p:spPr>
      </p:sp>
      <p:sp>
        <p:nvSpPr>
          <p:cNvPr id="8" name="Text 6"/>
          <p:cNvSpPr/>
          <p:nvPr/>
        </p:nvSpPr>
        <p:spPr>
          <a:xfrm>
            <a:off x="411480" y="1691640"/>
            <a:ext cx="914400" cy="594360"/>
          </a:xfrm>
          <a:prstGeom prst="rect">
            <a:avLst/>
          </a:prstGeom>
          <a:noFill/>
          <a:ln/>
        </p:spPr>
        <p:txBody>
          <a:bodyPr wrap="square" lIns="0" tIns="0" rIns="0" bIns="0" rtlCol="0" anchor="ctr"/>
          <a:lstStyle/>
          <a:p>
            <a:pPr algn="ctr" indent="0" marL="0">
              <a:buNone/>
            </a:pPr>
            <a:r>
              <a:rPr lang="en-US" sz="2400" b="1" dirty="0">
                <a:solidFill>
                  <a:srgbClr val="C9A84C"/>
                </a:solidFill>
                <a:latin typeface="Georgia" pitchFamily="34" charset="0"/>
                <a:ea typeface="Georgia" pitchFamily="34" charset="-122"/>
                <a:cs typeface="Georgia" pitchFamily="34" charset="-120"/>
              </a:rPr>
              <a:t>68%</a:t>
            </a:r>
            <a:endParaRPr lang="en-US" sz="2400" dirty="0"/>
          </a:p>
        </p:txBody>
      </p:sp>
      <p:sp>
        <p:nvSpPr>
          <p:cNvPr id="9" name="Text 7"/>
          <p:cNvSpPr/>
          <p:nvPr/>
        </p:nvSpPr>
        <p:spPr>
          <a:xfrm>
            <a:off x="411480" y="2286000"/>
            <a:ext cx="914400" cy="274320"/>
          </a:xfrm>
          <a:prstGeom prst="rect">
            <a:avLst/>
          </a:prstGeom>
          <a:noFill/>
          <a:ln/>
        </p:spPr>
        <p:txBody>
          <a:bodyPr wrap="square" rtlCol="0" anchor="ctr"/>
          <a:lstStyle/>
          <a:p>
            <a:pPr algn="ctr" indent="0" marL="0">
              <a:buNone/>
            </a:pPr>
            <a:r>
              <a:rPr lang="en-US" sz="750" dirty="0">
                <a:solidFill>
                  <a:srgbClr val="8888AA"/>
                </a:solidFill>
              </a:rPr>
              <a:t>avg gain</a:t>
            </a:r>
            <a:endParaRPr lang="en-US" sz="750" dirty="0"/>
          </a:p>
        </p:txBody>
      </p:sp>
      <p:sp>
        <p:nvSpPr>
          <p:cNvPr id="10" name="Text 8"/>
          <p:cNvSpPr/>
          <p:nvPr/>
        </p:nvSpPr>
        <p:spPr>
          <a:xfrm>
            <a:off x="1417320" y="1280160"/>
            <a:ext cx="2999232" cy="274320"/>
          </a:xfrm>
          <a:prstGeom prst="rect">
            <a:avLst/>
          </a:prstGeom>
          <a:noFill/>
          <a:ln/>
        </p:spPr>
        <p:txBody>
          <a:bodyPr wrap="square" lIns="0" tIns="0" rIns="0" bIns="0" rtlCol="0" anchor="ctr"/>
          <a:lstStyle/>
          <a:p>
            <a:pPr indent="0" marL="0">
              <a:buNone/>
            </a:pPr>
            <a:r>
              <a:rPr lang="en-US" sz="1150" b="1" dirty="0">
                <a:solidFill>
                  <a:srgbClr val="1A1A2E"/>
                </a:solidFill>
                <a:latin typeface="Georgia" pitchFamily="34" charset="0"/>
                <a:ea typeface="Georgia" pitchFamily="34" charset="-122"/>
                <a:cs typeface="Georgia" pitchFamily="34" charset="-120"/>
              </a:rPr>
              <a:t>Genesis Array Compression</a:t>
            </a:r>
            <a:endParaRPr lang="en-US" sz="1150" dirty="0"/>
          </a:p>
        </p:txBody>
      </p:sp>
      <p:sp>
        <p:nvSpPr>
          <p:cNvPr id="11" name="Text 9"/>
          <p:cNvSpPr/>
          <p:nvPr/>
        </p:nvSpPr>
        <p:spPr>
          <a:xfrm>
            <a:off x="1417320" y="1591056"/>
            <a:ext cx="2999232" cy="1051560"/>
          </a:xfrm>
          <a:prstGeom prst="rect">
            <a:avLst/>
          </a:prstGeom>
          <a:noFill/>
          <a:ln/>
        </p:spPr>
        <p:txBody>
          <a:bodyPr wrap="square" rtlCol="0" anchor="t"/>
          <a:lstStyle/>
          <a:p>
            <a:pPr indent="0" marL="0">
              <a:buNone/>
            </a:pPr>
            <a:r>
              <a:rPr lang="en-US" sz="950" dirty="0">
                <a:solidFill>
                  <a:srgbClr val="444455"/>
                </a:solidFill>
                <a:latin typeface="Calibri" pitchFamily="34" charset="0"/>
                <a:ea typeface="Calibri" pitchFamily="34" charset="-122"/>
                <a:cs typeface="Calibri" pitchFamily="34" charset="-120"/>
              </a:rPr>
              <a:t>Every glyph references a schema template by ID rather than carrying its full structure definition. Across 10,000 glyphs of the same type, the structure definition is stored once. Reduction scales linearly with glyph count per genesis type.</a:t>
            </a:r>
            <a:endParaRPr lang="en-US" sz="950" dirty="0"/>
          </a:p>
        </p:txBody>
      </p:sp>
      <p:sp>
        <p:nvSpPr>
          <p:cNvPr id="12" name="Shape 10"/>
          <p:cNvSpPr/>
          <p:nvPr/>
        </p:nvSpPr>
        <p:spPr>
          <a:xfrm>
            <a:off x="4754880" y="1188720"/>
            <a:ext cx="4114800" cy="1572768"/>
          </a:xfrm>
          <a:prstGeom prst="rect">
            <a:avLst/>
          </a:prstGeom>
          <a:solidFill>
            <a:srgbClr val="FFFFFF"/>
          </a:solidFill>
          <a:ln w="12700">
            <a:solidFill>
              <a:srgbClr val="DDDDCC"/>
            </a:solidFill>
            <a:prstDash val="solid"/>
          </a:ln>
          <a:effectLst>
            <a:outerShdw sx="100000" sy="100000" kx="0" ky="0" algn="bl" rotWithShape="0" blurRad="101600" dist="38100" dir="8100000">
              <a:srgbClr val="000000">
                <a:alpha val="20000"/>
              </a:srgbClr>
            </a:outerShdw>
          </a:effectLst>
        </p:spPr>
      </p:sp>
      <p:sp>
        <p:nvSpPr>
          <p:cNvPr id="13" name="Shape 11"/>
          <p:cNvSpPr/>
          <p:nvPr/>
        </p:nvSpPr>
        <p:spPr>
          <a:xfrm>
            <a:off x="4754880" y="1188720"/>
            <a:ext cx="914400" cy="1572768"/>
          </a:xfrm>
          <a:prstGeom prst="rect">
            <a:avLst/>
          </a:prstGeom>
          <a:solidFill>
            <a:srgbClr val="1A1A2E"/>
          </a:solidFill>
          <a:ln w="12700">
            <a:solidFill>
              <a:srgbClr val="1A1A2E"/>
            </a:solidFill>
            <a:prstDash val="solid"/>
          </a:ln>
        </p:spPr>
      </p:sp>
      <p:sp>
        <p:nvSpPr>
          <p:cNvPr id="14" name="Text 12"/>
          <p:cNvSpPr/>
          <p:nvPr/>
        </p:nvSpPr>
        <p:spPr>
          <a:xfrm>
            <a:off x="4754880" y="1691640"/>
            <a:ext cx="914400" cy="594360"/>
          </a:xfrm>
          <a:prstGeom prst="rect">
            <a:avLst/>
          </a:prstGeom>
          <a:noFill/>
          <a:ln/>
        </p:spPr>
        <p:txBody>
          <a:bodyPr wrap="square" lIns="0" tIns="0" rIns="0" bIns="0" rtlCol="0" anchor="ctr"/>
          <a:lstStyle/>
          <a:p>
            <a:pPr algn="ctr" indent="0" marL="0">
              <a:buNone/>
            </a:pPr>
            <a:r>
              <a:rPr lang="en-US" sz="2400" b="1" dirty="0">
                <a:solidFill>
                  <a:srgbClr val="C9A84C"/>
                </a:solidFill>
                <a:latin typeface="Georgia" pitchFamily="34" charset="0"/>
                <a:ea typeface="Georgia" pitchFamily="34" charset="-122"/>
                <a:cs typeface="Georgia" pitchFamily="34" charset="-120"/>
              </a:rPr>
              <a:t>40%</a:t>
            </a:r>
            <a:endParaRPr lang="en-US" sz="2400" dirty="0"/>
          </a:p>
        </p:txBody>
      </p:sp>
      <p:sp>
        <p:nvSpPr>
          <p:cNvPr id="15" name="Text 13"/>
          <p:cNvSpPr/>
          <p:nvPr/>
        </p:nvSpPr>
        <p:spPr>
          <a:xfrm>
            <a:off x="4754880" y="2286000"/>
            <a:ext cx="914400" cy="274320"/>
          </a:xfrm>
          <a:prstGeom prst="rect">
            <a:avLst/>
          </a:prstGeom>
          <a:noFill/>
          <a:ln/>
        </p:spPr>
        <p:txBody>
          <a:bodyPr wrap="square" rtlCol="0" anchor="ctr"/>
          <a:lstStyle/>
          <a:p>
            <a:pPr algn="ctr" indent="0" marL="0">
              <a:buNone/>
            </a:pPr>
            <a:r>
              <a:rPr lang="en-US" sz="750" dirty="0">
                <a:solidFill>
                  <a:srgbClr val="8888AA"/>
                </a:solidFill>
              </a:rPr>
              <a:t>avg gain</a:t>
            </a:r>
            <a:endParaRPr lang="en-US" sz="750" dirty="0"/>
          </a:p>
        </p:txBody>
      </p:sp>
      <p:sp>
        <p:nvSpPr>
          <p:cNvPr id="16" name="Text 14"/>
          <p:cNvSpPr/>
          <p:nvPr/>
        </p:nvSpPr>
        <p:spPr>
          <a:xfrm>
            <a:off x="5760720" y="1280160"/>
            <a:ext cx="2999232" cy="274320"/>
          </a:xfrm>
          <a:prstGeom prst="rect">
            <a:avLst/>
          </a:prstGeom>
          <a:noFill/>
          <a:ln/>
        </p:spPr>
        <p:txBody>
          <a:bodyPr wrap="square" lIns="0" tIns="0" rIns="0" bIns="0" rtlCol="0" anchor="ctr"/>
          <a:lstStyle/>
          <a:p>
            <a:pPr indent="0" marL="0">
              <a:buNone/>
            </a:pPr>
            <a:r>
              <a:rPr lang="en-US" sz="1150" b="1" dirty="0">
                <a:solidFill>
                  <a:srgbClr val="1A1A2E"/>
                </a:solidFill>
                <a:latin typeface="Georgia" pitchFamily="34" charset="0"/>
                <a:ea typeface="Georgia" pitchFamily="34" charset="-122"/>
                <a:cs typeface="Georgia" pitchFamily="34" charset="-120"/>
              </a:rPr>
              <a:t>Semantic Deduplication</a:t>
            </a:r>
            <a:endParaRPr lang="en-US" sz="1150" dirty="0"/>
          </a:p>
        </p:txBody>
      </p:sp>
      <p:sp>
        <p:nvSpPr>
          <p:cNvPr id="17" name="Text 15"/>
          <p:cNvSpPr/>
          <p:nvPr/>
        </p:nvSpPr>
        <p:spPr>
          <a:xfrm>
            <a:off x="5760720" y="1591056"/>
            <a:ext cx="2999232" cy="1051560"/>
          </a:xfrm>
          <a:prstGeom prst="rect">
            <a:avLst/>
          </a:prstGeom>
          <a:noFill/>
          <a:ln/>
        </p:spPr>
        <p:txBody>
          <a:bodyPr wrap="square" rtlCol="0" anchor="t"/>
          <a:lstStyle/>
          <a:p>
            <a:pPr indent="0" marL="0">
              <a:buNone/>
            </a:pPr>
            <a:r>
              <a:rPr lang="en-US" sz="950" dirty="0">
                <a:solidFill>
                  <a:srgbClr val="444455"/>
                </a:solidFill>
                <a:latin typeface="Calibri" pitchFamily="34" charset="0"/>
                <a:ea typeface="Calibri" pitchFamily="34" charset="-122"/>
                <a:cs typeface="Calibri" pitchFamily="34" charset="-120"/>
              </a:rPr>
              <a:t>Glyphs with cosine similarity &gt; 0.97 against existing T3 entries are flagged as duplicates. The incoming glyph is stored as a binding (DerivedFrom/Supersedes) against the existing entry — not as a new record.</a:t>
            </a:r>
            <a:endParaRPr lang="en-US" sz="950" dirty="0"/>
          </a:p>
        </p:txBody>
      </p:sp>
      <p:sp>
        <p:nvSpPr>
          <p:cNvPr id="18" name="Shape 16"/>
          <p:cNvSpPr/>
          <p:nvPr/>
        </p:nvSpPr>
        <p:spPr>
          <a:xfrm>
            <a:off x="411480" y="2880360"/>
            <a:ext cx="4114800" cy="1572768"/>
          </a:xfrm>
          <a:prstGeom prst="rect">
            <a:avLst/>
          </a:prstGeom>
          <a:solidFill>
            <a:srgbClr val="FFFFFF"/>
          </a:solidFill>
          <a:ln w="12700">
            <a:solidFill>
              <a:srgbClr val="DDDDCC"/>
            </a:solidFill>
            <a:prstDash val="solid"/>
          </a:ln>
          <a:effectLst>
            <a:outerShdw sx="100000" sy="100000" kx="0" ky="0" algn="bl" rotWithShape="0" blurRad="101600" dist="38100" dir="8100000">
              <a:srgbClr val="000000">
                <a:alpha val="20000"/>
              </a:srgbClr>
            </a:outerShdw>
          </a:effectLst>
        </p:spPr>
      </p:sp>
      <p:sp>
        <p:nvSpPr>
          <p:cNvPr id="19" name="Shape 17"/>
          <p:cNvSpPr/>
          <p:nvPr/>
        </p:nvSpPr>
        <p:spPr>
          <a:xfrm>
            <a:off x="411480" y="2880360"/>
            <a:ext cx="914400" cy="1572768"/>
          </a:xfrm>
          <a:prstGeom prst="rect">
            <a:avLst/>
          </a:prstGeom>
          <a:solidFill>
            <a:srgbClr val="1A1A2E"/>
          </a:solidFill>
          <a:ln w="12700">
            <a:solidFill>
              <a:srgbClr val="1A1A2E"/>
            </a:solidFill>
            <a:prstDash val="solid"/>
          </a:ln>
        </p:spPr>
      </p:sp>
      <p:sp>
        <p:nvSpPr>
          <p:cNvPr id="20" name="Text 18"/>
          <p:cNvSpPr/>
          <p:nvPr/>
        </p:nvSpPr>
        <p:spPr>
          <a:xfrm>
            <a:off x="411480" y="3383280"/>
            <a:ext cx="914400" cy="594360"/>
          </a:xfrm>
          <a:prstGeom prst="rect">
            <a:avLst/>
          </a:prstGeom>
          <a:noFill/>
          <a:ln/>
        </p:spPr>
        <p:txBody>
          <a:bodyPr wrap="square" lIns="0" tIns="0" rIns="0" bIns="0" rtlCol="0" anchor="ctr"/>
          <a:lstStyle/>
          <a:p>
            <a:pPr algn="ctr" indent="0" marL="0">
              <a:buNone/>
            </a:pPr>
            <a:r>
              <a:rPr lang="en-US" sz="2400" b="1" dirty="0">
                <a:solidFill>
                  <a:srgbClr val="C9A84C"/>
                </a:solidFill>
                <a:latin typeface="Georgia" pitchFamily="34" charset="0"/>
                <a:ea typeface="Georgia" pitchFamily="34" charset="-122"/>
                <a:cs typeface="Georgia" pitchFamily="34" charset="-120"/>
              </a:rPr>
              <a:t>72%</a:t>
            </a:r>
            <a:endParaRPr lang="en-US" sz="2400" dirty="0"/>
          </a:p>
        </p:txBody>
      </p:sp>
      <p:sp>
        <p:nvSpPr>
          <p:cNvPr id="21" name="Text 19"/>
          <p:cNvSpPr/>
          <p:nvPr/>
        </p:nvSpPr>
        <p:spPr>
          <a:xfrm>
            <a:off x="411480" y="3977640"/>
            <a:ext cx="914400" cy="274320"/>
          </a:xfrm>
          <a:prstGeom prst="rect">
            <a:avLst/>
          </a:prstGeom>
          <a:noFill/>
          <a:ln/>
        </p:spPr>
        <p:txBody>
          <a:bodyPr wrap="square" rtlCol="0" anchor="ctr"/>
          <a:lstStyle/>
          <a:p>
            <a:pPr algn="ctr" indent="0" marL="0">
              <a:buNone/>
            </a:pPr>
            <a:r>
              <a:rPr lang="en-US" sz="750" dirty="0">
                <a:solidFill>
                  <a:srgbClr val="8888AA"/>
                </a:solidFill>
              </a:rPr>
              <a:t>avg gain</a:t>
            </a:r>
            <a:endParaRPr lang="en-US" sz="750" dirty="0"/>
          </a:p>
        </p:txBody>
      </p:sp>
      <p:sp>
        <p:nvSpPr>
          <p:cNvPr id="22" name="Text 20"/>
          <p:cNvSpPr/>
          <p:nvPr/>
        </p:nvSpPr>
        <p:spPr>
          <a:xfrm>
            <a:off x="1417320" y="2971800"/>
            <a:ext cx="2999232" cy="274320"/>
          </a:xfrm>
          <a:prstGeom prst="rect">
            <a:avLst/>
          </a:prstGeom>
          <a:noFill/>
          <a:ln/>
        </p:spPr>
        <p:txBody>
          <a:bodyPr wrap="square" lIns="0" tIns="0" rIns="0" bIns="0" rtlCol="0" anchor="ctr"/>
          <a:lstStyle/>
          <a:p>
            <a:pPr indent="0" marL="0">
              <a:buNone/>
            </a:pPr>
            <a:r>
              <a:rPr lang="en-US" sz="1150" b="1" dirty="0">
                <a:solidFill>
                  <a:srgbClr val="1A1A2E"/>
                </a:solidFill>
                <a:latin typeface="Georgia" pitchFamily="34" charset="0"/>
                <a:ea typeface="Georgia" pitchFamily="34" charset="-122"/>
                <a:cs typeface="Georgia" pitchFamily="34" charset="-120"/>
              </a:rPr>
              <a:t>Temporal Decay + Archive</a:t>
            </a:r>
            <a:endParaRPr lang="en-US" sz="1150" dirty="0"/>
          </a:p>
        </p:txBody>
      </p:sp>
      <p:sp>
        <p:nvSpPr>
          <p:cNvPr id="23" name="Text 21"/>
          <p:cNvSpPr/>
          <p:nvPr/>
        </p:nvSpPr>
        <p:spPr>
          <a:xfrm>
            <a:off x="1417320" y="3282696"/>
            <a:ext cx="2999232" cy="1051560"/>
          </a:xfrm>
          <a:prstGeom prst="rect">
            <a:avLst/>
          </a:prstGeom>
          <a:noFill/>
          <a:ln/>
        </p:spPr>
        <p:txBody>
          <a:bodyPr wrap="square" rtlCol="0" anchor="t"/>
          <a:lstStyle/>
          <a:p>
            <a:pPr indent="0" marL="0">
              <a:buNone/>
            </a:pPr>
            <a:r>
              <a:rPr lang="en-US" sz="950" dirty="0">
                <a:solidFill>
                  <a:srgbClr val="444455"/>
                </a:solidFill>
                <a:latin typeface="Calibri" pitchFamily="34" charset="0"/>
                <a:ea typeface="Calibri" pitchFamily="34" charset="-122"/>
                <a:cs typeface="Calibri" pitchFamily="34" charset="-120"/>
              </a:rPr>
              <a:t>Glyphs below the ARCHIVE_THRESHOLD confidence (0.1) are compressed and moved to an append-only archive store. Active query indexes only track live T1/T2/T3 glyphs, dramatically reducing index size over time.</a:t>
            </a:r>
            <a:endParaRPr lang="en-US" sz="950" dirty="0"/>
          </a:p>
        </p:txBody>
      </p:sp>
      <p:sp>
        <p:nvSpPr>
          <p:cNvPr id="24" name="Shape 22"/>
          <p:cNvSpPr/>
          <p:nvPr/>
        </p:nvSpPr>
        <p:spPr>
          <a:xfrm>
            <a:off x="4754880" y="2880360"/>
            <a:ext cx="4114800" cy="1572768"/>
          </a:xfrm>
          <a:prstGeom prst="rect">
            <a:avLst/>
          </a:prstGeom>
          <a:solidFill>
            <a:srgbClr val="FFFFFF"/>
          </a:solidFill>
          <a:ln w="12700">
            <a:solidFill>
              <a:srgbClr val="DDDDCC"/>
            </a:solidFill>
            <a:prstDash val="solid"/>
          </a:ln>
          <a:effectLst>
            <a:outerShdw sx="100000" sy="100000" kx="0" ky="0" algn="bl" rotWithShape="0" blurRad="101600" dist="38100" dir="8100000">
              <a:srgbClr val="000000">
                <a:alpha val="20000"/>
              </a:srgbClr>
            </a:outerShdw>
          </a:effectLst>
        </p:spPr>
      </p:sp>
      <p:sp>
        <p:nvSpPr>
          <p:cNvPr id="25" name="Shape 23"/>
          <p:cNvSpPr/>
          <p:nvPr/>
        </p:nvSpPr>
        <p:spPr>
          <a:xfrm>
            <a:off x="4754880" y="2880360"/>
            <a:ext cx="914400" cy="1572768"/>
          </a:xfrm>
          <a:prstGeom prst="rect">
            <a:avLst/>
          </a:prstGeom>
          <a:solidFill>
            <a:srgbClr val="1A1A2E"/>
          </a:solidFill>
          <a:ln w="12700">
            <a:solidFill>
              <a:srgbClr val="1A1A2E"/>
            </a:solidFill>
            <a:prstDash val="solid"/>
          </a:ln>
        </p:spPr>
      </p:sp>
      <p:sp>
        <p:nvSpPr>
          <p:cNvPr id="26" name="Text 24"/>
          <p:cNvSpPr/>
          <p:nvPr/>
        </p:nvSpPr>
        <p:spPr>
          <a:xfrm>
            <a:off x="4754880" y="3383280"/>
            <a:ext cx="914400" cy="594360"/>
          </a:xfrm>
          <a:prstGeom prst="rect">
            <a:avLst/>
          </a:prstGeom>
          <a:noFill/>
          <a:ln/>
        </p:spPr>
        <p:txBody>
          <a:bodyPr wrap="square" lIns="0" tIns="0" rIns="0" bIns="0" rtlCol="0" anchor="ctr"/>
          <a:lstStyle/>
          <a:p>
            <a:pPr algn="ctr" indent="0" marL="0">
              <a:buNone/>
            </a:pPr>
            <a:r>
              <a:rPr lang="en-US" sz="2400" b="1" dirty="0">
                <a:solidFill>
                  <a:srgbClr val="C9A84C"/>
                </a:solidFill>
                <a:latin typeface="Georgia" pitchFamily="34" charset="0"/>
                <a:ea typeface="Georgia" pitchFamily="34" charset="-122"/>
                <a:cs typeface="Georgia" pitchFamily="34" charset="-120"/>
              </a:rPr>
              <a:t>35%</a:t>
            </a:r>
            <a:endParaRPr lang="en-US" sz="2400" dirty="0"/>
          </a:p>
        </p:txBody>
      </p:sp>
      <p:sp>
        <p:nvSpPr>
          <p:cNvPr id="27" name="Text 25"/>
          <p:cNvSpPr/>
          <p:nvPr/>
        </p:nvSpPr>
        <p:spPr>
          <a:xfrm>
            <a:off x="4754880" y="3977640"/>
            <a:ext cx="914400" cy="274320"/>
          </a:xfrm>
          <a:prstGeom prst="rect">
            <a:avLst/>
          </a:prstGeom>
          <a:noFill/>
          <a:ln/>
        </p:spPr>
        <p:txBody>
          <a:bodyPr wrap="square" rtlCol="0" anchor="ctr"/>
          <a:lstStyle/>
          <a:p>
            <a:pPr algn="ctr" indent="0" marL="0">
              <a:buNone/>
            </a:pPr>
            <a:r>
              <a:rPr lang="en-US" sz="750" dirty="0">
                <a:solidFill>
                  <a:srgbClr val="8888AA"/>
                </a:solidFill>
              </a:rPr>
              <a:t>avg gain</a:t>
            </a:r>
            <a:endParaRPr lang="en-US" sz="750" dirty="0"/>
          </a:p>
        </p:txBody>
      </p:sp>
      <p:sp>
        <p:nvSpPr>
          <p:cNvPr id="28" name="Text 26"/>
          <p:cNvSpPr/>
          <p:nvPr/>
        </p:nvSpPr>
        <p:spPr>
          <a:xfrm>
            <a:off x="5760720" y="2971800"/>
            <a:ext cx="2999232" cy="274320"/>
          </a:xfrm>
          <a:prstGeom prst="rect">
            <a:avLst/>
          </a:prstGeom>
          <a:noFill/>
          <a:ln/>
        </p:spPr>
        <p:txBody>
          <a:bodyPr wrap="square" lIns="0" tIns="0" rIns="0" bIns="0" rtlCol="0" anchor="ctr"/>
          <a:lstStyle/>
          <a:p>
            <a:pPr indent="0" marL="0">
              <a:buNone/>
            </a:pPr>
            <a:r>
              <a:rPr lang="en-US" sz="1150" b="1" dirty="0">
                <a:solidFill>
                  <a:srgbClr val="1A1A2E"/>
                </a:solidFill>
                <a:latin typeface="Georgia" pitchFamily="34" charset="0"/>
                <a:ea typeface="Georgia" pitchFamily="34" charset="-122"/>
                <a:cs typeface="Georgia" pitchFamily="34" charset="-120"/>
              </a:rPr>
              <a:t>Graph Edge Compression</a:t>
            </a:r>
            <a:endParaRPr lang="en-US" sz="1150" dirty="0"/>
          </a:p>
        </p:txBody>
      </p:sp>
      <p:sp>
        <p:nvSpPr>
          <p:cNvPr id="29" name="Text 27"/>
          <p:cNvSpPr/>
          <p:nvPr/>
        </p:nvSpPr>
        <p:spPr>
          <a:xfrm>
            <a:off x="5760720" y="3282696"/>
            <a:ext cx="2999232" cy="1051560"/>
          </a:xfrm>
          <a:prstGeom prst="rect">
            <a:avLst/>
          </a:prstGeom>
          <a:noFill/>
          <a:ln/>
        </p:spPr>
        <p:txBody>
          <a:bodyPr wrap="square" rtlCol="0" anchor="t"/>
          <a:lstStyle/>
          <a:p>
            <a:pPr indent="0" marL="0">
              <a:buNone/>
            </a:pPr>
            <a:r>
              <a:rPr lang="en-US" sz="950" dirty="0">
                <a:solidFill>
                  <a:srgbClr val="444455"/>
                </a:solidFill>
                <a:latin typeface="Calibri" pitchFamily="34" charset="0"/>
                <a:ea typeface="Calibri" pitchFamily="34" charset="-122"/>
                <a:cs typeface="Calibri" pitchFamily="34" charset="-120"/>
              </a:rPr>
              <a:t>Relational data stored as typed GlyphBindings (8 fields per edge) replaces full copies of related records. A CAUSES binding between two glyphs replaces embedding the entire second record inside the first.</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A84C"/>
          </a:solidFill>
          <a:ln w="12700">
            <a:solidFill>
              <a:srgbClr val="C9A84C"/>
            </a:solidFill>
            <a:prstDash val="solid"/>
          </a:ln>
        </p:spPr>
      </p:sp>
      <p:sp>
        <p:nvSpPr>
          <p:cNvPr id="3" name="Shape 1"/>
          <p:cNvSpPr/>
          <p:nvPr/>
        </p:nvSpPr>
        <p:spPr>
          <a:xfrm>
            <a:off x="0" y="5065776"/>
            <a:ext cx="9144000" cy="73152"/>
          </a:xfrm>
          <a:prstGeom prst="rect">
            <a:avLst/>
          </a:prstGeom>
          <a:solidFill>
            <a:srgbClr val="C9A84C"/>
          </a:solidFill>
          <a:ln w="12700">
            <a:solidFill>
              <a:srgbClr val="C9A84C"/>
            </a:solidFill>
            <a:prstDash val="solid"/>
          </a:ln>
        </p:spPr>
      </p:sp>
      <p:sp>
        <p:nvSpPr>
          <p:cNvPr id="4" name="Text 2"/>
          <p:cNvSpPr/>
          <p:nvPr/>
        </p:nvSpPr>
        <p:spPr>
          <a:xfrm>
            <a:off x="457200" y="128016"/>
            <a:ext cx="8229600" cy="201168"/>
          </a:xfrm>
          <a:prstGeom prst="rect">
            <a:avLst/>
          </a:prstGeom>
          <a:noFill/>
          <a:ln/>
        </p:spPr>
        <p:txBody>
          <a:bodyPr wrap="square" rtlCol="0" anchor="ctr"/>
          <a:lstStyle/>
          <a:p>
            <a:pPr algn="l" indent="0" marL="0">
              <a:buNone/>
            </a:pPr>
            <a:r>
              <a:rPr lang="en-US" sz="800" b="1" spc="600" kern="0" dirty="0">
                <a:solidFill>
                  <a:srgbClr val="C9A84C"/>
                </a:solidFill>
                <a:latin typeface="Calibri" pitchFamily="34" charset="0"/>
                <a:ea typeface="Calibri" pitchFamily="34" charset="-122"/>
                <a:cs typeface="Calibri" pitchFamily="34" charset="-120"/>
              </a:rPr>
              <a:t>MARKET OPPORTUNITY</a:t>
            </a:r>
            <a:endParaRPr lang="en-US" sz="800" dirty="0"/>
          </a:p>
        </p:txBody>
      </p:sp>
      <p:sp>
        <p:nvSpPr>
          <p:cNvPr id="5" name="Text 3"/>
          <p:cNvSpPr/>
          <p:nvPr/>
        </p:nvSpPr>
        <p:spPr>
          <a:xfrm>
            <a:off x="502920" y="438912"/>
            <a:ext cx="8138160" cy="640080"/>
          </a:xfrm>
          <a:prstGeom prst="rect">
            <a:avLst/>
          </a:prstGeom>
          <a:noFill/>
          <a:ln/>
        </p:spPr>
        <p:txBody>
          <a:bodyPr wrap="square" lIns="0" tIns="0" rIns="0" bIns="0" rtlCol="0" anchor="ctr"/>
          <a:lstStyle/>
          <a:p>
            <a:pPr algn="l" indent="0" marL="0">
              <a:buNone/>
            </a:pPr>
            <a:r>
              <a:rPr lang="en-US" sz="2800" b="1" dirty="0">
                <a:solidFill>
                  <a:srgbClr val="FFFFFF"/>
                </a:solidFill>
                <a:latin typeface="Georgia" pitchFamily="34" charset="0"/>
                <a:ea typeface="Georgia" pitchFamily="34" charset="-122"/>
                <a:cs typeface="Georgia" pitchFamily="34" charset="-120"/>
              </a:rPr>
              <a:t>We Are Building at the Intersection of Three Explosive Markets.</a:t>
            </a:r>
            <a:endParaRPr lang="en-US" sz="2800" dirty="0"/>
          </a:p>
        </p:txBody>
      </p:sp>
      <p:sp>
        <p:nvSpPr>
          <p:cNvPr id="6" name="Shape 4"/>
          <p:cNvSpPr/>
          <p:nvPr/>
        </p:nvSpPr>
        <p:spPr>
          <a:xfrm>
            <a:off x="457200" y="1143000"/>
            <a:ext cx="3840480" cy="3749040"/>
          </a:xfrm>
          <a:prstGeom prst="OVAL">
            <a:avLst/>
          </a:prstGeom>
          <a:solidFill>
            <a:srgbClr val="1A1A2E"/>
          </a:solidFill>
          <a:ln w="12700">
            <a:solidFill>
              <a:srgbClr val="4444AA"/>
            </a:solidFill>
            <a:prstDash val="solid"/>
          </a:ln>
        </p:spPr>
      </p:sp>
      <p:sp>
        <p:nvSpPr>
          <p:cNvPr id="7" name="Text 5"/>
          <p:cNvSpPr/>
          <p:nvPr/>
        </p:nvSpPr>
        <p:spPr>
          <a:xfrm>
            <a:off x="457200" y="1234440"/>
            <a:ext cx="3840480" cy="411480"/>
          </a:xfrm>
          <a:prstGeom prst="rect">
            <a:avLst/>
          </a:prstGeom>
          <a:noFill/>
          <a:ln/>
        </p:spPr>
        <p:txBody>
          <a:bodyPr wrap="square" rtlCol="0" anchor="ctr"/>
          <a:lstStyle/>
          <a:p>
            <a:pPr algn="ctr" indent="0" marL="0">
              <a:buNone/>
            </a:pPr>
            <a:r>
              <a:rPr lang="en-US" sz="1100" b="1" spc="300" kern="0" dirty="0">
                <a:solidFill>
                  <a:srgbClr val="6666AA"/>
                </a:solidFill>
                <a:latin typeface="Calibri" pitchFamily="34" charset="0"/>
                <a:ea typeface="Calibri" pitchFamily="34" charset="-122"/>
                <a:cs typeface="Calibri" pitchFamily="34" charset="-120"/>
              </a:rPr>
              <a:t>TAM</a:t>
            </a:r>
            <a:endParaRPr lang="en-US" sz="1100" dirty="0"/>
          </a:p>
        </p:txBody>
      </p:sp>
      <p:sp>
        <p:nvSpPr>
          <p:cNvPr id="8" name="Text 6"/>
          <p:cNvSpPr/>
          <p:nvPr/>
        </p:nvSpPr>
        <p:spPr>
          <a:xfrm>
            <a:off x="457200" y="1600200"/>
            <a:ext cx="3840480" cy="502920"/>
          </a:xfrm>
          <a:prstGeom prst="rect">
            <a:avLst/>
          </a:prstGeom>
          <a:noFill/>
          <a:ln/>
        </p:spPr>
        <p:txBody>
          <a:bodyPr wrap="square" lIns="0" tIns="0" rIns="0" bIns="0" rtlCol="0" anchor="ctr"/>
          <a:lstStyle/>
          <a:p>
            <a:pPr algn="ctr" indent="0" marL="0">
              <a:buNone/>
            </a:pPr>
            <a:r>
              <a:rPr lang="en-US" sz="2200" b="1" dirty="0">
                <a:solidFill>
                  <a:srgbClr val="6666AA"/>
                </a:solidFill>
                <a:latin typeface="Georgia" pitchFamily="34" charset="0"/>
                <a:ea typeface="Georgia" pitchFamily="34" charset="-122"/>
                <a:cs typeface="Georgia" pitchFamily="34" charset="-120"/>
              </a:rPr>
              <a:t>$500B+</a:t>
            </a:r>
            <a:endParaRPr lang="en-US" sz="2200" dirty="0"/>
          </a:p>
        </p:txBody>
      </p:sp>
      <p:sp>
        <p:nvSpPr>
          <p:cNvPr id="9" name="Text 7"/>
          <p:cNvSpPr/>
          <p:nvPr/>
        </p:nvSpPr>
        <p:spPr>
          <a:xfrm>
            <a:off x="457200" y="2057400"/>
            <a:ext cx="3840480" cy="457200"/>
          </a:xfrm>
          <a:prstGeom prst="rect">
            <a:avLst/>
          </a:prstGeom>
          <a:noFill/>
          <a:ln/>
        </p:spPr>
        <p:txBody>
          <a:bodyPr wrap="square" rtlCol="0" anchor="ctr"/>
          <a:lstStyle/>
          <a:p>
            <a:pPr algn="ctr" indent="0" marL="0">
              <a:buNone/>
            </a:pPr>
            <a:r>
              <a:rPr lang="en-US" sz="900" dirty="0">
                <a:solidFill>
                  <a:srgbClr val="556688"/>
                </a:solidFill>
                <a:latin typeface="Calibri" pitchFamily="34" charset="0"/>
                <a:ea typeface="Calibri" pitchFamily="34" charset="-122"/>
                <a:cs typeface="Calibri" pitchFamily="34" charset="-120"/>
              </a:rPr>
              <a:t>AI Infrastructure</a:t>
            </a:r>
            <a:endParaRPr lang="en-US" sz="900" dirty="0"/>
          </a:p>
          <a:p>
            <a:pPr algn="ctr" indent="0" marL="0">
              <a:buNone/>
            </a:pPr>
            <a:r>
              <a:rPr lang="en-US" sz="900" dirty="0">
                <a:solidFill>
                  <a:srgbClr val="556688"/>
                </a:solidFill>
                <a:latin typeface="Calibri" pitchFamily="34" charset="0"/>
                <a:ea typeface="Calibri" pitchFamily="34" charset="-122"/>
                <a:cs typeface="Calibri" pitchFamily="34" charset="-120"/>
              </a:rPr>
              <a:t>Global Market 2026</a:t>
            </a:r>
            <a:endParaRPr lang="en-US" sz="900" dirty="0"/>
          </a:p>
        </p:txBody>
      </p:sp>
      <p:sp>
        <p:nvSpPr>
          <p:cNvPr id="10" name="Shape 8"/>
          <p:cNvSpPr/>
          <p:nvPr/>
        </p:nvSpPr>
        <p:spPr>
          <a:xfrm>
            <a:off x="868680" y="2560320"/>
            <a:ext cx="3017520" cy="2148840"/>
          </a:xfrm>
          <a:prstGeom prst="OVAL">
            <a:avLst/>
          </a:prstGeom>
          <a:solidFill>
            <a:srgbClr val="16213E"/>
          </a:solidFill>
          <a:ln w="12700">
            <a:solidFill>
              <a:srgbClr val="8888CC"/>
            </a:solidFill>
            <a:prstDash val="solid"/>
          </a:ln>
        </p:spPr>
      </p:sp>
      <p:sp>
        <p:nvSpPr>
          <p:cNvPr id="11" name="Text 9"/>
          <p:cNvSpPr/>
          <p:nvPr/>
        </p:nvSpPr>
        <p:spPr>
          <a:xfrm>
            <a:off x="868680" y="2651760"/>
            <a:ext cx="3017520" cy="320040"/>
          </a:xfrm>
          <a:prstGeom prst="rect">
            <a:avLst/>
          </a:prstGeom>
          <a:noFill/>
          <a:ln/>
        </p:spPr>
        <p:txBody>
          <a:bodyPr wrap="square" rtlCol="0" anchor="ctr"/>
          <a:lstStyle/>
          <a:p>
            <a:pPr algn="ctr" indent="0" marL="0">
              <a:buNone/>
            </a:pPr>
            <a:r>
              <a:rPr lang="en-US" sz="1000" b="1" dirty="0">
                <a:solidFill>
                  <a:srgbClr val="AAAAEE"/>
                </a:solidFill>
                <a:latin typeface="Calibri" pitchFamily="34" charset="0"/>
                <a:ea typeface="Calibri" pitchFamily="34" charset="-122"/>
                <a:cs typeface="Calibri" pitchFamily="34" charset="-120"/>
              </a:rPr>
              <a:t>SAM  $12B</a:t>
            </a:r>
            <a:endParaRPr lang="en-US" sz="1000" dirty="0"/>
          </a:p>
        </p:txBody>
      </p:sp>
      <p:sp>
        <p:nvSpPr>
          <p:cNvPr id="12" name="Text 10"/>
          <p:cNvSpPr/>
          <p:nvPr/>
        </p:nvSpPr>
        <p:spPr>
          <a:xfrm>
            <a:off x="868680" y="2971800"/>
            <a:ext cx="3017520" cy="411480"/>
          </a:xfrm>
          <a:prstGeom prst="rect">
            <a:avLst/>
          </a:prstGeom>
          <a:noFill/>
          <a:ln/>
        </p:spPr>
        <p:txBody>
          <a:bodyPr wrap="square" rtlCol="0" anchor="ctr"/>
          <a:lstStyle/>
          <a:p>
            <a:pPr algn="ctr" indent="0" marL="0">
              <a:buNone/>
            </a:pPr>
            <a:r>
              <a:rPr lang="en-US" sz="850" dirty="0">
                <a:solidFill>
                  <a:srgbClr val="8888BB"/>
                </a:solidFill>
                <a:latin typeface="Calibri" pitchFamily="34" charset="0"/>
                <a:ea typeface="Calibri" pitchFamily="34" charset="-122"/>
                <a:cs typeface="Calibri" pitchFamily="34" charset="-120"/>
              </a:rPr>
              <a:t>AI Dev Tools +</a:t>
            </a:r>
            <a:endParaRPr lang="en-US" sz="850" dirty="0"/>
          </a:p>
          <a:p>
            <a:pPr algn="ctr" indent="0" marL="0">
              <a:buNone/>
            </a:pPr>
            <a:r>
              <a:rPr lang="en-US" sz="850" dirty="0">
                <a:solidFill>
                  <a:srgbClr val="8888BB"/>
                </a:solidFill>
                <a:latin typeface="Calibri" pitchFamily="34" charset="0"/>
                <a:ea typeface="Calibri" pitchFamily="34" charset="-122"/>
                <a:cs typeface="Calibri" pitchFamily="34" charset="-120"/>
              </a:rPr>
              <a:t>Quantum Software</a:t>
            </a:r>
            <a:endParaRPr lang="en-US" sz="850" dirty="0"/>
          </a:p>
        </p:txBody>
      </p:sp>
      <p:sp>
        <p:nvSpPr>
          <p:cNvPr id="13" name="Shape 11"/>
          <p:cNvSpPr/>
          <p:nvPr/>
        </p:nvSpPr>
        <p:spPr>
          <a:xfrm>
            <a:off x="1463040" y="3520440"/>
            <a:ext cx="1810512" cy="987552"/>
          </a:xfrm>
          <a:prstGeom prst="OVAL">
            <a:avLst/>
          </a:prstGeom>
          <a:solidFill>
            <a:srgbClr val="1A1A2E"/>
          </a:solidFill>
          <a:ln w="12700">
            <a:solidFill>
              <a:srgbClr val="C9A84C"/>
            </a:solidFill>
            <a:prstDash val="solid"/>
          </a:ln>
        </p:spPr>
      </p:sp>
      <p:sp>
        <p:nvSpPr>
          <p:cNvPr id="14" name="Text 12"/>
          <p:cNvSpPr/>
          <p:nvPr/>
        </p:nvSpPr>
        <p:spPr>
          <a:xfrm>
            <a:off x="1463040" y="3611880"/>
            <a:ext cx="1810512" cy="320040"/>
          </a:xfrm>
          <a:prstGeom prst="rect">
            <a:avLst/>
          </a:prstGeom>
          <a:noFill/>
          <a:ln/>
        </p:spPr>
        <p:txBody>
          <a:bodyPr wrap="square" rtlCol="0" anchor="ctr"/>
          <a:lstStyle/>
          <a:p>
            <a:pPr algn="ctr" indent="0" marL="0">
              <a:buNone/>
            </a:pPr>
            <a:r>
              <a:rPr lang="en-US" sz="950" b="1" dirty="0">
                <a:solidFill>
                  <a:srgbClr val="C9A84C"/>
                </a:solidFill>
                <a:latin typeface="Calibri" pitchFamily="34" charset="0"/>
                <a:ea typeface="Calibri" pitchFamily="34" charset="-122"/>
                <a:cs typeface="Calibri" pitchFamily="34" charset="-120"/>
              </a:rPr>
              <a:t>SOM  $50M</a:t>
            </a:r>
            <a:endParaRPr lang="en-US" sz="950" dirty="0"/>
          </a:p>
        </p:txBody>
      </p:sp>
      <p:sp>
        <p:nvSpPr>
          <p:cNvPr id="15" name="Text 13"/>
          <p:cNvSpPr/>
          <p:nvPr/>
        </p:nvSpPr>
        <p:spPr>
          <a:xfrm>
            <a:off x="1463040" y="3931920"/>
            <a:ext cx="1810512" cy="228600"/>
          </a:xfrm>
          <a:prstGeom prst="rect">
            <a:avLst/>
          </a:prstGeom>
          <a:noFill/>
          <a:ln/>
        </p:spPr>
        <p:txBody>
          <a:bodyPr wrap="square" rtlCol="0" anchor="ctr"/>
          <a:lstStyle/>
          <a:p>
            <a:pPr algn="ctr" indent="0" marL="0">
              <a:buNone/>
            </a:pPr>
            <a:r>
              <a:rPr lang="en-US" sz="750" dirty="0">
                <a:solidFill>
                  <a:srgbClr val="E8C76A"/>
                </a:solidFill>
                <a:latin typeface="Calibri" pitchFamily="34" charset="0"/>
                <a:ea typeface="Calibri" pitchFamily="34" charset="-122"/>
                <a:cs typeface="Calibri" pitchFamily="34" charset="-120"/>
              </a:rPr>
              <a:t>3-Year Target</a:t>
            </a:r>
            <a:endParaRPr lang="en-US" sz="750" dirty="0"/>
          </a:p>
        </p:txBody>
      </p:sp>
      <p:sp>
        <p:nvSpPr>
          <p:cNvPr id="16" name="Shape 14"/>
          <p:cNvSpPr/>
          <p:nvPr/>
        </p:nvSpPr>
        <p:spPr>
          <a:xfrm>
            <a:off x="4572000" y="1170432"/>
            <a:ext cx="4160520" cy="1143000"/>
          </a:xfrm>
          <a:prstGeom prst="rect">
            <a:avLst/>
          </a:prstGeom>
          <a:solidFill>
            <a:srgbClr val="16213E"/>
          </a:solidFill>
          <a:ln w="12700">
            <a:solidFill>
              <a:srgbClr val="2A2A4A"/>
            </a:solidFill>
            <a:prstDash val="solid"/>
          </a:ln>
        </p:spPr>
      </p:sp>
      <p:pic>
        <p:nvPicPr>
          <p:cNvPr id="17" name="Image 0" descr="preencoded.png">    </p:cNvPr>
          <p:cNvPicPr>
            <a:picLocks noChangeAspect="1"/>
          </p:cNvPicPr>
          <p:nvPr/>
        </p:nvPicPr>
        <p:blipFill>
          <a:blip r:embed="rId1"/>
          <a:stretch>
            <a:fillRect/>
          </a:stretch>
        </p:blipFill>
        <p:spPr>
          <a:xfrm>
            <a:off x="4736592" y="1490472"/>
            <a:ext cx="384048" cy="384048"/>
          </a:xfrm>
          <a:prstGeom prst="rect">
            <a:avLst/>
          </a:prstGeom>
        </p:spPr>
      </p:pic>
      <p:sp>
        <p:nvSpPr>
          <p:cNvPr id="18" name="Text 15"/>
          <p:cNvSpPr/>
          <p:nvPr/>
        </p:nvSpPr>
        <p:spPr>
          <a:xfrm>
            <a:off x="5257800" y="1261872"/>
            <a:ext cx="3383280" cy="274320"/>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AI Developer Tools</a:t>
            </a:r>
            <a:endParaRPr lang="en-US" sz="1200" dirty="0"/>
          </a:p>
        </p:txBody>
      </p:sp>
      <p:sp>
        <p:nvSpPr>
          <p:cNvPr id="19" name="Text 16"/>
          <p:cNvSpPr/>
          <p:nvPr/>
        </p:nvSpPr>
        <p:spPr>
          <a:xfrm>
            <a:off x="5257800" y="1554480"/>
            <a:ext cx="3383280" cy="201168"/>
          </a:xfrm>
          <a:prstGeom prst="rect">
            <a:avLst/>
          </a:prstGeom>
          <a:noFill/>
          <a:ln/>
        </p:spPr>
        <p:txBody>
          <a:bodyPr wrap="square" rtlCol="0" anchor="ctr"/>
          <a:lstStyle/>
          <a:p>
            <a:pPr indent="0" marL="0">
              <a:buNone/>
            </a:pPr>
            <a:r>
              <a:rPr lang="en-US" sz="950" i="1" dirty="0">
                <a:solidFill>
                  <a:srgbClr val="C9A84C"/>
                </a:solidFill>
                <a:latin typeface="Calibri" pitchFamily="34" charset="0"/>
                <a:ea typeface="Calibri" pitchFamily="34" charset="-122"/>
                <a:cs typeface="Calibri" pitchFamily="34" charset="-120"/>
              </a:rPr>
              <a:t>$8.2B market, 34% CAGR</a:t>
            </a:r>
            <a:endParaRPr lang="en-US" sz="950" dirty="0"/>
          </a:p>
        </p:txBody>
      </p:sp>
      <p:sp>
        <p:nvSpPr>
          <p:cNvPr id="20" name="Text 17"/>
          <p:cNvSpPr/>
          <p:nvPr/>
        </p:nvSpPr>
        <p:spPr>
          <a:xfrm>
            <a:off x="5257800" y="1773936"/>
            <a:ext cx="3383280" cy="457200"/>
          </a:xfrm>
          <a:prstGeom prst="rect">
            <a:avLst/>
          </a:prstGeom>
          <a:noFill/>
          <a:ln/>
        </p:spPr>
        <p:txBody>
          <a:bodyPr wrap="square" rtlCol="0" anchor="t"/>
          <a:lstStyle/>
          <a:p>
            <a:pPr indent="0" marL="0">
              <a:buNone/>
            </a:pPr>
            <a:r>
              <a:rPr lang="en-US" sz="950" dirty="0">
                <a:solidFill>
                  <a:srgbClr val="AAAACC"/>
                </a:solidFill>
                <a:latin typeface="Calibri" pitchFamily="34" charset="0"/>
                <a:ea typeface="Calibri" pitchFamily="34" charset="-122"/>
                <a:cs typeface="Calibri" pitchFamily="34" charset="-120"/>
              </a:rPr>
              <a:t>Quantum-aware languages capture a premium segment of developers building next-gen AI systems.</a:t>
            </a:r>
            <a:endParaRPr lang="en-US" sz="950" dirty="0"/>
          </a:p>
        </p:txBody>
      </p:sp>
      <p:sp>
        <p:nvSpPr>
          <p:cNvPr id="21" name="Shape 18"/>
          <p:cNvSpPr/>
          <p:nvPr/>
        </p:nvSpPr>
        <p:spPr>
          <a:xfrm>
            <a:off x="4572000" y="2432304"/>
            <a:ext cx="4160520" cy="1143000"/>
          </a:xfrm>
          <a:prstGeom prst="rect">
            <a:avLst/>
          </a:prstGeom>
          <a:solidFill>
            <a:srgbClr val="16213E"/>
          </a:solidFill>
          <a:ln w="12700">
            <a:solidFill>
              <a:srgbClr val="2A2A4A"/>
            </a:solidFill>
            <a:prstDash val="solid"/>
          </a:ln>
        </p:spPr>
      </p:sp>
      <p:pic>
        <p:nvPicPr>
          <p:cNvPr id="22" name="Image 1" descr="preencoded.png">    </p:cNvPr>
          <p:cNvPicPr>
            <a:picLocks noChangeAspect="1"/>
          </p:cNvPicPr>
          <p:nvPr/>
        </p:nvPicPr>
        <p:blipFill>
          <a:blip r:embed="rId2"/>
          <a:stretch>
            <a:fillRect/>
          </a:stretch>
        </p:blipFill>
        <p:spPr>
          <a:xfrm>
            <a:off x="4736592" y="2752344"/>
            <a:ext cx="384048" cy="384048"/>
          </a:xfrm>
          <a:prstGeom prst="rect">
            <a:avLst/>
          </a:prstGeom>
        </p:spPr>
      </p:pic>
      <p:sp>
        <p:nvSpPr>
          <p:cNvPr id="23" name="Text 19"/>
          <p:cNvSpPr/>
          <p:nvPr/>
        </p:nvSpPr>
        <p:spPr>
          <a:xfrm>
            <a:off x="5257800" y="2523744"/>
            <a:ext cx="3383280" cy="274320"/>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Quantum Computing Software</a:t>
            </a:r>
            <a:endParaRPr lang="en-US" sz="1200" dirty="0"/>
          </a:p>
        </p:txBody>
      </p:sp>
      <p:sp>
        <p:nvSpPr>
          <p:cNvPr id="24" name="Text 20"/>
          <p:cNvSpPr/>
          <p:nvPr/>
        </p:nvSpPr>
        <p:spPr>
          <a:xfrm>
            <a:off x="5257800" y="2816352"/>
            <a:ext cx="3383280" cy="201168"/>
          </a:xfrm>
          <a:prstGeom prst="rect">
            <a:avLst/>
          </a:prstGeom>
          <a:noFill/>
          <a:ln/>
        </p:spPr>
        <p:txBody>
          <a:bodyPr wrap="square" rtlCol="0" anchor="ctr"/>
          <a:lstStyle/>
          <a:p>
            <a:pPr indent="0" marL="0">
              <a:buNone/>
            </a:pPr>
            <a:r>
              <a:rPr lang="en-US" sz="950" i="1" dirty="0">
                <a:solidFill>
                  <a:srgbClr val="C9A84C"/>
                </a:solidFill>
                <a:latin typeface="Calibri" pitchFamily="34" charset="0"/>
                <a:ea typeface="Calibri" pitchFamily="34" charset="-122"/>
                <a:cs typeface="Calibri" pitchFamily="34" charset="-120"/>
              </a:rPr>
              <a:t>$3.7B → $45B by 2030</a:t>
            </a:r>
            <a:endParaRPr lang="en-US" sz="950" dirty="0"/>
          </a:p>
        </p:txBody>
      </p:sp>
      <p:sp>
        <p:nvSpPr>
          <p:cNvPr id="25" name="Text 21"/>
          <p:cNvSpPr/>
          <p:nvPr/>
        </p:nvSpPr>
        <p:spPr>
          <a:xfrm>
            <a:off x="5257800" y="3035808"/>
            <a:ext cx="3383280" cy="457200"/>
          </a:xfrm>
          <a:prstGeom prst="rect">
            <a:avLst/>
          </a:prstGeom>
          <a:noFill/>
          <a:ln/>
        </p:spPr>
        <p:txBody>
          <a:bodyPr wrap="square" rtlCol="0" anchor="t"/>
          <a:lstStyle/>
          <a:p>
            <a:pPr indent="0" marL="0">
              <a:buNone/>
            </a:pPr>
            <a:r>
              <a:rPr lang="en-US" sz="950" dirty="0">
                <a:solidFill>
                  <a:srgbClr val="AAAACC"/>
                </a:solidFill>
                <a:latin typeface="Calibri" pitchFamily="34" charset="0"/>
                <a:ea typeface="Calibri" pitchFamily="34" charset="-122"/>
                <a:cs typeface="Calibri" pitchFamily="34" charset="-120"/>
              </a:rPr>
              <a:t>QUBE's quantum-native execution layer is directly positioned here — not as a research tool but as production infrastructure.</a:t>
            </a:r>
            <a:endParaRPr lang="en-US" sz="950" dirty="0"/>
          </a:p>
        </p:txBody>
      </p:sp>
      <p:sp>
        <p:nvSpPr>
          <p:cNvPr id="26" name="Shape 22"/>
          <p:cNvSpPr/>
          <p:nvPr/>
        </p:nvSpPr>
        <p:spPr>
          <a:xfrm>
            <a:off x="4572000" y="3694176"/>
            <a:ext cx="4160520" cy="1143000"/>
          </a:xfrm>
          <a:prstGeom prst="rect">
            <a:avLst/>
          </a:prstGeom>
          <a:solidFill>
            <a:srgbClr val="16213E"/>
          </a:solidFill>
          <a:ln w="12700">
            <a:solidFill>
              <a:srgbClr val="2A2A4A"/>
            </a:solidFill>
            <a:prstDash val="solid"/>
          </a:ln>
        </p:spPr>
      </p:sp>
      <p:pic>
        <p:nvPicPr>
          <p:cNvPr id="27" name="Image 2" descr="preencoded.png">    </p:cNvPr>
          <p:cNvPicPr>
            <a:picLocks noChangeAspect="1"/>
          </p:cNvPicPr>
          <p:nvPr/>
        </p:nvPicPr>
        <p:blipFill>
          <a:blip r:embed="rId3"/>
          <a:stretch>
            <a:fillRect/>
          </a:stretch>
        </p:blipFill>
        <p:spPr>
          <a:xfrm>
            <a:off x="4736592" y="4014216"/>
            <a:ext cx="384048" cy="384048"/>
          </a:xfrm>
          <a:prstGeom prst="rect">
            <a:avLst/>
          </a:prstGeom>
        </p:spPr>
      </p:pic>
      <p:sp>
        <p:nvSpPr>
          <p:cNvPr id="28" name="Text 23"/>
          <p:cNvSpPr/>
          <p:nvPr/>
        </p:nvSpPr>
        <p:spPr>
          <a:xfrm>
            <a:off x="5257800" y="3785616"/>
            <a:ext cx="3383280" cy="274320"/>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Synthetic Intelligence</a:t>
            </a:r>
            <a:endParaRPr lang="en-US" sz="1200" dirty="0"/>
          </a:p>
        </p:txBody>
      </p:sp>
      <p:sp>
        <p:nvSpPr>
          <p:cNvPr id="29" name="Text 24"/>
          <p:cNvSpPr/>
          <p:nvPr/>
        </p:nvSpPr>
        <p:spPr>
          <a:xfrm>
            <a:off x="5257800" y="4078224"/>
            <a:ext cx="3383280" cy="201168"/>
          </a:xfrm>
          <a:prstGeom prst="rect">
            <a:avLst/>
          </a:prstGeom>
          <a:noFill/>
          <a:ln/>
        </p:spPr>
        <p:txBody>
          <a:bodyPr wrap="square" rtlCol="0" anchor="ctr"/>
          <a:lstStyle/>
          <a:p>
            <a:pPr indent="0" marL="0">
              <a:buNone/>
            </a:pPr>
            <a:r>
              <a:rPr lang="en-US" sz="950" i="1" dirty="0">
                <a:solidFill>
                  <a:srgbClr val="C9A84C"/>
                </a:solidFill>
                <a:latin typeface="Calibri" pitchFamily="34" charset="0"/>
                <a:ea typeface="Calibri" pitchFamily="34" charset="-122"/>
                <a:cs typeface="Calibri" pitchFamily="34" charset="-120"/>
              </a:rPr>
              <a:t>Emerging — $0 today</a:t>
            </a:r>
            <a:endParaRPr lang="en-US" sz="950" dirty="0"/>
          </a:p>
        </p:txBody>
      </p:sp>
      <p:sp>
        <p:nvSpPr>
          <p:cNvPr id="30" name="Text 25"/>
          <p:cNvSpPr/>
          <p:nvPr/>
        </p:nvSpPr>
        <p:spPr>
          <a:xfrm>
            <a:off x="5257800" y="4297680"/>
            <a:ext cx="3383280" cy="457200"/>
          </a:xfrm>
          <a:prstGeom prst="rect">
            <a:avLst/>
          </a:prstGeom>
          <a:noFill/>
          <a:ln/>
        </p:spPr>
        <p:txBody>
          <a:bodyPr wrap="square" rtlCol="0" anchor="t"/>
          <a:lstStyle/>
          <a:p>
            <a:pPr indent="0" marL="0">
              <a:buNone/>
            </a:pPr>
            <a:r>
              <a:rPr lang="en-US" sz="950" dirty="0">
                <a:solidFill>
                  <a:srgbClr val="AAAACC"/>
                </a:solidFill>
                <a:latin typeface="Calibri" pitchFamily="34" charset="0"/>
                <a:ea typeface="Calibri" pitchFamily="34" charset="-122"/>
                <a:cs typeface="Calibri" pitchFamily="34" charset="-120"/>
              </a:rPr>
              <a:t>Aeonmic Intelligence creates a new category. Mother AI is the first commercially viable synthetic cognitive system with verified persistent state.</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3EE"/>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A84C"/>
          </a:solidFill>
          <a:ln w="12700">
            <a:solidFill>
              <a:srgbClr val="C9A84C"/>
            </a:solidFill>
            <a:prstDash val="solid"/>
          </a:ln>
        </p:spPr>
      </p:sp>
      <p:sp>
        <p:nvSpPr>
          <p:cNvPr id="3" name="Shape 1"/>
          <p:cNvSpPr/>
          <p:nvPr/>
        </p:nvSpPr>
        <p:spPr>
          <a:xfrm>
            <a:off x="0" y="5065776"/>
            <a:ext cx="9144000" cy="73152"/>
          </a:xfrm>
          <a:prstGeom prst="rect">
            <a:avLst/>
          </a:prstGeom>
          <a:solidFill>
            <a:srgbClr val="1A1A2E"/>
          </a:solidFill>
          <a:ln w="12700">
            <a:solidFill>
              <a:srgbClr val="1A1A2E"/>
            </a:solidFill>
            <a:prstDash val="solid"/>
          </a:ln>
        </p:spPr>
      </p:sp>
      <p:sp>
        <p:nvSpPr>
          <p:cNvPr id="4" name="Text 2"/>
          <p:cNvSpPr/>
          <p:nvPr/>
        </p:nvSpPr>
        <p:spPr>
          <a:xfrm>
            <a:off x="457200" y="128016"/>
            <a:ext cx="8229600" cy="201168"/>
          </a:xfrm>
          <a:prstGeom prst="rect">
            <a:avLst/>
          </a:prstGeom>
          <a:noFill/>
          <a:ln/>
        </p:spPr>
        <p:txBody>
          <a:bodyPr wrap="square" rtlCol="0" anchor="ctr"/>
          <a:lstStyle/>
          <a:p>
            <a:pPr algn="l" indent="0" marL="0">
              <a:buNone/>
            </a:pPr>
            <a:r>
              <a:rPr lang="en-US" sz="800" b="1" spc="600" kern="0" dirty="0">
                <a:solidFill>
                  <a:srgbClr val="16213E"/>
                </a:solidFill>
                <a:latin typeface="Calibri" pitchFamily="34" charset="0"/>
                <a:ea typeface="Calibri" pitchFamily="34" charset="-122"/>
                <a:cs typeface="Calibri" pitchFamily="34" charset="-120"/>
              </a:rPr>
              <a:t>COMPETITIVE LANDSCAPE</a:t>
            </a:r>
            <a:endParaRPr lang="en-US" sz="800" dirty="0"/>
          </a:p>
        </p:txBody>
      </p:sp>
      <p:sp>
        <p:nvSpPr>
          <p:cNvPr id="5" name="Text 3"/>
          <p:cNvSpPr/>
          <p:nvPr/>
        </p:nvSpPr>
        <p:spPr>
          <a:xfrm>
            <a:off x="502920" y="438912"/>
            <a:ext cx="8138160" cy="640080"/>
          </a:xfrm>
          <a:prstGeom prst="rect">
            <a:avLst/>
          </a:prstGeom>
          <a:noFill/>
          <a:ln/>
        </p:spPr>
        <p:txBody>
          <a:bodyPr wrap="square" lIns="0" tIns="0" rIns="0" bIns="0" rtlCol="0" anchor="ctr"/>
          <a:lstStyle/>
          <a:p>
            <a:pPr algn="l" indent="0" marL="0">
              <a:buNone/>
            </a:pPr>
            <a:r>
              <a:rPr lang="en-US" sz="2800" b="1" dirty="0">
                <a:solidFill>
                  <a:srgbClr val="1A1A2E"/>
                </a:solidFill>
                <a:latin typeface="Georgia" pitchFamily="34" charset="0"/>
                <a:ea typeface="Georgia" pitchFamily="34" charset="-122"/>
                <a:cs typeface="Georgia" pitchFamily="34" charset="-120"/>
              </a:rPr>
              <a:t>No One Else Has Built This. Here Is Why.</a:t>
            </a:r>
            <a:endParaRPr lang="en-US" sz="2800" dirty="0"/>
          </a:p>
        </p:txBody>
      </p:sp>
      <p:sp>
        <p:nvSpPr>
          <p:cNvPr id="6" name="Shape 4"/>
          <p:cNvSpPr/>
          <p:nvPr/>
        </p:nvSpPr>
        <p:spPr>
          <a:xfrm>
            <a:off x="457200" y="1188720"/>
            <a:ext cx="2615184" cy="384048"/>
          </a:xfrm>
          <a:prstGeom prst="rect">
            <a:avLst/>
          </a:prstGeom>
          <a:solidFill>
            <a:srgbClr val="E8E6DF"/>
          </a:solidFill>
          <a:ln w="12700">
            <a:solidFill>
              <a:srgbClr val="CCCCBB"/>
            </a:solidFill>
            <a:prstDash val="solid"/>
          </a:ln>
        </p:spPr>
      </p:sp>
      <p:sp>
        <p:nvSpPr>
          <p:cNvPr id="7" name="Text 5"/>
          <p:cNvSpPr/>
          <p:nvPr/>
        </p:nvSpPr>
        <p:spPr>
          <a:xfrm>
            <a:off x="530352" y="1234440"/>
            <a:ext cx="2487168" cy="274320"/>
          </a:xfrm>
          <a:prstGeom prst="rect">
            <a:avLst/>
          </a:prstGeom>
          <a:noFill/>
          <a:ln/>
        </p:spPr>
        <p:txBody>
          <a:bodyPr wrap="square" rtlCol="0" anchor="ctr"/>
          <a:lstStyle/>
          <a:p>
            <a:pPr algn="ctr" indent="0" marL="0">
              <a:buNone/>
            </a:pPr>
            <a:r>
              <a:rPr lang="en-US" sz="950" b="1" dirty="0">
                <a:solidFill>
                  <a:srgbClr val="1A1A2E"/>
                </a:solidFill>
                <a:latin typeface="Calibri" pitchFamily="34" charset="0"/>
                <a:ea typeface="Calibri" pitchFamily="34" charset="-122"/>
                <a:cs typeface="Calibri" pitchFamily="34" charset="-120"/>
              </a:rPr>
              <a:t>Capability</a:t>
            </a:r>
            <a:endParaRPr lang="en-US" sz="950" dirty="0"/>
          </a:p>
        </p:txBody>
      </p:sp>
      <p:sp>
        <p:nvSpPr>
          <p:cNvPr id="8" name="Shape 6"/>
          <p:cNvSpPr/>
          <p:nvPr/>
        </p:nvSpPr>
        <p:spPr>
          <a:xfrm>
            <a:off x="3108960" y="1188720"/>
            <a:ext cx="1380744" cy="384048"/>
          </a:xfrm>
          <a:prstGeom prst="rect">
            <a:avLst/>
          </a:prstGeom>
          <a:solidFill>
            <a:srgbClr val="E8E6DF"/>
          </a:solidFill>
          <a:ln w="12700">
            <a:solidFill>
              <a:srgbClr val="CCCCBB"/>
            </a:solidFill>
            <a:prstDash val="solid"/>
          </a:ln>
        </p:spPr>
      </p:sp>
      <p:sp>
        <p:nvSpPr>
          <p:cNvPr id="9" name="Text 7"/>
          <p:cNvSpPr/>
          <p:nvPr/>
        </p:nvSpPr>
        <p:spPr>
          <a:xfrm>
            <a:off x="3182112" y="1234440"/>
            <a:ext cx="1252728" cy="274320"/>
          </a:xfrm>
          <a:prstGeom prst="rect">
            <a:avLst/>
          </a:prstGeom>
          <a:noFill/>
          <a:ln/>
        </p:spPr>
        <p:txBody>
          <a:bodyPr wrap="square" rtlCol="0" anchor="ctr"/>
          <a:lstStyle/>
          <a:p>
            <a:pPr algn="ctr" indent="0" marL="0">
              <a:buNone/>
            </a:pPr>
            <a:r>
              <a:rPr lang="en-US" sz="950" b="1" dirty="0">
                <a:solidFill>
                  <a:srgbClr val="1A1A2E"/>
                </a:solidFill>
                <a:latin typeface="Calibri" pitchFamily="34" charset="0"/>
                <a:ea typeface="Calibri" pitchFamily="34" charset="-122"/>
                <a:cs typeface="Calibri" pitchFamily="34" charset="-120"/>
              </a:rPr>
              <a:t>Traditional LLMs</a:t>
            </a:r>
            <a:endParaRPr lang="en-US" sz="950" dirty="0"/>
          </a:p>
        </p:txBody>
      </p:sp>
      <p:sp>
        <p:nvSpPr>
          <p:cNvPr id="10" name="Shape 8"/>
          <p:cNvSpPr/>
          <p:nvPr/>
        </p:nvSpPr>
        <p:spPr>
          <a:xfrm>
            <a:off x="4526280" y="1188720"/>
            <a:ext cx="1152144" cy="384048"/>
          </a:xfrm>
          <a:prstGeom prst="rect">
            <a:avLst/>
          </a:prstGeom>
          <a:solidFill>
            <a:srgbClr val="E8E6DF"/>
          </a:solidFill>
          <a:ln w="12700">
            <a:solidFill>
              <a:srgbClr val="CCCCBB"/>
            </a:solidFill>
            <a:prstDash val="solid"/>
          </a:ln>
        </p:spPr>
      </p:sp>
      <p:sp>
        <p:nvSpPr>
          <p:cNvPr id="11" name="Text 9"/>
          <p:cNvSpPr/>
          <p:nvPr/>
        </p:nvSpPr>
        <p:spPr>
          <a:xfrm>
            <a:off x="4599432" y="1234440"/>
            <a:ext cx="1024128" cy="274320"/>
          </a:xfrm>
          <a:prstGeom prst="rect">
            <a:avLst/>
          </a:prstGeom>
          <a:noFill/>
          <a:ln/>
        </p:spPr>
        <p:txBody>
          <a:bodyPr wrap="square" rtlCol="0" anchor="ctr"/>
          <a:lstStyle/>
          <a:p>
            <a:pPr algn="ctr" indent="0" marL="0">
              <a:buNone/>
            </a:pPr>
            <a:r>
              <a:rPr lang="en-US" sz="950" b="1" dirty="0">
                <a:solidFill>
                  <a:srgbClr val="1A1A2E"/>
                </a:solidFill>
                <a:latin typeface="Calibri" pitchFamily="34" charset="0"/>
                <a:ea typeface="Calibri" pitchFamily="34" charset="-122"/>
                <a:cs typeface="Calibri" pitchFamily="34" charset="-120"/>
              </a:rPr>
              <a:t>Qiskit/Cirq</a:t>
            </a:r>
            <a:endParaRPr lang="en-US" sz="950" dirty="0"/>
          </a:p>
        </p:txBody>
      </p:sp>
      <p:sp>
        <p:nvSpPr>
          <p:cNvPr id="12" name="Shape 10"/>
          <p:cNvSpPr/>
          <p:nvPr/>
        </p:nvSpPr>
        <p:spPr>
          <a:xfrm>
            <a:off x="5715000" y="1188720"/>
            <a:ext cx="1655064" cy="384048"/>
          </a:xfrm>
          <a:prstGeom prst="rect">
            <a:avLst/>
          </a:prstGeom>
          <a:solidFill>
            <a:srgbClr val="E8E6DF"/>
          </a:solidFill>
          <a:ln w="12700">
            <a:solidFill>
              <a:srgbClr val="CCCCBB"/>
            </a:solidFill>
            <a:prstDash val="solid"/>
          </a:ln>
        </p:spPr>
      </p:sp>
      <p:sp>
        <p:nvSpPr>
          <p:cNvPr id="13" name="Text 11"/>
          <p:cNvSpPr/>
          <p:nvPr/>
        </p:nvSpPr>
        <p:spPr>
          <a:xfrm>
            <a:off x="5788152" y="1234440"/>
            <a:ext cx="1527048" cy="274320"/>
          </a:xfrm>
          <a:prstGeom prst="rect">
            <a:avLst/>
          </a:prstGeom>
          <a:noFill/>
          <a:ln/>
        </p:spPr>
        <p:txBody>
          <a:bodyPr wrap="square" rtlCol="0" anchor="ctr"/>
          <a:lstStyle/>
          <a:p>
            <a:pPr algn="ctr" indent="0" marL="0">
              <a:buNone/>
            </a:pPr>
            <a:r>
              <a:rPr lang="en-US" sz="950" b="1" dirty="0">
                <a:solidFill>
                  <a:srgbClr val="1A1A2E"/>
                </a:solidFill>
                <a:latin typeface="Calibri" pitchFamily="34" charset="0"/>
                <a:ea typeface="Calibri" pitchFamily="34" charset="-122"/>
                <a:cs typeface="Calibri" pitchFamily="34" charset="-120"/>
              </a:rPr>
              <a:t>LangChain/AutoGPT</a:t>
            </a:r>
            <a:endParaRPr lang="en-US" sz="950" dirty="0"/>
          </a:p>
        </p:txBody>
      </p:sp>
      <p:sp>
        <p:nvSpPr>
          <p:cNvPr id="14" name="Shape 12"/>
          <p:cNvSpPr/>
          <p:nvPr/>
        </p:nvSpPr>
        <p:spPr>
          <a:xfrm>
            <a:off x="7406640" y="1188720"/>
            <a:ext cx="1289304" cy="384048"/>
          </a:xfrm>
          <a:prstGeom prst="rect">
            <a:avLst/>
          </a:prstGeom>
          <a:solidFill>
            <a:srgbClr val="1A1A2E"/>
          </a:solidFill>
          <a:ln w="12700">
            <a:solidFill>
              <a:srgbClr val="C9A84C"/>
            </a:solidFill>
            <a:prstDash val="solid"/>
          </a:ln>
        </p:spPr>
      </p:sp>
      <p:sp>
        <p:nvSpPr>
          <p:cNvPr id="15" name="Text 13"/>
          <p:cNvSpPr/>
          <p:nvPr/>
        </p:nvSpPr>
        <p:spPr>
          <a:xfrm>
            <a:off x="7479792" y="1234440"/>
            <a:ext cx="1161288" cy="274320"/>
          </a:xfrm>
          <a:prstGeom prst="rect">
            <a:avLst/>
          </a:prstGeom>
          <a:noFill/>
          <a:ln/>
        </p:spPr>
        <p:txBody>
          <a:bodyPr wrap="square" rtlCol="0" anchor="ctr"/>
          <a:lstStyle/>
          <a:p>
            <a:pPr algn="ctr" indent="0" marL="0">
              <a:buNone/>
            </a:pPr>
            <a:r>
              <a:rPr lang="en-US" sz="1100" b="1" spc="200" kern="0" dirty="0">
                <a:solidFill>
                  <a:srgbClr val="C9A84C"/>
                </a:solidFill>
                <a:latin typeface="Calibri" pitchFamily="34" charset="0"/>
                <a:ea typeface="Calibri" pitchFamily="34" charset="-122"/>
                <a:cs typeface="Calibri" pitchFamily="34" charset="-120"/>
              </a:rPr>
              <a:t>AEONMI</a:t>
            </a:r>
            <a:endParaRPr lang="en-US" sz="1100" dirty="0"/>
          </a:p>
        </p:txBody>
      </p:sp>
      <p:sp>
        <p:nvSpPr>
          <p:cNvPr id="16" name="Shape 14"/>
          <p:cNvSpPr/>
          <p:nvPr/>
        </p:nvSpPr>
        <p:spPr>
          <a:xfrm>
            <a:off x="457200" y="1572768"/>
            <a:ext cx="2615184" cy="365760"/>
          </a:xfrm>
          <a:prstGeom prst="rect">
            <a:avLst/>
          </a:prstGeom>
          <a:solidFill>
            <a:srgbClr val="FFFFFF"/>
          </a:solidFill>
          <a:ln w="12700">
            <a:solidFill>
              <a:srgbClr val="DDDDCC"/>
            </a:solidFill>
            <a:prstDash val="solid"/>
          </a:ln>
        </p:spPr>
      </p:sp>
      <p:sp>
        <p:nvSpPr>
          <p:cNvPr id="17" name="Text 15"/>
          <p:cNvSpPr/>
          <p:nvPr/>
        </p:nvSpPr>
        <p:spPr>
          <a:xfrm>
            <a:off x="530352" y="1645920"/>
            <a:ext cx="2487168" cy="237744"/>
          </a:xfrm>
          <a:prstGeom prst="rect">
            <a:avLst/>
          </a:prstGeom>
          <a:noFill/>
          <a:ln/>
        </p:spPr>
        <p:txBody>
          <a:bodyPr wrap="square" rtlCol="0" anchor="ctr"/>
          <a:lstStyle/>
          <a:p>
            <a:pPr algn="l" indent="0" marL="0">
              <a:buNone/>
            </a:pPr>
            <a:r>
              <a:rPr lang="en-US" sz="950" b="1" dirty="0">
                <a:solidFill>
                  <a:srgbClr val="555566"/>
                </a:solidFill>
                <a:latin typeface="Calibri" pitchFamily="34" charset="0"/>
                <a:ea typeface="Calibri" pitchFamily="34" charset="-122"/>
                <a:cs typeface="Calibri" pitchFamily="34" charset="-120"/>
              </a:rPr>
              <a:t>Quantum-native syntax</a:t>
            </a:r>
            <a:endParaRPr lang="en-US" sz="950" dirty="0"/>
          </a:p>
        </p:txBody>
      </p:sp>
      <p:sp>
        <p:nvSpPr>
          <p:cNvPr id="18" name="Shape 16"/>
          <p:cNvSpPr/>
          <p:nvPr/>
        </p:nvSpPr>
        <p:spPr>
          <a:xfrm>
            <a:off x="3108960" y="1572768"/>
            <a:ext cx="1380744" cy="365760"/>
          </a:xfrm>
          <a:prstGeom prst="rect">
            <a:avLst/>
          </a:prstGeom>
          <a:solidFill>
            <a:srgbClr val="FFFFFF"/>
          </a:solidFill>
          <a:ln w="12700">
            <a:solidFill>
              <a:srgbClr val="DDDDCC"/>
            </a:solidFill>
            <a:prstDash val="solid"/>
          </a:ln>
        </p:spPr>
      </p:sp>
      <p:sp>
        <p:nvSpPr>
          <p:cNvPr id="19" name="Text 17"/>
          <p:cNvSpPr/>
          <p:nvPr/>
        </p:nvSpPr>
        <p:spPr>
          <a:xfrm>
            <a:off x="3182112" y="1645920"/>
            <a:ext cx="1252728" cy="237744"/>
          </a:xfrm>
          <a:prstGeom prst="rect">
            <a:avLst/>
          </a:prstGeom>
          <a:noFill/>
          <a:ln/>
        </p:spPr>
        <p:txBody>
          <a:bodyPr wrap="square" rtlCol="0" anchor="ctr"/>
          <a:lstStyle/>
          <a:p>
            <a:pPr algn="ctr" indent="0" marL="0">
              <a:buNone/>
            </a:pPr>
            <a:r>
              <a:rPr lang="en-US" sz="1100" dirty="0">
                <a:solidFill>
                  <a:srgbClr val="CC4444"/>
                </a:solidFill>
                <a:latin typeface="Calibri" pitchFamily="34" charset="0"/>
                <a:ea typeface="Calibri" pitchFamily="34" charset="-122"/>
                <a:cs typeface="Calibri" pitchFamily="34" charset="-120"/>
              </a:rPr>
              <a:t>✗</a:t>
            </a:r>
            <a:endParaRPr lang="en-US" sz="1100" dirty="0"/>
          </a:p>
        </p:txBody>
      </p:sp>
      <p:sp>
        <p:nvSpPr>
          <p:cNvPr id="20" name="Shape 18"/>
          <p:cNvSpPr/>
          <p:nvPr/>
        </p:nvSpPr>
        <p:spPr>
          <a:xfrm>
            <a:off x="4526280" y="1572768"/>
            <a:ext cx="1152144" cy="365760"/>
          </a:xfrm>
          <a:prstGeom prst="rect">
            <a:avLst/>
          </a:prstGeom>
          <a:solidFill>
            <a:srgbClr val="FFFFFF"/>
          </a:solidFill>
          <a:ln w="12700">
            <a:solidFill>
              <a:srgbClr val="DDDDCC"/>
            </a:solidFill>
            <a:prstDash val="solid"/>
          </a:ln>
        </p:spPr>
      </p:sp>
      <p:sp>
        <p:nvSpPr>
          <p:cNvPr id="21" name="Text 19"/>
          <p:cNvSpPr/>
          <p:nvPr/>
        </p:nvSpPr>
        <p:spPr>
          <a:xfrm>
            <a:off x="4599432" y="1645920"/>
            <a:ext cx="1024128" cy="237744"/>
          </a:xfrm>
          <a:prstGeom prst="rect">
            <a:avLst/>
          </a:prstGeom>
          <a:noFill/>
          <a:ln/>
        </p:spPr>
        <p:txBody>
          <a:bodyPr wrap="square" rtlCol="0" anchor="ctr"/>
          <a:lstStyle/>
          <a:p>
            <a:pPr algn="ctr" indent="0" marL="0">
              <a:buNone/>
            </a:pPr>
            <a:r>
              <a:rPr lang="en-US" sz="1100" dirty="0">
                <a:solidFill>
                  <a:srgbClr val="555566"/>
                </a:solidFill>
                <a:latin typeface="Calibri" pitchFamily="34" charset="0"/>
                <a:ea typeface="Calibri" pitchFamily="34" charset="-122"/>
                <a:cs typeface="Calibri" pitchFamily="34" charset="-120"/>
              </a:rPr>
              <a:t>Partial</a:t>
            </a:r>
            <a:endParaRPr lang="en-US" sz="1100" dirty="0"/>
          </a:p>
        </p:txBody>
      </p:sp>
      <p:sp>
        <p:nvSpPr>
          <p:cNvPr id="22" name="Shape 20"/>
          <p:cNvSpPr/>
          <p:nvPr/>
        </p:nvSpPr>
        <p:spPr>
          <a:xfrm>
            <a:off x="5715000" y="1572768"/>
            <a:ext cx="1655064" cy="365760"/>
          </a:xfrm>
          <a:prstGeom prst="rect">
            <a:avLst/>
          </a:prstGeom>
          <a:solidFill>
            <a:srgbClr val="FFFFFF"/>
          </a:solidFill>
          <a:ln w="12700">
            <a:solidFill>
              <a:srgbClr val="DDDDCC"/>
            </a:solidFill>
            <a:prstDash val="solid"/>
          </a:ln>
        </p:spPr>
      </p:sp>
      <p:sp>
        <p:nvSpPr>
          <p:cNvPr id="23" name="Text 21"/>
          <p:cNvSpPr/>
          <p:nvPr/>
        </p:nvSpPr>
        <p:spPr>
          <a:xfrm>
            <a:off x="5788152" y="1645920"/>
            <a:ext cx="1527048" cy="237744"/>
          </a:xfrm>
          <a:prstGeom prst="rect">
            <a:avLst/>
          </a:prstGeom>
          <a:noFill/>
          <a:ln/>
        </p:spPr>
        <p:txBody>
          <a:bodyPr wrap="square" rtlCol="0" anchor="ctr"/>
          <a:lstStyle/>
          <a:p>
            <a:pPr algn="ctr" indent="0" marL="0">
              <a:buNone/>
            </a:pPr>
            <a:r>
              <a:rPr lang="en-US" sz="1100" dirty="0">
                <a:solidFill>
                  <a:srgbClr val="CC4444"/>
                </a:solidFill>
                <a:latin typeface="Calibri" pitchFamily="34" charset="0"/>
                <a:ea typeface="Calibri" pitchFamily="34" charset="-122"/>
                <a:cs typeface="Calibri" pitchFamily="34" charset="-120"/>
              </a:rPr>
              <a:t>✗</a:t>
            </a:r>
            <a:endParaRPr lang="en-US" sz="1100" dirty="0"/>
          </a:p>
        </p:txBody>
      </p:sp>
      <p:sp>
        <p:nvSpPr>
          <p:cNvPr id="24" name="Shape 22"/>
          <p:cNvSpPr/>
          <p:nvPr/>
        </p:nvSpPr>
        <p:spPr>
          <a:xfrm>
            <a:off x="7406640" y="1572768"/>
            <a:ext cx="1289304" cy="365760"/>
          </a:xfrm>
          <a:prstGeom prst="rect">
            <a:avLst/>
          </a:prstGeom>
          <a:solidFill>
            <a:srgbClr val="1A1A2E"/>
          </a:solidFill>
          <a:ln w="12700">
            <a:solidFill>
              <a:srgbClr val="C9A84C"/>
            </a:solidFill>
            <a:prstDash val="solid"/>
          </a:ln>
        </p:spPr>
      </p:sp>
      <p:sp>
        <p:nvSpPr>
          <p:cNvPr id="25" name="Text 23"/>
          <p:cNvSpPr/>
          <p:nvPr/>
        </p:nvSpPr>
        <p:spPr>
          <a:xfrm>
            <a:off x="7479792" y="1645920"/>
            <a:ext cx="1161288" cy="237744"/>
          </a:xfrm>
          <a:prstGeom prst="rect">
            <a:avLst/>
          </a:prstGeom>
          <a:noFill/>
          <a:ln/>
        </p:spPr>
        <p:txBody>
          <a:bodyPr wrap="square" rtlCol="0" anchor="ctr"/>
          <a:lstStyle/>
          <a:p>
            <a:pPr algn="ctr" indent="0" marL="0">
              <a:buNone/>
            </a:pPr>
            <a:r>
              <a:rPr lang="en-US" sz="1100" b="1" dirty="0">
                <a:solidFill>
                  <a:srgbClr val="2ECC71"/>
                </a:solidFill>
                <a:latin typeface="Calibri" pitchFamily="34" charset="0"/>
                <a:ea typeface="Calibri" pitchFamily="34" charset="-122"/>
                <a:cs typeface="Calibri" pitchFamily="34" charset="-120"/>
              </a:rPr>
              <a:t>✓</a:t>
            </a:r>
            <a:endParaRPr lang="en-US" sz="1100" dirty="0"/>
          </a:p>
        </p:txBody>
      </p:sp>
      <p:sp>
        <p:nvSpPr>
          <p:cNvPr id="26" name="Shape 24"/>
          <p:cNvSpPr/>
          <p:nvPr/>
        </p:nvSpPr>
        <p:spPr>
          <a:xfrm>
            <a:off x="457200" y="1975104"/>
            <a:ext cx="2615184" cy="365760"/>
          </a:xfrm>
          <a:prstGeom prst="rect">
            <a:avLst/>
          </a:prstGeom>
          <a:solidFill>
            <a:srgbClr val="F4F3EE"/>
          </a:solidFill>
          <a:ln w="12700">
            <a:solidFill>
              <a:srgbClr val="DDDDCC"/>
            </a:solidFill>
            <a:prstDash val="solid"/>
          </a:ln>
        </p:spPr>
      </p:sp>
      <p:sp>
        <p:nvSpPr>
          <p:cNvPr id="27" name="Text 25"/>
          <p:cNvSpPr/>
          <p:nvPr/>
        </p:nvSpPr>
        <p:spPr>
          <a:xfrm>
            <a:off x="530352" y="2048256"/>
            <a:ext cx="2487168" cy="237744"/>
          </a:xfrm>
          <a:prstGeom prst="rect">
            <a:avLst/>
          </a:prstGeom>
          <a:noFill/>
          <a:ln/>
        </p:spPr>
        <p:txBody>
          <a:bodyPr wrap="square" rtlCol="0" anchor="ctr"/>
          <a:lstStyle/>
          <a:p>
            <a:pPr algn="l" indent="0" marL="0">
              <a:buNone/>
            </a:pPr>
            <a:r>
              <a:rPr lang="en-US" sz="950" b="1" dirty="0">
                <a:solidFill>
                  <a:srgbClr val="555566"/>
                </a:solidFill>
                <a:latin typeface="Calibri" pitchFamily="34" charset="0"/>
                <a:ea typeface="Calibri" pitchFamily="34" charset="-122"/>
                <a:cs typeface="Calibri" pitchFamily="34" charset="-120"/>
              </a:rPr>
              <a:t>Self-hosting compiler</a:t>
            </a:r>
            <a:endParaRPr lang="en-US" sz="950" dirty="0"/>
          </a:p>
        </p:txBody>
      </p:sp>
      <p:sp>
        <p:nvSpPr>
          <p:cNvPr id="28" name="Shape 26"/>
          <p:cNvSpPr/>
          <p:nvPr/>
        </p:nvSpPr>
        <p:spPr>
          <a:xfrm>
            <a:off x="3108960" y="1975104"/>
            <a:ext cx="1380744" cy="365760"/>
          </a:xfrm>
          <a:prstGeom prst="rect">
            <a:avLst/>
          </a:prstGeom>
          <a:solidFill>
            <a:srgbClr val="F4F3EE"/>
          </a:solidFill>
          <a:ln w="12700">
            <a:solidFill>
              <a:srgbClr val="DDDDCC"/>
            </a:solidFill>
            <a:prstDash val="solid"/>
          </a:ln>
        </p:spPr>
      </p:sp>
      <p:sp>
        <p:nvSpPr>
          <p:cNvPr id="29" name="Text 27"/>
          <p:cNvSpPr/>
          <p:nvPr/>
        </p:nvSpPr>
        <p:spPr>
          <a:xfrm>
            <a:off x="3182112" y="2048256"/>
            <a:ext cx="1252728" cy="237744"/>
          </a:xfrm>
          <a:prstGeom prst="rect">
            <a:avLst/>
          </a:prstGeom>
          <a:noFill/>
          <a:ln/>
        </p:spPr>
        <p:txBody>
          <a:bodyPr wrap="square" rtlCol="0" anchor="ctr"/>
          <a:lstStyle/>
          <a:p>
            <a:pPr algn="ctr" indent="0" marL="0">
              <a:buNone/>
            </a:pPr>
            <a:r>
              <a:rPr lang="en-US" sz="1100" dirty="0">
                <a:solidFill>
                  <a:srgbClr val="CC4444"/>
                </a:solidFill>
                <a:latin typeface="Calibri" pitchFamily="34" charset="0"/>
                <a:ea typeface="Calibri" pitchFamily="34" charset="-122"/>
                <a:cs typeface="Calibri" pitchFamily="34" charset="-120"/>
              </a:rPr>
              <a:t>✗</a:t>
            </a:r>
            <a:endParaRPr lang="en-US" sz="1100" dirty="0"/>
          </a:p>
        </p:txBody>
      </p:sp>
      <p:sp>
        <p:nvSpPr>
          <p:cNvPr id="30" name="Shape 28"/>
          <p:cNvSpPr/>
          <p:nvPr/>
        </p:nvSpPr>
        <p:spPr>
          <a:xfrm>
            <a:off x="4526280" y="1975104"/>
            <a:ext cx="1152144" cy="365760"/>
          </a:xfrm>
          <a:prstGeom prst="rect">
            <a:avLst/>
          </a:prstGeom>
          <a:solidFill>
            <a:srgbClr val="F4F3EE"/>
          </a:solidFill>
          <a:ln w="12700">
            <a:solidFill>
              <a:srgbClr val="DDDDCC"/>
            </a:solidFill>
            <a:prstDash val="solid"/>
          </a:ln>
        </p:spPr>
      </p:sp>
      <p:sp>
        <p:nvSpPr>
          <p:cNvPr id="31" name="Text 29"/>
          <p:cNvSpPr/>
          <p:nvPr/>
        </p:nvSpPr>
        <p:spPr>
          <a:xfrm>
            <a:off x="4599432" y="2048256"/>
            <a:ext cx="1024128" cy="237744"/>
          </a:xfrm>
          <a:prstGeom prst="rect">
            <a:avLst/>
          </a:prstGeom>
          <a:noFill/>
          <a:ln/>
        </p:spPr>
        <p:txBody>
          <a:bodyPr wrap="square" rtlCol="0" anchor="ctr"/>
          <a:lstStyle/>
          <a:p>
            <a:pPr algn="ctr" indent="0" marL="0">
              <a:buNone/>
            </a:pPr>
            <a:r>
              <a:rPr lang="en-US" sz="1100" dirty="0">
                <a:solidFill>
                  <a:srgbClr val="CC4444"/>
                </a:solidFill>
                <a:latin typeface="Calibri" pitchFamily="34" charset="0"/>
                <a:ea typeface="Calibri" pitchFamily="34" charset="-122"/>
                <a:cs typeface="Calibri" pitchFamily="34" charset="-120"/>
              </a:rPr>
              <a:t>✗</a:t>
            </a:r>
            <a:endParaRPr lang="en-US" sz="1100" dirty="0"/>
          </a:p>
        </p:txBody>
      </p:sp>
      <p:sp>
        <p:nvSpPr>
          <p:cNvPr id="32" name="Shape 30"/>
          <p:cNvSpPr/>
          <p:nvPr/>
        </p:nvSpPr>
        <p:spPr>
          <a:xfrm>
            <a:off x="5715000" y="1975104"/>
            <a:ext cx="1655064" cy="365760"/>
          </a:xfrm>
          <a:prstGeom prst="rect">
            <a:avLst/>
          </a:prstGeom>
          <a:solidFill>
            <a:srgbClr val="F4F3EE"/>
          </a:solidFill>
          <a:ln w="12700">
            <a:solidFill>
              <a:srgbClr val="DDDDCC"/>
            </a:solidFill>
            <a:prstDash val="solid"/>
          </a:ln>
        </p:spPr>
      </p:sp>
      <p:sp>
        <p:nvSpPr>
          <p:cNvPr id="33" name="Text 31"/>
          <p:cNvSpPr/>
          <p:nvPr/>
        </p:nvSpPr>
        <p:spPr>
          <a:xfrm>
            <a:off x="5788152" y="2048256"/>
            <a:ext cx="1527048" cy="237744"/>
          </a:xfrm>
          <a:prstGeom prst="rect">
            <a:avLst/>
          </a:prstGeom>
          <a:noFill/>
          <a:ln/>
        </p:spPr>
        <p:txBody>
          <a:bodyPr wrap="square" rtlCol="0" anchor="ctr"/>
          <a:lstStyle/>
          <a:p>
            <a:pPr algn="ctr" indent="0" marL="0">
              <a:buNone/>
            </a:pPr>
            <a:r>
              <a:rPr lang="en-US" sz="1100" dirty="0">
                <a:solidFill>
                  <a:srgbClr val="CC4444"/>
                </a:solidFill>
                <a:latin typeface="Calibri" pitchFamily="34" charset="0"/>
                <a:ea typeface="Calibri" pitchFamily="34" charset="-122"/>
                <a:cs typeface="Calibri" pitchFamily="34" charset="-120"/>
              </a:rPr>
              <a:t>✗</a:t>
            </a:r>
            <a:endParaRPr lang="en-US" sz="1100" dirty="0"/>
          </a:p>
        </p:txBody>
      </p:sp>
      <p:sp>
        <p:nvSpPr>
          <p:cNvPr id="34" name="Shape 32"/>
          <p:cNvSpPr/>
          <p:nvPr/>
        </p:nvSpPr>
        <p:spPr>
          <a:xfrm>
            <a:off x="7406640" y="1975104"/>
            <a:ext cx="1289304" cy="365760"/>
          </a:xfrm>
          <a:prstGeom prst="rect">
            <a:avLst/>
          </a:prstGeom>
          <a:solidFill>
            <a:srgbClr val="16213E"/>
          </a:solidFill>
          <a:ln w="12700">
            <a:solidFill>
              <a:srgbClr val="C9A84C"/>
            </a:solidFill>
            <a:prstDash val="solid"/>
          </a:ln>
        </p:spPr>
      </p:sp>
      <p:sp>
        <p:nvSpPr>
          <p:cNvPr id="35" name="Text 33"/>
          <p:cNvSpPr/>
          <p:nvPr/>
        </p:nvSpPr>
        <p:spPr>
          <a:xfrm>
            <a:off x="7479792" y="2048256"/>
            <a:ext cx="1161288" cy="237744"/>
          </a:xfrm>
          <a:prstGeom prst="rect">
            <a:avLst/>
          </a:prstGeom>
          <a:noFill/>
          <a:ln/>
        </p:spPr>
        <p:txBody>
          <a:bodyPr wrap="square" rtlCol="0" anchor="ctr"/>
          <a:lstStyle/>
          <a:p>
            <a:pPr algn="ctr" indent="0" marL="0">
              <a:buNone/>
            </a:pPr>
            <a:r>
              <a:rPr lang="en-US" sz="1100" b="1" dirty="0">
                <a:solidFill>
                  <a:srgbClr val="2ECC71"/>
                </a:solidFill>
                <a:latin typeface="Calibri" pitchFamily="34" charset="0"/>
                <a:ea typeface="Calibri" pitchFamily="34" charset="-122"/>
                <a:cs typeface="Calibri" pitchFamily="34" charset="-120"/>
              </a:rPr>
              <a:t>✓</a:t>
            </a:r>
            <a:endParaRPr lang="en-US" sz="1100" dirty="0"/>
          </a:p>
        </p:txBody>
      </p:sp>
      <p:sp>
        <p:nvSpPr>
          <p:cNvPr id="36" name="Shape 34"/>
          <p:cNvSpPr/>
          <p:nvPr/>
        </p:nvSpPr>
        <p:spPr>
          <a:xfrm>
            <a:off x="457200" y="2377440"/>
            <a:ext cx="2615184" cy="365760"/>
          </a:xfrm>
          <a:prstGeom prst="rect">
            <a:avLst/>
          </a:prstGeom>
          <a:solidFill>
            <a:srgbClr val="FFFFFF"/>
          </a:solidFill>
          <a:ln w="12700">
            <a:solidFill>
              <a:srgbClr val="DDDDCC"/>
            </a:solidFill>
            <a:prstDash val="solid"/>
          </a:ln>
        </p:spPr>
      </p:sp>
      <p:sp>
        <p:nvSpPr>
          <p:cNvPr id="37" name="Text 35"/>
          <p:cNvSpPr/>
          <p:nvPr/>
        </p:nvSpPr>
        <p:spPr>
          <a:xfrm>
            <a:off x="530352" y="2450592"/>
            <a:ext cx="2487168" cy="237744"/>
          </a:xfrm>
          <a:prstGeom prst="rect">
            <a:avLst/>
          </a:prstGeom>
          <a:noFill/>
          <a:ln/>
        </p:spPr>
        <p:txBody>
          <a:bodyPr wrap="square" rtlCol="0" anchor="ctr"/>
          <a:lstStyle/>
          <a:p>
            <a:pPr algn="l" indent="0" marL="0">
              <a:buNone/>
            </a:pPr>
            <a:r>
              <a:rPr lang="en-US" sz="950" b="1" dirty="0">
                <a:solidFill>
                  <a:srgbClr val="555566"/>
                </a:solidFill>
                <a:latin typeface="Calibri" pitchFamily="34" charset="0"/>
                <a:ea typeface="Calibri" pitchFamily="34" charset="-122"/>
                <a:cs typeface="Calibri" pitchFamily="34" charset="-120"/>
              </a:rPr>
              <a:t>Persistent cognitive state</a:t>
            </a:r>
            <a:endParaRPr lang="en-US" sz="950" dirty="0"/>
          </a:p>
        </p:txBody>
      </p:sp>
      <p:sp>
        <p:nvSpPr>
          <p:cNvPr id="38" name="Shape 36"/>
          <p:cNvSpPr/>
          <p:nvPr/>
        </p:nvSpPr>
        <p:spPr>
          <a:xfrm>
            <a:off x="3108960" y="2377440"/>
            <a:ext cx="1380744" cy="365760"/>
          </a:xfrm>
          <a:prstGeom prst="rect">
            <a:avLst/>
          </a:prstGeom>
          <a:solidFill>
            <a:srgbClr val="FFFFFF"/>
          </a:solidFill>
          <a:ln w="12700">
            <a:solidFill>
              <a:srgbClr val="DDDDCC"/>
            </a:solidFill>
            <a:prstDash val="solid"/>
          </a:ln>
        </p:spPr>
      </p:sp>
      <p:sp>
        <p:nvSpPr>
          <p:cNvPr id="39" name="Text 37"/>
          <p:cNvSpPr/>
          <p:nvPr/>
        </p:nvSpPr>
        <p:spPr>
          <a:xfrm>
            <a:off x="3182112" y="2450592"/>
            <a:ext cx="1252728" cy="237744"/>
          </a:xfrm>
          <a:prstGeom prst="rect">
            <a:avLst/>
          </a:prstGeom>
          <a:noFill/>
          <a:ln/>
        </p:spPr>
        <p:txBody>
          <a:bodyPr wrap="square" rtlCol="0" anchor="ctr"/>
          <a:lstStyle/>
          <a:p>
            <a:pPr algn="ctr" indent="0" marL="0">
              <a:buNone/>
            </a:pPr>
            <a:r>
              <a:rPr lang="en-US" sz="1100" dirty="0">
                <a:solidFill>
                  <a:srgbClr val="CC4444"/>
                </a:solidFill>
                <a:latin typeface="Calibri" pitchFamily="34" charset="0"/>
                <a:ea typeface="Calibri" pitchFamily="34" charset="-122"/>
                <a:cs typeface="Calibri" pitchFamily="34" charset="-120"/>
              </a:rPr>
              <a:t>✗</a:t>
            </a:r>
            <a:endParaRPr lang="en-US" sz="1100" dirty="0"/>
          </a:p>
        </p:txBody>
      </p:sp>
      <p:sp>
        <p:nvSpPr>
          <p:cNvPr id="40" name="Shape 38"/>
          <p:cNvSpPr/>
          <p:nvPr/>
        </p:nvSpPr>
        <p:spPr>
          <a:xfrm>
            <a:off x="4526280" y="2377440"/>
            <a:ext cx="1152144" cy="365760"/>
          </a:xfrm>
          <a:prstGeom prst="rect">
            <a:avLst/>
          </a:prstGeom>
          <a:solidFill>
            <a:srgbClr val="FFFFFF"/>
          </a:solidFill>
          <a:ln w="12700">
            <a:solidFill>
              <a:srgbClr val="DDDDCC"/>
            </a:solidFill>
            <a:prstDash val="solid"/>
          </a:ln>
        </p:spPr>
      </p:sp>
      <p:sp>
        <p:nvSpPr>
          <p:cNvPr id="41" name="Text 39"/>
          <p:cNvSpPr/>
          <p:nvPr/>
        </p:nvSpPr>
        <p:spPr>
          <a:xfrm>
            <a:off x="4599432" y="2450592"/>
            <a:ext cx="1024128" cy="237744"/>
          </a:xfrm>
          <a:prstGeom prst="rect">
            <a:avLst/>
          </a:prstGeom>
          <a:noFill/>
          <a:ln/>
        </p:spPr>
        <p:txBody>
          <a:bodyPr wrap="square" rtlCol="0" anchor="ctr"/>
          <a:lstStyle/>
          <a:p>
            <a:pPr algn="ctr" indent="0" marL="0">
              <a:buNone/>
            </a:pPr>
            <a:r>
              <a:rPr lang="en-US" sz="1100" dirty="0">
                <a:solidFill>
                  <a:srgbClr val="CC4444"/>
                </a:solidFill>
                <a:latin typeface="Calibri" pitchFamily="34" charset="0"/>
                <a:ea typeface="Calibri" pitchFamily="34" charset="-122"/>
                <a:cs typeface="Calibri" pitchFamily="34" charset="-120"/>
              </a:rPr>
              <a:t>✗</a:t>
            </a:r>
            <a:endParaRPr lang="en-US" sz="1100" dirty="0"/>
          </a:p>
        </p:txBody>
      </p:sp>
      <p:sp>
        <p:nvSpPr>
          <p:cNvPr id="42" name="Shape 40"/>
          <p:cNvSpPr/>
          <p:nvPr/>
        </p:nvSpPr>
        <p:spPr>
          <a:xfrm>
            <a:off x="5715000" y="2377440"/>
            <a:ext cx="1655064" cy="365760"/>
          </a:xfrm>
          <a:prstGeom prst="rect">
            <a:avLst/>
          </a:prstGeom>
          <a:solidFill>
            <a:srgbClr val="FFFFFF"/>
          </a:solidFill>
          <a:ln w="12700">
            <a:solidFill>
              <a:srgbClr val="DDDDCC"/>
            </a:solidFill>
            <a:prstDash val="solid"/>
          </a:ln>
        </p:spPr>
      </p:sp>
      <p:sp>
        <p:nvSpPr>
          <p:cNvPr id="43" name="Text 41"/>
          <p:cNvSpPr/>
          <p:nvPr/>
        </p:nvSpPr>
        <p:spPr>
          <a:xfrm>
            <a:off x="5788152" y="2450592"/>
            <a:ext cx="1527048" cy="237744"/>
          </a:xfrm>
          <a:prstGeom prst="rect">
            <a:avLst/>
          </a:prstGeom>
          <a:noFill/>
          <a:ln/>
        </p:spPr>
        <p:txBody>
          <a:bodyPr wrap="square" rtlCol="0" anchor="ctr"/>
          <a:lstStyle/>
          <a:p>
            <a:pPr algn="ctr" indent="0" marL="0">
              <a:buNone/>
            </a:pPr>
            <a:r>
              <a:rPr lang="en-US" sz="1100" dirty="0">
                <a:solidFill>
                  <a:srgbClr val="CC4444"/>
                </a:solidFill>
                <a:latin typeface="Calibri" pitchFamily="34" charset="0"/>
                <a:ea typeface="Calibri" pitchFamily="34" charset="-122"/>
                <a:cs typeface="Calibri" pitchFamily="34" charset="-120"/>
              </a:rPr>
              <a:t>✗</a:t>
            </a:r>
            <a:endParaRPr lang="en-US" sz="1100" dirty="0"/>
          </a:p>
        </p:txBody>
      </p:sp>
      <p:sp>
        <p:nvSpPr>
          <p:cNvPr id="44" name="Shape 42"/>
          <p:cNvSpPr/>
          <p:nvPr/>
        </p:nvSpPr>
        <p:spPr>
          <a:xfrm>
            <a:off x="7406640" y="2377440"/>
            <a:ext cx="1289304" cy="365760"/>
          </a:xfrm>
          <a:prstGeom prst="rect">
            <a:avLst/>
          </a:prstGeom>
          <a:solidFill>
            <a:srgbClr val="1A1A2E"/>
          </a:solidFill>
          <a:ln w="12700">
            <a:solidFill>
              <a:srgbClr val="C9A84C"/>
            </a:solidFill>
            <a:prstDash val="solid"/>
          </a:ln>
        </p:spPr>
      </p:sp>
      <p:sp>
        <p:nvSpPr>
          <p:cNvPr id="45" name="Text 43"/>
          <p:cNvSpPr/>
          <p:nvPr/>
        </p:nvSpPr>
        <p:spPr>
          <a:xfrm>
            <a:off x="7479792" y="2450592"/>
            <a:ext cx="1161288" cy="237744"/>
          </a:xfrm>
          <a:prstGeom prst="rect">
            <a:avLst/>
          </a:prstGeom>
          <a:noFill/>
          <a:ln/>
        </p:spPr>
        <p:txBody>
          <a:bodyPr wrap="square" rtlCol="0" anchor="ctr"/>
          <a:lstStyle/>
          <a:p>
            <a:pPr algn="ctr" indent="0" marL="0">
              <a:buNone/>
            </a:pPr>
            <a:r>
              <a:rPr lang="en-US" sz="1100" b="1" dirty="0">
                <a:solidFill>
                  <a:srgbClr val="2ECC71"/>
                </a:solidFill>
                <a:latin typeface="Calibri" pitchFamily="34" charset="0"/>
                <a:ea typeface="Calibri" pitchFamily="34" charset="-122"/>
                <a:cs typeface="Calibri" pitchFamily="34" charset="-120"/>
              </a:rPr>
              <a:t>✓</a:t>
            </a:r>
            <a:endParaRPr lang="en-US" sz="1100" dirty="0"/>
          </a:p>
        </p:txBody>
      </p:sp>
      <p:sp>
        <p:nvSpPr>
          <p:cNvPr id="46" name="Shape 44"/>
          <p:cNvSpPr/>
          <p:nvPr/>
        </p:nvSpPr>
        <p:spPr>
          <a:xfrm>
            <a:off x="457200" y="2779776"/>
            <a:ext cx="2615184" cy="365760"/>
          </a:xfrm>
          <a:prstGeom prst="rect">
            <a:avLst/>
          </a:prstGeom>
          <a:solidFill>
            <a:srgbClr val="F4F3EE"/>
          </a:solidFill>
          <a:ln w="12700">
            <a:solidFill>
              <a:srgbClr val="DDDDCC"/>
            </a:solidFill>
            <a:prstDash val="solid"/>
          </a:ln>
        </p:spPr>
      </p:sp>
      <p:sp>
        <p:nvSpPr>
          <p:cNvPr id="47" name="Text 45"/>
          <p:cNvSpPr/>
          <p:nvPr/>
        </p:nvSpPr>
        <p:spPr>
          <a:xfrm>
            <a:off x="530352" y="2852928"/>
            <a:ext cx="2487168" cy="237744"/>
          </a:xfrm>
          <a:prstGeom prst="rect">
            <a:avLst/>
          </a:prstGeom>
          <a:noFill/>
          <a:ln/>
        </p:spPr>
        <p:txBody>
          <a:bodyPr wrap="square" rtlCol="0" anchor="ctr"/>
          <a:lstStyle/>
          <a:p>
            <a:pPr algn="l" indent="0" marL="0">
              <a:buNone/>
            </a:pPr>
            <a:r>
              <a:rPr lang="en-US" sz="950" b="1" dirty="0">
                <a:solidFill>
                  <a:srgbClr val="555566"/>
                </a:solidFill>
                <a:latin typeface="Calibri" pitchFamily="34" charset="0"/>
                <a:ea typeface="Calibri" pitchFamily="34" charset="-122"/>
                <a:cs typeface="Calibri" pitchFamily="34" charset="-120"/>
              </a:rPr>
              <a:t>Multi-tier memory + decay</a:t>
            </a:r>
            <a:endParaRPr lang="en-US" sz="950" dirty="0"/>
          </a:p>
        </p:txBody>
      </p:sp>
      <p:sp>
        <p:nvSpPr>
          <p:cNvPr id="48" name="Shape 46"/>
          <p:cNvSpPr/>
          <p:nvPr/>
        </p:nvSpPr>
        <p:spPr>
          <a:xfrm>
            <a:off x="3108960" y="2779776"/>
            <a:ext cx="1380744" cy="365760"/>
          </a:xfrm>
          <a:prstGeom prst="rect">
            <a:avLst/>
          </a:prstGeom>
          <a:solidFill>
            <a:srgbClr val="F4F3EE"/>
          </a:solidFill>
          <a:ln w="12700">
            <a:solidFill>
              <a:srgbClr val="DDDDCC"/>
            </a:solidFill>
            <a:prstDash val="solid"/>
          </a:ln>
        </p:spPr>
      </p:sp>
      <p:sp>
        <p:nvSpPr>
          <p:cNvPr id="49" name="Text 47"/>
          <p:cNvSpPr/>
          <p:nvPr/>
        </p:nvSpPr>
        <p:spPr>
          <a:xfrm>
            <a:off x="3182112" y="2852928"/>
            <a:ext cx="1252728" cy="237744"/>
          </a:xfrm>
          <a:prstGeom prst="rect">
            <a:avLst/>
          </a:prstGeom>
          <a:noFill/>
          <a:ln/>
        </p:spPr>
        <p:txBody>
          <a:bodyPr wrap="square" rtlCol="0" anchor="ctr"/>
          <a:lstStyle/>
          <a:p>
            <a:pPr algn="ctr" indent="0" marL="0">
              <a:buNone/>
            </a:pPr>
            <a:r>
              <a:rPr lang="en-US" sz="1100" dirty="0">
                <a:solidFill>
                  <a:srgbClr val="CC4444"/>
                </a:solidFill>
                <a:latin typeface="Calibri" pitchFamily="34" charset="0"/>
                <a:ea typeface="Calibri" pitchFamily="34" charset="-122"/>
                <a:cs typeface="Calibri" pitchFamily="34" charset="-120"/>
              </a:rPr>
              <a:t>✗</a:t>
            </a:r>
            <a:endParaRPr lang="en-US" sz="1100" dirty="0"/>
          </a:p>
        </p:txBody>
      </p:sp>
      <p:sp>
        <p:nvSpPr>
          <p:cNvPr id="50" name="Shape 48"/>
          <p:cNvSpPr/>
          <p:nvPr/>
        </p:nvSpPr>
        <p:spPr>
          <a:xfrm>
            <a:off x="4526280" y="2779776"/>
            <a:ext cx="1152144" cy="365760"/>
          </a:xfrm>
          <a:prstGeom prst="rect">
            <a:avLst/>
          </a:prstGeom>
          <a:solidFill>
            <a:srgbClr val="F4F3EE"/>
          </a:solidFill>
          <a:ln w="12700">
            <a:solidFill>
              <a:srgbClr val="DDDDCC"/>
            </a:solidFill>
            <a:prstDash val="solid"/>
          </a:ln>
        </p:spPr>
      </p:sp>
      <p:sp>
        <p:nvSpPr>
          <p:cNvPr id="51" name="Text 49"/>
          <p:cNvSpPr/>
          <p:nvPr/>
        </p:nvSpPr>
        <p:spPr>
          <a:xfrm>
            <a:off x="4599432" y="2852928"/>
            <a:ext cx="1024128" cy="237744"/>
          </a:xfrm>
          <a:prstGeom prst="rect">
            <a:avLst/>
          </a:prstGeom>
          <a:noFill/>
          <a:ln/>
        </p:spPr>
        <p:txBody>
          <a:bodyPr wrap="square" rtlCol="0" anchor="ctr"/>
          <a:lstStyle/>
          <a:p>
            <a:pPr algn="ctr" indent="0" marL="0">
              <a:buNone/>
            </a:pPr>
            <a:r>
              <a:rPr lang="en-US" sz="1100" dirty="0">
                <a:solidFill>
                  <a:srgbClr val="CC4444"/>
                </a:solidFill>
                <a:latin typeface="Calibri" pitchFamily="34" charset="0"/>
                <a:ea typeface="Calibri" pitchFamily="34" charset="-122"/>
                <a:cs typeface="Calibri" pitchFamily="34" charset="-120"/>
              </a:rPr>
              <a:t>✗</a:t>
            </a:r>
            <a:endParaRPr lang="en-US" sz="1100" dirty="0"/>
          </a:p>
        </p:txBody>
      </p:sp>
      <p:sp>
        <p:nvSpPr>
          <p:cNvPr id="52" name="Shape 50"/>
          <p:cNvSpPr/>
          <p:nvPr/>
        </p:nvSpPr>
        <p:spPr>
          <a:xfrm>
            <a:off x="5715000" y="2779776"/>
            <a:ext cx="1655064" cy="365760"/>
          </a:xfrm>
          <a:prstGeom prst="rect">
            <a:avLst/>
          </a:prstGeom>
          <a:solidFill>
            <a:srgbClr val="F4F3EE"/>
          </a:solidFill>
          <a:ln w="12700">
            <a:solidFill>
              <a:srgbClr val="DDDDCC"/>
            </a:solidFill>
            <a:prstDash val="solid"/>
          </a:ln>
        </p:spPr>
      </p:sp>
      <p:sp>
        <p:nvSpPr>
          <p:cNvPr id="53" name="Text 51"/>
          <p:cNvSpPr/>
          <p:nvPr/>
        </p:nvSpPr>
        <p:spPr>
          <a:xfrm>
            <a:off x="5788152" y="2852928"/>
            <a:ext cx="1527048" cy="237744"/>
          </a:xfrm>
          <a:prstGeom prst="rect">
            <a:avLst/>
          </a:prstGeom>
          <a:noFill/>
          <a:ln/>
        </p:spPr>
        <p:txBody>
          <a:bodyPr wrap="square" rtlCol="0" anchor="ctr"/>
          <a:lstStyle/>
          <a:p>
            <a:pPr algn="ctr" indent="0" marL="0">
              <a:buNone/>
            </a:pPr>
            <a:r>
              <a:rPr lang="en-US" sz="1100" dirty="0">
                <a:solidFill>
                  <a:srgbClr val="CC4444"/>
                </a:solidFill>
                <a:latin typeface="Calibri" pitchFamily="34" charset="0"/>
                <a:ea typeface="Calibri" pitchFamily="34" charset="-122"/>
                <a:cs typeface="Calibri" pitchFamily="34" charset="-120"/>
              </a:rPr>
              <a:t>✗</a:t>
            </a:r>
            <a:endParaRPr lang="en-US" sz="1100" dirty="0"/>
          </a:p>
        </p:txBody>
      </p:sp>
      <p:sp>
        <p:nvSpPr>
          <p:cNvPr id="54" name="Shape 52"/>
          <p:cNvSpPr/>
          <p:nvPr/>
        </p:nvSpPr>
        <p:spPr>
          <a:xfrm>
            <a:off x="7406640" y="2779776"/>
            <a:ext cx="1289304" cy="365760"/>
          </a:xfrm>
          <a:prstGeom prst="rect">
            <a:avLst/>
          </a:prstGeom>
          <a:solidFill>
            <a:srgbClr val="16213E"/>
          </a:solidFill>
          <a:ln w="12700">
            <a:solidFill>
              <a:srgbClr val="C9A84C"/>
            </a:solidFill>
            <a:prstDash val="solid"/>
          </a:ln>
        </p:spPr>
      </p:sp>
      <p:sp>
        <p:nvSpPr>
          <p:cNvPr id="55" name="Text 53"/>
          <p:cNvSpPr/>
          <p:nvPr/>
        </p:nvSpPr>
        <p:spPr>
          <a:xfrm>
            <a:off x="7479792" y="2852928"/>
            <a:ext cx="1161288" cy="237744"/>
          </a:xfrm>
          <a:prstGeom prst="rect">
            <a:avLst/>
          </a:prstGeom>
          <a:noFill/>
          <a:ln/>
        </p:spPr>
        <p:txBody>
          <a:bodyPr wrap="square" rtlCol="0" anchor="ctr"/>
          <a:lstStyle/>
          <a:p>
            <a:pPr algn="ctr" indent="0" marL="0">
              <a:buNone/>
            </a:pPr>
            <a:r>
              <a:rPr lang="en-US" sz="1100" b="1" dirty="0">
                <a:solidFill>
                  <a:srgbClr val="2ECC71"/>
                </a:solidFill>
                <a:latin typeface="Calibri" pitchFamily="34" charset="0"/>
                <a:ea typeface="Calibri" pitchFamily="34" charset="-122"/>
                <a:cs typeface="Calibri" pitchFamily="34" charset="-120"/>
              </a:rPr>
              <a:t>✓</a:t>
            </a:r>
            <a:endParaRPr lang="en-US" sz="1100" dirty="0"/>
          </a:p>
        </p:txBody>
      </p:sp>
      <p:sp>
        <p:nvSpPr>
          <p:cNvPr id="56" name="Shape 54"/>
          <p:cNvSpPr/>
          <p:nvPr/>
        </p:nvSpPr>
        <p:spPr>
          <a:xfrm>
            <a:off x="457200" y="3182112"/>
            <a:ext cx="2615184" cy="365760"/>
          </a:xfrm>
          <a:prstGeom prst="rect">
            <a:avLst/>
          </a:prstGeom>
          <a:solidFill>
            <a:srgbClr val="FFFFFF"/>
          </a:solidFill>
          <a:ln w="12700">
            <a:solidFill>
              <a:srgbClr val="DDDDCC"/>
            </a:solidFill>
            <a:prstDash val="solid"/>
          </a:ln>
        </p:spPr>
      </p:sp>
      <p:sp>
        <p:nvSpPr>
          <p:cNvPr id="57" name="Text 55"/>
          <p:cNvSpPr/>
          <p:nvPr/>
        </p:nvSpPr>
        <p:spPr>
          <a:xfrm>
            <a:off x="530352" y="3255264"/>
            <a:ext cx="2487168" cy="237744"/>
          </a:xfrm>
          <a:prstGeom prst="rect">
            <a:avLst/>
          </a:prstGeom>
          <a:noFill/>
          <a:ln/>
        </p:spPr>
        <p:txBody>
          <a:bodyPr wrap="square" rtlCol="0" anchor="ctr"/>
          <a:lstStyle/>
          <a:p>
            <a:pPr algn="l" indent="0" marL="0">
              <a:buNone/>
            </a:pPr>
            <a:r>
              <a:rPr lang="en-US" sz="950" b="1" dirty="0">
                <a:solidFill>
                  <a:srgbClr val="555566"/>
                </a:solidFill>
                <a:latin typeface="Calibri" pitchFamily="34" charset="0"/>
                <a:ea typeface="Calibri" pitchFamily="34" charset="-122"/>
                <a:cs typeface="Calibri" pitchFamily="34" charset="-120"/>
              </a:rPr>
              <a:t>Quantum conflict resolution</a:t>
            </a:r>
            <a:endParaRPr lang="en-US" sz="950" dirty="0"/>
          </a:p>
        </p:txBody>
      </p:sp>
      <p:sp>
        <p:nvSpPr>
          <p:cNvPr id="58" name="Shape 56"/>
          <p:cNvSpPr/>
          <p:nvPr/>
        </p:nvSpPr>
        <p:spPr>
          <a:xfrm>
            <a:off x="3108960" y="3182112"/>
            <a:ext cx="1380744" cy="365760"/>
          </a:xfrm>
          <a:prstGeom prst="rect">
            <a:avLst/>
          </a:prstGeom>
          <a:solidFill>
            <a:srgbClr val="FFFFFF"/>
          </a:solidFill>
          <a:ln w="12700">
            <a:solidFill>
              <a:srgbClr val="DDDDCC"/>
            </a:solidFill>
            <a:prstDash val="solid"/>
          </a:ln>
        </p:spPr>
      </p:sp>
      <p:sp>
        <p:nvSpPr>
          <p:cNvPr id="59" name="Text 57"/>
          <p:cNvSpPr/>
          <p:nvPr/>
        </p:nvSpPr>
        <p:spPr>
          <a:xfrm>
            <a:off x="3182112" y="3255264"/>
            <a:ext cx="1252728" cy="237744"/>
          </a:xfrm>
          <a:prstGeom prst="rect">
            <a:avLst/>
          </a:prstGeom>
          <a:noFill/>
          <a:ln/>
        </p:spPr>
        <p:txBody>
          <a:bodyPr wrap="square" rtlCol="0" anchor="ctr"/>
          <a:lstStyle/>
          <a:p>
            <a:pPr algn="ctr" indent="0" marL="0">
              <a:buNone/>
            </a:pPr>
            <a:r>
              <a:rPr lang="en-US" sz="1100" dirty="0">
                <a:solidFill>
                  <a:srgbClr val="CC4444"/>
                </a:solidFill>
                <a:latin typeface="Calibri" pitchFamily="34" charset="0"/>
                <a:ea typeface="Calibri" pitchFamily="34" charset="-122"/>
                <a:cs typeface="Calibri" pitchFamily="34" charset="-120"/>
              </a:rPr>
              <a:t>✗</a:t>
            </a:r>
            <a:endParaRPr lang="en-US" sz="1100" dirty="0"/>
          </a:p>
        </p:txBody>
      </p:sp>
      <p:sp>
        <p:nvSpPr>
          <p:cNvPr id="60" name="Shape 58"/>
          <p:cNvSpPr/>
          <p:nvPr/>
        </p:nvSpPr>
        <p:spPr>
          <a:xfrm>
            <a:off x="4526280" y="3182112"/>
            <a:ext cx="1152144" cy="365760"/>
          </a:xfrm>
          <a:prstGeom prst="rect">
            <a:avLst/>
          </a:prstGeom>
          <a:solidFill>
            <a:srgbClr val="FFFFFF"/>
          </a:solidFill>
          <a:ln w="12700">
            <a:solidFill>
              <a:srgbClr val="DDDDCC"/>
            </a:solidFill>
            <a:prstDash val="solid"/>
          </a:ln>
        </p:spPr>
      </p:sp>
      <p:sp>
        <p:nvSpPr>
          <p:cNvPr id="61" name="Text 59"/>
          <p:cNvSpPr/>
          <p:nvPr/>
        </p:nvSpPr>
        <p:spPr>
          <a:xfrm>
            <a:off x="4599432" y="3255264"/>
            <a:ext cx="1024128" cy="237744"/>
          </a:xfrm>
          <a:prstGeom prst="rect">
            <a:avLst/>
          </a:prstGeom>
          <a:noFill/>
          <a:ln/>
        </p:spPr>
        <p:txBody>
          <a:bodyPr wrap="square" rtlCol="0" anchor="ctr"/>
          <a:lstStyle/>
          <a:p>
            <a:pPr algn="ctr" indent="0" marL="0">
              <a:buNone/>
            </a:pPr>
            <a:r>
              <a:rPr lang="en-US" sz="1100" dirty="0">
                <a:solidFill>
                  <a:srgbClr val="CC4444"/>
                </a:solidFill>
                <a:latin typeface="Calibri" pitchFamily="34" charset="0"/>
                <a:ea typeface="Calibri" pitchFamily="34" charset="-122"/>
                <a:cs typeface="Calibri" pitchFamily="34" charset="-120"/>
              </a:rPr>
              <a:t>✗</a:t>
            </a:r>
            <a:endParaRPr lang="en-US" sz="1100" dirty="0"/>
          </a:p>
        </p:txBody>
      </p:sp>
      <p:sp>
        <p:nvSpPr>
          <p:cNvPr id="62" name="Shape 60"/>
          <p:cNvSpPr/>
          <p:nvPr/>
        </p:nvSpPr>
        <p:spPr>
          <a:xfrm>
            <a:off x="5715000" y="3182112"/>
            <a:ext cx="1655064" cy="365760"/>
          </a:xfrm>
          <a:prstGeom prst="rect">
            <a:avLst/>
          </a:prstGeom>
          <a:solidFill>
            <a:srgbClr val="FFFFFF"/>
          </a:solidFill>
          <a:ln w="12700">
            <a:solidFill>
              <a:srgbClr val="DDDDCC"/>
            </a:solidFill>
            <a:prstDash val="solid"/>
          </a:ln>
        </p:spPr>
      </p:sp>
      <p:sp>
        <p:nvSpPr>
          <p:cNvPr id="63" name="Text 61"/>
          <p:cNvSpPr/>
          <p:nvPr/>
        </p:nvSpPr>
        <p:spPr>
          <a:xfrm>
            <a:off x="5788152" y="3255264"/>
            <a:ext cx="1527048" cy="237744"/>
          </a:xfrm>
          <a:prstGeom prst="rect">
            <a:avLst/>
          </a:prstGeom>
          <a:noFill/>
          <a:ln/>
        </p:spPr>
        <p:txBody>
          <a:bodyPr wrap="square" rtlCol="0" anchor="ctr"/>
          <a:lstStyle/>
          <a:p>
            <a:pPr algn="ctr" indent="0" marL="0">
              <a:buNone/>
            </a:pPr>
            <a:r>
              <a:rPr lang="en-US" sz="1100" dirty="0">
                <a:solidFill>
                  <a:srgbClr val="CC4444"/>
                </a:solidFill>
                <a:latin typeface="Calibri" pitchFamily="34" charset="0"/>
                <a:ea typeface="Calibri" pitchFamily="34" charset="-122"/>
                <a:cs typeface="Calibri" pitchFamily="34" charset="-120"/>
              </a:rPr>
              <a:t>✗</a:t>
            </a:r>
            <a:endParaRPr lang="en-US" sz="1100" dirty="0"/>
          </a:p>
        </p:txBody>
      </p:sp>
      <p:sp>
        <p:nvSpPr>
          <p:cNvPr id="64" name="Shape 62"/>
          <p:cNvSpPr/>
          <p:nvPr/>
        </p:nvSpPr>
        <p:spPr>
          <a:xfrm>
            <a:off x="7406640" y="3182112"/>
            <a:ext cx="1289304" cy="365760"/>
          </a:xfrm>
          <a:prstGeom prst="rect">
            <a:avLst/>
          </a:prstGeom>
          <a:solidFill>
            <a:srgbClr val="1A1A2E"/>
          </a:solidFill>
          <a:ln w="12700">
            <a:solidFill>
              <a:srgbClr val="C9A84C"/>
            </a:solidFill>
            <a:prstDash val="solid"/>
          </a:ln>
        </p:spPr>
      </p:sp>
      <p:sp>
        <p:nvSpPr>
          <p:cNvPr id="65" name="Text 63"/>
          <p:cNvSpPr/>
          <p:nvPr/>
        </p:nvSpPr>
        <p:spPr>
          <a:xfrm>
            <a:off x="7479792" y="3255264"/>
            <a:ext cx="1161288" cy="237744"/>
          </a:xfrm>
          <a:prstGeom prst="rect">
            <a:avLst/>
          </a:prstGeom>
          <a:noFill/>
          <a:ln/>
        </p:spPr>
        <p:txBody>
          <a:bodyPr wrap="square" rtlCol="0" anchor="ctr"/>
          <a:lstStyle/>
          <a:p>
            <a:pPr algn="ctr" indent="0" marL="0">
              <a:buNone/>
            </a:pPr>
            <a:r>
              <a:rPr lang="en-US" sz="1100" b="1" dirty="0">
                <a:solidFill>
                  <a:srgbClr val="2ECC71"/>
                </a:solidFill>
                <a:latin typeface="Calibri" pitchFamily="34" charset="0"/>
                <a:ea typeface="Calibri" pitchFamily="34" charset="-122"/>
                <a:cs typeface="Calibri" pitchFamily="34" charset="-120"/>
              </a:rPr>
              <a:t>✓</a:t>
            </a:r>
            <a:endParaRPr lang="en-US" sz="1100" dirty="0"/>
          </a:p>
        </p:txBody>
      </p:sp>
      <p:sp>
        <p:nvSpPr>
          <p:cNvPr id="66" name="Shape 64"/>
          <p:cNvSpPr/>
          <p:nvPr/>
        </p:nvSpPr>
        <p:spPr>
          <a:xfrm>
            <a:off x="457200" y="3584448"/>
            <a:ext cx="2615184" cy="365760"/>
          </a:xfrm>
          <a:prstGeom prst="rect">
            <a:avLst/>
          </a:prstGeom>
          <a:solidFill>
            <a:srgbClr val="F4F3EE"/>
          </a:solidFill>
          <a:ln w="12700">
            <a:solidFill>
              <a:srgbClr val="DDDDCC"/>
            </a:solidFill>
            <a:prstDash val="solid"/>
          </a:ln>
        </p:spPr>
      </p:sp>
      <p:sp>
        <p:nvSpPr>
          <p:cNvPr id="67" name="Text 65"/>
          <p:cNvSpPr/>
          <p:nvPr/>
        </p:nvSpPr>
        <p:spPr>
          <a:xfrm>
            <a:off x="530352" y="3657600"/>
            <a:ext cx="2487168" cy="237744"/>
          </a:xfrm>
          <a:prstGeom prst="rect">
            <a:avLst/>
          </a:prstGeom>
          <a:noFill/>
          <a:ln/>
        </p:spPr>
        <p:txBody>
          <a:bodyPr wrap="square" rtlCol="0" anchor="ctr"/>
          <a:lstStyle/>
          <a:p>
            <a:pPr algn="l" indent="0" marL="0">
              <a:buNone/>
            </a:pPr>
            <a:r>
              <a:rPr lang="en-US" sz="950" b="1" dirty="0">
                <a:solidFill>
                  <a:srgbClr val="555566"/>
                </a:solidFill>
                <a:latin typeface="Calibri" pitchFamily="34" charset="0"/>
                <a:ea typeface="Calibri" pitchFamily="34" charset="-122"/>
                <a:cs typeface="Calibri" pitchFamily="34" charset="-120"/>
              </a:rPr>
              <a:t>Agent shard topology</a:t>
            </a:r>
            <a:endParaRPr lang="en-US" sz="950" dirty="0"/>
          </a:p>
        </p:txBody>
      </p:sp>
      <p:sp>
        <p:nvSpPr>
          <p:cNvPr id="68" name="Shape 66"/>
          <p:cNvSpPr/>
          <p:nvPr/>
        </p:nvSpPr>
        <p:spPr>
          <a:xfrm>
            <a:off x="3108960" y="3584448"/>
            <a:ext cx="1380744" cy="365760"/>
          </a:xfrm>
          <a:prstGeom prst="rect">
            <a:avLst/>
          </a:prstGeom>
          <a:solidFill>
            <a:srgbClr val="F4F3EE"/>
          </a:solidFill>
          <a:ln w="12700">
            <a:solidFill>
              <a:srgbClr val="DDDDCC"/>
            </a:solidFill>
            <a:prstDash val="solid"/>
          </a:ln>
        </p:spPr>
      </p:sp>
      <p:sp>
        <p:nvSpPr>
          <p:cNvPr id="69" name="Text 67"/>
          <p:cNvSpPr/>
          <p:nvPr/>
        </p:nvSpPr>
        <p:spPr>
          <a:xfrm>
            <a:off x="3182112" y="3657600"/>
            <a:ext cx="1252728" cy="237744"/>
          </a:xfrm>
          <a:prstGeom prst="rect">
            <a:avLst/>
          </a:prstGeom>
          <a:noFill/>
          <a:ln/>
        </p:spPr>
        <p:txBody>
          <a:bodyPr wrap="square" rtlCol="0" anchor="ctr"/>
          <a:lstStyle/>
          <a:p>
            <a:pPr algn="ctr" indent="0" marL="0">
              <a:buNone/>
            </a:pPr>
            <a:r>
              <a:rPr lang="en-US" sz="1100" dirty="0">
                <a:solidFill>
                  <a:srgbClr val="555566"/>
                </a:solidFill>
                <a:latin typeface="Calibri" pitchFamily="34" charset="0"/>
                <a:ea typeface="Calibri" pitchFamily="34" charset="-122"/>
                <a:cs typeface="Calibri" pitchFamily="34" charset="-120"/>
              </a:rPr>
              <a:t>Partial</a:t>
            </a:r>
            <a:endParaRPr lang="en-US" sz="1100" dirty="0"/>
          </a:p>
        </p:txBody>
      </p:sp>
      <p:sp>
        <p:nvSpPr>
          <p:cNvPr id="70" name="Shape 68"/>
          <p:cNvSpPr/>
          <p:nvPr/>
        </p:nvSpPr>
        <p:spPr>
          <a:xfrm>
            <a:off x="4526280" y="3584448"/>
            <a:ext cx="1152144" cy="365760"/>
          </a:xfrm>
          <a:prstGeom prst="rect">
            <a:avLst/>
          </a:prstGeom>
          <a:solidFill>
            <a:srgbClr val="F4F3EE"/>
          </a:solidFill>
          <a:ln w="12700">
            <a:solidFill>
              <a:srgbClr val="DDDDCC"/>
            </a:solidFill>
            <a:prstDash val="solid"/>
          </a:ln>
        </p:spPr>
      </p:sp>
      <p:sp>
        <p:nvSpPr>
          <p:cNvPr id="71" name="Text 69"/>
          <p:cNvSpPr/>
          <p:nvPr/>
        </p:nvSpPr>
        <p:spPr>
          <a:xfrm>
            <a:off x="4599432" y="3657600"/>
            <a:ext cx="1024128" cy="237744"/>
          </a:xfrm>
          <a:prstGeom prst="rect">
            <a:avLst/>
          </a:prstGeom>
          <a:noFill/>
          <a:ln/>
        </p:spPr>
        <p:txBody>
          <a:bodyPr wrap="square" rtlCol="0" anchor="ctr"/>
          <a:lstStyle/>
          <a:p>
            <a:pPr algn="ctr" indent="0" marL="0">
              <a:buNone/>
            </a:pPr>
            <a:r>
              <a:rPr lang="en-US" sz="1100" dirty="0">
                <a:solidFill>
                  <a:srgbClr val="CC4444"/>
                </a:solidFill>
                <a:latin typeface="Calibri" pitchFamily="34" charset="0"/>
                <a:ea typeface="Calibri" pitchFamily="34" charset="-122"/>
                <a:cs typeface="Calibri" pitchFamily="34" charset="-120"/>
              </a:rPr>
              <a:t>✗</a:t>
            </a:r>
            <a:endParaRPr lang="en-US" sz="1100" dirty="0"/>
          </a:p>
        </p:txBody>
      </p:sp>
      <p:sp>
        <p:nvSpPr>
          <p:cNvPr id="72" name="Shape 70"/>
          <p:cNvSpPr/>
          <p:nvPr/>
        </p:nvSpPr>
        <p:spPr>
          <a:xfrm>
            <a:off x="5715000" y="3584448"/>
            <a:ext cx="1655064" cy="365760"/>
          </a:xfrm>
          <a:prstGeom prst="rect">
            <a:avLst/>
          </a:prstGeom>
          <a:solidFill>
            <a:srgbClr val="F4F3EE"/>
          </a:solidFill>
          <a:ln w="12700">
            <a:solidFill>
              <a:srgbClr val="DDDDCC"/>
            </a:solidFill>
            <a:prstDash val="solid"/>
          </a:ln>
        </p:spPr>
      </p:sp>
      <p:sp>
        <p:nvSpPr>
          <p:cNvPr id="73" name="Text 71"/>
          <p:cNvSpPr/>
          <p:nvPr/>
        </p:nvSpPr>
        <p:spPr>
          <a:xfrm>
            <a:off x="5788152" y="3657600"/>
            <a:ext cx="1527048" cy="237744"/>
          </a:xfrm>
          <a:prstGeom prst="rect">
            <a:avLst/>
          </a:prstGeom>
          <a:noFill/>
          <a:ln/>
        </p:spPr>
        <p:txBody>
          <a:bodyPr wrap="square" rtlCol="0" anchor="ctr"/>
          <a:lstStyle/>
          <a:p>
            <a:pPr algn="ctr" indent="0" marL="0">
              <a:buNone/>
            </a:pPr>
            <a:r>
              <a:rPr lang="en-US" sz="1100" dirty="0">
                <a:solidFill>
                  <a:srgbClr val="555566"/>
                </a:solidFill>
                <a:latin typeface="Calibri" pitchFamily="34" charset="0"/>
                <a:ea typeface="Calibri" pitchFamily="34" charset="-122"/>
                <a:cs typeface="Calibri" pitchFamily="34" charset="-120"/>
              </a:rPr>
              <a:t>Partial</a:t>
            </a:r>
            <a:endParaRPr lang="en-US" sz="1100" dirty="0"/>
          </a:p>
        </p:txBody>
      </p:sp>
      <p:sp>
        <p:nvSpPr>
          <p:cNvPr id="74" name="Shape 72"/>
          <p:cNvSpPr/>
          <p:nvPr/>
        </p:nvSpPr>
        <p:spPr>
          <a:xfrm>
            <a:off x="7406640" y="3584448"/>
            <a:ext cx="1289304" cy="365760"/>
          </a:xfrm>
          <a:prstGeom prst="rect">
            <a:avLst/>
          </a:prstGeom>
          <a:solidFill>
            <a:srgbClr val="16213E"/>
          </a:solidFill>
          <a:ln w="12700">
            <a:solidFill>
              <a:srgbClr val="C9A84C"/>
            </a:solidFill>
            <a:prstDash val="solid"/>
          </a:ln>
        </p:spPr>
      </p:sp>
      <p:sp>
        <p:nvSpPr>
          <p:cNvPr id="75" name="Text 73"/>
          <p:cNvSpPr/>
          <p:nvPr/>
        </p:nvSpPr>
        <p:spPr>
          <a:xfrm>
            <a:off x="7479792" y="3657600"/>
            <a:ext cx="1161288" cy="237744"/>
          </a:xfrm>
          <a:prstGeom prst="rect">
            <a:avLst/>
          </a:prstGeom>
          <a:noFill/>
          <a:ln/>
        </p:spPr>
        <p:txBody>
          <a:bodyPr wrap="square" rtlCol="0" anchor="ctr"/>
          <a:lstStyle/>
          <a:p>
            <a:pPr algn="ctr" indent="0" marL="0">
              <a:buNone/>
            </a:pPr>
            <a:r>
              <a:rPr lang="en-US" sz="1100" b="1" dirty="0">
                <a:solidFill>
                  <a:srgbClr val="2ECC71"/>
                </a:solidFill>
                <a:latin typeface="Calibri" pitchFamily="34" charset="0"/>
                <a:ea typeface="Calibri" pitchFamily="34" charset="-122"/>
                <a:cs typeface="Calibri" pitchFamily="34" charset="-120"/>
              </a:rPr>
              <a:t>✓</a:t>
            </a:r>
            <a:endParaRPr lang="en-US" sz="1100" dirty="0"/>
          </a:p>
        </p:txBody>
      </p:sp>
      <p:sp>
        <p:nvSpPr>
          <p:cNvPr id="76" name="Shape 74"/>
          <p:cNvSpPr/>
          <p:nvPr/>
        </p:nvSpPr>
        <p:spPr>
          <a:xfrm>
            <a:off x="457200" y="3986784"/>
            <a:ext cx="2615184" cy="365760"/>
          </a:xfrm>
          <a:prstGeom prst="rect">
            <a:avLst/>
          </a:prstGeom>
          <a:solidFill>
            <a:srgbClr val="FFFFFF"/>
          </a:solidFill>
          <a:ln w="12700">
            <a:solidFill>
              <a:srgbClr val="DDDDCC"/>
            </a:solidFill>
            <a:prstDash val="solid"/>
          </a:ln>
        </p:spPr>
      </p:sp>
      <p:sp>
        <p:nvSpPr>
          <p:cNvPr id="77" name="Text 75"/>
          <p:cNvSpPr/>
          <p:nvPr/>
        </p:nvSpPr>
        <p:spPr>
          <a:xfrm>
            <a:off x="530352" y="4059936"/>
            <a:ext cx="2487168" cy="237744"/>
          </a:xfrm>
          <a:prstGeom prst="rect">
            <a:avLst/>
          </a:prstGeom>
          <a:noFill/>
          <a:ln/>
        </p:spPr>
        <p:txBody>
          <a:bodyPr wrap="square" rtlCol="0" anchor="ctr"/>
          <a:lstStyle/>
          <a:p>
            <a:pPr algn="l" indent="0" marL="0">
              <a:buNone/>
            </a:pPr>
            <a:r>
              <a:rPr lang="en-US" sz="950" b="1" dirty="0">
                <a:solidFill>
                  <a:srgbClr val="555566"/>
                </a:solidFill>
                <a:latin typeface="Calibri" pitchFamily="34" charset="0"/>
                <a:ea typeface="Calibri" pitchFamily="34" charset="-122"/>
                <a:cs typeface="Calibri" pitchFamily="34" charset="-120"/>
              </a:rPr>
              <a:t>Proprietary runtime IP</a:t>
            </a:r>
            <a:endParaRPr lang="en-US" sz="950" dirty="0"/>
          </a:p>
        </p:txBody>
      </p:sp>
      <p:sp>
        <p:nvSpPr>
          <p:cNvPr id="78" name="Shape 76"/>
          <p:cNvSpPr/>
          <p:nvPr/>
        </p:nvSpPr>
        <p:spPr>
          <a:xfrm>
            <a:off x="3108960" y="3986784"/>
            <a:ext cx="1380744" cy="365760"/>
          </a:xfrm>
          <a:prstGeom prst="rect">
            <a:avLst/>
          </a:prstGeom>
          <a:solidFill>
            <a:srgbClr val="FFFFFF"/>
          </a:solidFill>
          <a:ln w="12700">
            <a:solidFill>
              <a:srgbClr val="DDDDCC"/>
            </a:solidFill>
            <a:prstDash val="solid"/>
          </a:ln>
        </p:spPr>
      </p:sp>
      <p:sp>
        <p:nvSpPr>
          <p:cNvPr id="79" name="Text 77"/>
          <p:cNvSpPr/>
          <p:nvPr/>
        </p:nvSpPr>
        <p:spPr>
          <a:xfrm>
            <a:off x="3182112" y="4059936"/>
            <a:ext cx="1252728" cy="237744"/>
          </a:xfrm>
          <a:prstGeom prst="rect">
            <a:avLst/>
          </a:prstGeom>
          <a:noFill/>
          <a:ln/>
        </p:spPr>
        <p:txBody>
          <a:bodyPr wrap="square" rtlCol="0" anchor="ctr"/>
          <a:lstStyle/>
          <a:p>
            <a:pPr algn="ctr" indent="0" marL="0">
              <a:buNone/>
            </a:pPr>
            <a:r>
              <a:rPr lang="en-US" sz="1100" b="1" dirty="0">
                <a:solidFill>
                  <a:srgbClr val="2ECC71"/>
                </a:solidFill>
                <a:latin typeface="Calibri" pitchFamily="34" charset="0"/>
                <a:ea typeface="Calibri" pitchFamily="34" charset="-122"/>
                <a:cs typeface="Calibri" pitchFamily="34" charset="-120"/>
              </a:rPr>
              <a:t>✓</a:t>
            </a:r>
            <a:endParaRPr lang="en-US" sz="1100" dirty="0"/>
          </a:p>
        </p:txBody>
      </p:sp>
      <p:sp>
        <p:nvSpPr>
          <p:cNvPr id="80" name="Shape 78"/>
          <p:cNvSpPr/>
          <p:nvPr/>
        </p:nvSpPr>
        <p:spPr>
          <a:xfrm>
            <a:off x="4526280" y="3986784"/>
            <a:ext cx="1152144" cy="365760"/>
          </a:xfrm>
          <a:prstGeom prst="rect">
            <a:avLst/>
          </a:prstGeom>
          <a:solidFill>
            <a:srgbClr val="FFFFFF"/>
          </a:solidFill>
          <a:ln w="12700">
            <a:solidFill>
              <a:srgbClr val="DDDDCC"/>
            </a:solidFill>
            <a:prstDash val="solid"/>
          </a:ln>
        </p:spPr>
      </p:sp>
      <p:sp>
        <p:nvSpPr>
          <p:cNvPr id="81" name="Text 79"/>
          <p:cNvSpPr/>
          <p:nvPr/>
        </p:nvSpPr>
        <p:spPr>
          <a:xfrm>
            <a:off x="4599432" y="4059936"/>
            <a:ext cx="1024128" cy="237744"/>
          </a:xfrm>
          <a:prstGeom prst="rect">
            <a:avLst/>
          </a:prstGeom>
          <a:noFill/>
          <a:ln/>
        </p:spPr>
        <p:txBody>
          <a:bodyPr wrap="square" rtlCol="0" anchor="ctr"/>
          <a:lstStyle/>
          <a:p>
            <a:pPr algn="ctr" indent="0" marL="0">
              <a:buNone/>
            </a:pPr>
            <a:r>
              <a:rPr lang="en-US" sz="1100" b="1" dirty="0">
                <a:solidFill>
                  <a:srgbClr val="2ECC71"/>
                </a:solidFill>
                <a:latin typeface="Calibri" pitchFamily="34" charset="0"/>
                <a:ea typeface="Calibri" pitchFamily="34" charset="-122"/>
                <a:cs typeface="Calibri" pitchFamily="34" charset="-120"/>
              </a:rPr>
              <a:t>✓</a:t>
            </a:r>
            <a:endParaRPr lang="en-US" sz="1100" dirty="0"/>
          </a:p>
        </p:txBody>
      </p:sp>
      <p:sp>
        <p:nvSpPr>
          <p:cNvPr id="82" name="Shape 80"/>
          <p:cNvSpPr/>
          <p:nvPr/>
        </p:nvSpPr>
        <p:spPr>
          <a:xfrm>
            <a:off x="5715000" y="3986784"/>
            <a:ext cx="1655064" cy="365760"/>
          </a:xfrm>
          <a:prstGeom prst="rect">
            <a:avLst/>
          </a:prstGeom>
          <a:solidFill>
            <a:srgbClr val="FFFFFF"/>
          </a:solidFill>
          <a:ln w="12700">
            <a:solidFill>
              <a:srgbClr val="DDDDCC"/>
            </a:solidFill>
            <a:prstDash val="solid"/>
          </a:ln>
        </p:spPr>
      </p:sp>
      <p:sp>
        <p:nvSpPr>
          <p:cNvPr id="83" name="Text 81"/>
          <p:cNvSpPr/>
          <p:nvPr/>
        </p:nvSpPr>
        <p:spPr>
          <a:xfrm>
            <a:off x="5788152" y="4059936"/>
            <a:ext cx="1527048" cy="237744"/>
          </a:xfrm>
          <a:prstGeom prst="rect">
            <a:avLst/>
          </a:prstGeom>
          <a:noFill/>
          <a:ln/>
        </p:spPr>
        <p:txBody>
          <a:bodyPr wrap="square" rtlCol="0" anchor="ctr"/>
          <a:lstStyle/>
          <a:p>
            <a:pPr algn="ctr" indent="0" marL="0">
              <a:buNone/>
            </a:pPr>
            <a:r>
              <a:rPr lang="en-US" sz="1100" dirty="0">
                <a:solidFill>
                  <a:srgbClr val="CC4444"/>
                </a:solidFill>
                <a:latin typeface="Calibri" pitchFamily="34" charset="0"/>
                <a:ea typeface="Calibri" pitchFamily="34" charset="-122"/>
                <a:cs typeface="Calibri" pitchFamily="34" charset="-120"/>
              </a:rPr>
              <a:t>✗</a:t>
            </a:r>
            <a:endParaRPr lang="en-US" sz="1100" dirty="0"/>
          </a:p>
        </p:txBody>
      </p:sp>
      <p:sp>
        <p:nvSpPr>
          <p:cNvPr id="84" name="Shape 82"/>
          <p:cNvSpPr/>
          <p:nvPr/>
        </p:nvSpPr>
        <p:spPr>
          <a:xfrm>
            <a:off x="7406640" y="3986784"/>
            <a:ext cx="1289304" cy="365760"/>
          </a:xfrm>
          <a:prstGeom prst="rect">
            <a:avLst/>
          </a:prstGeom>
          <a:solidFill>
            <a:srgbClr val="1A1A2E"/>
          </a:solidFill>
          <a:ln w="12700">
            <a:solidFill>
              <a:srgbClr val="C9A84C"/>
            </a:solidFill>
            <a:prstDash val="solid"/>
          </a:ln>
        </p:spPr>
      </p:sp>
      <p:sp>
        <p:nvSpPr>
          <p:cNvPr id="85" name="Text 83"/>
          <p:cNvSpPr/>
          <p:nvPr/>
        </p:nvSpPr>
        <p:spPr>
          <a:xfrm>
            <a:off x="7479792" y="4059936"/>
            <a:ext cx="1161288" cy="237744"/>
          </a:xfrm>
          <a:prstGeom prst="rect">
            <a:avLst/>
          </a:prstGeom>
          <a:noFill/>
          <a:ln/>
        </p:spPr>
        <p:txBody>
          <a:bodyPr wrap="square" rtlCol="0" anchor="ctr"/>
          <a:lstStyle/>
          <a:p>
            <a:pPr algn="ctr" indent="0" marL="0">
              <a:buNone/>
            </a:pPr>
            <a:r>
              <a:rPr lang="en-US" sz="1100" b="1" dirty="0">
                <a:solidFill>
                  <a:srgbClr val="2ECC71"/>
                </a:solidFill>
                <a:latin typeface="Calibri" pitchFamily="34" charset="0"/>
                <a:ea typeface="Calibri" pitchFamily="34" charset="-122"/>
                <a:cs typeface="Calibri" pitchFamily="34" charset="-120"/>
              </a:rPr>
              <a:t>✓</a:t>
            </a:r>
            <a:endParaRPr lang="en-US" sz="1100" dirty="0"/>
          </a:p>
        </p:txBody>
      </p:sp>
      <p:sp>
        <p:nvSpPr>
          <p:cNvPr id="86" name="Shape 84"/>
          <p:cNvSpPr/>
          <p:nvPr/>
        </p:nvSpPr>
        <p:spPr>
          <a:xfrm>
            <a:off x="457200" y="4389120"/>
            <a:ext cx="2615184" cy="365760"/>
          </a:xfrm>
          <a:prstGeom prst="rect">
            <a:avLst/>
          </a:prstGeom>
          <a:solidFill>
            <a:srgbClr val="F4F3EE"/>
          </a:solidFill>
          <a:ln w="12700">
            <a:solidFill>
              <a:srgbClr val="DDDDCC"/>
            </a:solidFill>
            <a:prstDash val="solid"/>
          </a:ln>
        </p:spPr>
      </p:sp>
      <p:sp>
        <p:nvSpPr>
          <p:cNvPr id="87" name="Text 85"/>
          <p:cNvSpPr/>
          <p:nvPr/>
        </p:nvSpPr>
        <p:spPr>
          <a:xfrm>
            <a:off x="530352" y="4462272"/>
            <a:ext cx="2487168" cy="237744"/>
          </a:xfrm>
          <a:prstGeom prst="rect">
            <a:avLst/>
          </a:prstGeom>
          <a:noFill/>
          <a:ln/>
        </p:spPr>
        <p:txBody>
          <a:bodyPr wrap="square" rtlCol="0" anchor="ctr"/>
          <a:lstStyle/>
          <a:p>
            <a:pPr algn="l" indent="0" marL="0">
              <a:buNone/>
            </a:pPr>
            <a:r>
              <a:rPr lang="en-US" sz="950" b="1" dirty="0">
                <a:solidFill>
                  <a:srgbClr val="555566"/>
                </a:solidFill>
                <a:latin typeface="Calibri" pitchFamily="34" charset="0"/>
                <a:ea typeface="Calibri" pitchFamily="34" charset="-122"/>
                <a:cs typeface="Calibri" pitchFamily="34" charset="-120"/>
              </a:rPr>
              <a:t>MGKS glyph architecture</a:t>
            </a:r>
            <a:endParaRPr lang="en-US" sz="950" dirty="0"/>
          </a:p>
        </p:txBody>
      </p:sp>
      <p:sp>
        <p:nvSpPr>
          <p:cNvPr id="88" name="Shape 86"/>
          <p:cNvSpPr/>
          <p:nvPr/>
        </p:nvSpPr>
        <p:spPr>
          <a:xfrm>
            <a:off x="3108960" y="4389120"/>
            <a:ext cx="1380744" cy="365760"/>
          </a:xfrm>
          <a:prstGeom prst="rect">
            <a:avLst/>
          </a:prstGeom>
          <a:solidFill>
            <a:srgbClr val="F4F3EE"/>
          </a:solidFill>
          <a:ln w="12700">
            <a:solidFill>
              <a:srgbClr val="DDDDCC"/>
            </a:solidFill>
            <a:prstDash val="solid"/>
          </a:ln>
        </p:spPr>
      </p:sp>
      <p:sp>
        <p:nvSpPr>
          <p:cNvPr id="89" name="Text 87"/>
          <p:cNvSpPr/>
          <p:nvPr/>
        </p:nvSpPr>
        <p:spPr>
          <a:xfrm>
            <a:off x="3182112" y="4462272"/>
            <a:ext cx="1252728" cy="237744"/>
          </a:xfrm>
          <a:prstGeom prst="rect">
            <a:avLst/>
          </a:prstGeom>
          <a:noFill/>
          <a:ln/>
        </p:spPr>
        <p:txBody>
          <a:bodyPr wrap="square" rtlCol="0" anchor="ctr"/>
          <a:lstStyle/>
          <a:p>
            <a:pPr algn="ctr" indent="0" marL="0">
              <a:buNone/>
            </a:pPr>
            <a:r>
              <a:rPr lang="en-US" sz="1100" dirty="0">
                <a:solidFill>
                  <a:srgbClr val="CC4444"/>
                </a:solidFill>
                <a:latin typeface="Calibri" pitchFamily="34" charset="0"/>
                <a:ea typeface="Calibri" pitchFamily="34" charset="-122"/>
                <a:cs typeface="Calibri" pitchFamily="34" charset="-120"/>
              </a:rPr>
              <a:t>✗</a:t>
            </a:r>
            <a:endParaRPr lang="en-US" sz="1100" dirty="0"/>
          </a:p>
        </p:txBody>
      </p:sp>
      <p:sp>
        <p:nvSpPr>
          <p:cNvPr id="90" name="Shape 88"/>
          <p:cNvSpPr/>
          <p:nvPr/>
        </p:nvSpPr>
        <p:spPr>
          <a:xfrm>
            <a:off x="4526280" y="4389120"/>
            <a:ext cx="1152144" cy="365760"/>
          </a:xfrm>
          <a:prstGeom prst="rect">
            <a:avLst/>
          </a:prstGeom>
          <a:solidFill>
            <a:srgbClr val="F4F3EE"/>
          </a:solidFill>
          <a:ln w="12700">
            <a:solidFill>
              <a:srgbClr val="DDDDCC"/>
            </a:solidFill>
            <a:prstDash val="solid"/>
          </a:ln>
        </p:spPr>
      </p:sp>
      <p:sp>
        <p:nvSpPr>
          <p:cNvPr id="91" name="Text 89"/>
          <p:cNvSpPr/>
          <p:nvPr/>
        </p:nvSpPr>
        <p:spPr>
          <a:xfrm>
            <a:off x="4599432" y="4462272"/>
            <a:ext cx="1024128" cy="237744"/>
          </a:xfrm>
          <a:prstGeom prst="rect">
            <a:avLst/>
          </a:prstGeom>
          <a:noFill/>
          <a:ln/>
        </p:spPr>
        <p:txBody>
          <a:bodyPr wrap="square" rtlCol="0" anchor="ctr"/>
          <a:lstStyle/>
          <a:p>
            <a:pPr algn="ctr" indent="0" marL="0">
              <a:buNone/>
            </a:pPr>
            <a:r>
              <a:rPr lang="en-US" sz="1100" dirty="0">
                <a:solidFill>
                  <a:srgbClr val="CC4444"/>
                </a:solidFill>
                <a:latin typeface="Calibri" pitchFamily="34" charset="0"/>
                <a:ea typeface="Calibri" pitchFamily="34" charset="-122"/>
                <a:cs typeface="Calibri" pitchFamily="34" charset="-120"/>
              </a:rPr>
              <a:t>✗</a:t>
            </a:r>
            <a:endParaRPr lang="en-US" sz="1100" dirty="0"/>
          </a:p>
        </p:txBody>
      </p:sp>
      <p:sp>
        <p:nvSpPr>
          <p:cNvPr id="92" name="Shape 90"/>
          <p:cNvSpPr/>
          <p:nvPr/>
        </p:nvSpPr>
        <p:spPr>
          <a:xfrm>
            <a:off x="5715000" y="4389120"/>
            <a:ext cx="1655064" cy="365760"/>
          </a:xfrm>
          <a:prstGeom prst="rect">
            <a:avLst/>
          </a:prstGeom>
          <a:solidFill>
            <a:srgbClr val="F4F3EE"/>
          </a:solidFill>
          <a:ln w="12700">
            <a:solidFill>
              <a:srgbClr val="DDDDCC"/>
            </a:solidFill>
            <a:prstDash val="solid"/>
          </a:ln>
        </p:spPr>
      </p:sp>
      <p:sp>
        <p:nvSpPr>
          <p:cNvPr id="93" name="Text 91"/>
          <p:cNvSpPr/>
          <p:nvPr/>
        </p:nvSpPr>
        <p:spPr>
          <a:xfrm>
            <a:off x="5788152" y="4462272"/>
            <a:ext cx="1527048" cy="237744"/>
          </a:xfrm>
          <a:prstGeom prst="rect">
            <a:avLst/>
          </a:prstGeom>
          <a:noFill/>
          <a:ln/>
        </p:spPr>
        <p:txBody>
          <a:bodyPr wrap="square" rtlCol="0" anchor="ctr"/>
          <a:lstStyle/>
          <a:p>
            <a:pPr algn="ctr" indent="0" marL="0">
              <a:buNone/>
            </a:pPr>
            <a:r>
              <a:rPr lang="en-US" sz="1100" dirty="0">
                <a:solidFill>
                  <a:srgbClr val="CC4444"/>
                </a:solidFill>
                <a:latin typeface="Calibri" pitchFamily="34" charset="0"/>
                <a:ea typeface="Calibri" pitchFamily="34" charset="-122"/>
                <a:cs typeface="Calibri" pitchFamily="34" charset="-120"/>
              </a:rPr>
              <a:t>✗</a:t>
            </a:r>
            <a:endParaRPr lang="en-US" sz="1100" dirty="0"/>
          </a:p>
        </p:txBody>
      </p:sp>
      <p:sp>
        <p:nvSpPr>
          <p:cNvPr id="94" name="Shape 92"/>
          <p:cNvSpPr/>
          <p:nvPr/>
        </p:nvSpPr>
        <p:spPr>
          <a:xfrm>
            <a:off x="7406640" y="4389120"/>
            <a:ext cx="1289304" cy="365760"/>
          </a:xfrm>
          <a:prstGeom prst="rect">
            <a:avLst/>
          </a:prstGeom>
          <a:solidFill>
            <a:srgbClr val="16213E"/>
          </a:solidFill>
          <a:ln w="12700">
            <a:solidFill>
              <a:srgbClr val="C9A84C"/>
            </a:solidFill>
            <a:prstDash val="solid"/>
          </a:ln>
        </p:spPr>
      </p:sp>
      <p:sp>
        <p:nvSpPr>
          <p:cNvPr id="95" name="Text 93"/>
          <p:cNvSpPr/>
          <p:nvPr/>
        </p:nvSpPr>
        <p:spPr>
          <a:xfrm>
            <a:off x="7479792" y="4462272"/>
            <a:ext cx="1161288" cy="237744"/>
          </a:xfrm>
          <a:prstGeom prst="rect">
            <a:avLst/>
          </a:prstGeom>
          <a:noFill/>
          <a:ln/>
        </p:spPr>
        <p:txBody>
          <a:bodyPr wrap="square" rtlCol="0" anchor="ctr"/>
          <a:lstStyle/>
          <a:p>
            <a:pPr algn="ctr" indent="0" marL="0">
              <a:buNone/>
            </a:pPr>
            <a:r>
              <a:rPr lang="en-US" sz="1100" b="1" dirty="0">
                <a:solidFill>
                  <a:srgbClr val="2ECC71"/>
                </a:solidFill>
                <a:latin typeface="Calibri" pitchFamily="34" charset="0"/>
                <a:ea typeface="Calibri" pitchFamily="34" charset="-122"/>
                <a:cs typeface="Calibri" pitchFamily="34" charset="-120"/>
              </a:rPr>
              <a:t>✓</a:t>
            </a:r>
            <a:endParaRPr lang="en-US" sz="1100" dirty="0"/>
          </a:p>
        </p:txBody>
      </p:sp>
      <p:sp>
        <p:nvSpPr>
          <p:cNvPr id="96" name="Text 94"/>
          <p:cNvSpPr/>
          <p:nvPr/>
        </p:nvSpPr>
        <p:spPr>
          <a:xfrm>
            <a:off x="457200" y="4736592"/>
            <a:ext cx="8229600" cy="256032"/>
          </a:xfrm>
          <a:prstGeom prst="rect">
            <a:avLst/>
          </a:prstGeom>
          <a:noFill/>
          <a:ln/>
        </p:spPr>
        <p:txBody>
          <a:bodyPr wrap="square" rtlCol="0" anchor="ctr"/>
          <a:lstStyle/>
          <a:p>
            <a:pPr algn="ctr" indent="0" marL="0">
              <a:buNone/>
            </a:pPr>
            <a:r>
              <a:rPr lang="en-US" sz="900" i="1" dirty="0">
                <a:solidFill>
                  <a:srgbClr val="8888AA"/>
                </a:solidFill>
                <a:latin typeface="Calibri" pitchFamily="34" charset="0"/>
                <a:ea typeface="Calibri" pitchFamily="34" charset="-122"/>
                <a:cs typeface="Calibri" pitchFamily="34" charset="-120"/>
              </a:rPr>
              <a:t>AEONMI is the only entity combining quantum-native language execution, persistent synthetic intelligence, and structured knowledge memory in a single proprietary architecture.</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A84C"/>
          </a:solidFill>
          <a:ln w="12700">
            <a:solidFill>
              <a:srgbClr val="C9A84C"/>
            </a:solidFill>
            <a:prstDash val="solid"/>
          </a:ln>
        </p:spPr>
      </p:sp>
      <p:sp>
        <p:nvSpPr>
          <p:cNvPr id="3" name="Shape 1"/>
          <p:cNvSpPr/>
          <p:nvPr/>
        </p:nvSpPr>
        <p:spPr>
          <a:xfrm>
            <a:off x="0" y="5065776"/>
            <a:ext cx="9144000" cy="73152"/>
          </a:xfrm>
          <a:prstGeom prst="rect">
            <a:avLst/>
          </a:prstGeom>
          <a:solidFill>
            <a:srgbClr val="C9A84C"/>
          </a:solidFill>
          <a:ln w="12700">
            <a:solidFill>
              <a:srgbClr val="C9A84C"/>
            </a:solidFill>
            <a:prstDash val="solid"/>
          </a:ln>
        </p:spPr>
      </p:sp>
      <p:sp>
        <p:nvSpPr>
          <p:cNvPr id="4" name="Text 2"/>
          <p:cNvSpPr/>
          <p:nvPr/>
        </p:nvSpPr>
        <p:spPr>
          <a:xfrm>
            <a:off x="457200" y="128016"/>
            <a:ext cx="8229600" cy="201168"/>
          </a:xfrm>
          <a:prstGeom prst="rect">
            <a:avLst/>
          </a:prstGeom>
          <a:noFill/>
          <a:ln/>
        </p:spPr>
        <p:txBody>
          <a:bodyPr wrap="square" rtlCol="0" anchor="ctr"/>
          <a:lstStyle/>
          <a:p>
            <a:pPr algn="l" indent="0" marL="0">
              <a:buNone/>
            </a:pPr>
            <a:r>
              <a:rPr lang="en-US" sz="800" b="1" spc="600" kern="0" dirty="0">
                <a:solidFill>
                  <a:srgbClr val="C9A84C"/>
                </a:solidFill>
                <a:latin typeface="Calibri" pitchFamily="34" charset="0"/>
                <a:ea typeface="Calibri" pitchFamily="34" charset="-122"/>
                <a:cs typeface="Calibri" pitchFamily="34" charset="-120"/>
              </a:rPr>
              <a:t>REVENUE MODEL</a:t>
            </a:r>
            <a:endParaRPr lang="en-US" sz="800" dirty="0"/>
          </a:p>
        </p:txBody>
      </p:sp>
      <p:sp>
        <p:nvSpPr>
          <p:cNvPr id="5" name="Text 3"/>
          <p:cNvSpPr/>
          <p:nvPr/>
        </p:nvSpPr>
        <p:spPr>
          <a:xfrm>
            <a:off x="502920" y="438912"/>
            <a:ext cx="8138160" cy="640080"/>
          </a:xfrm>
          <a:prstGeom prst="rect">
            <a:avLst/>
          </a:prstGeom>
          <a:noFill/>
          <a:ln/>
        </p:spPr>
        <p:txBody>
          <a:bodyPr wrap="square" lIns="0" tIns="0" rIns="0" bIns="0" rtlCol="0" anchor="ctr"/>
          <a:lstStyle/>
          <a:p>
            <a:pPr algn="l" indent="0" marL="0">
              <a:buNone/>
            </a:pPr>
            <a:r>
              <a:rPr lang="en-US" sz="2800" b="1" dirty="0">
                <a:solidFill>
                  <a:srgbClr val="FFFFFF"/>
                </a:solidFill>
                <a:latin typeface="Georgia" pitchFamily="34" charset="0"/>
                <a:ea typeface="Georgia" pitchFamily="34" charset="-122"/>
                <a:cs typeface="Georgia" pitchFamily="34" charset="-120"/>
              </a:rPr>
              <a:t>Four Revenue Channels. One Compounding Moat.</a:t>
            </a:r>
            <a:endParaRPr lang="en-US" sz="2800" dirty="0"/>
          </a:p>
        </p:txBody>
      </p:sp>
      <p:sp>
        <p:nvSpPr>
          <p:cNvPr id="6" name="Shape 4"/>
          <p:cNvSpPr/>
          <p:nvPr/>
        </p:nvSpPr>
        <p:spPr>
          <a:xfrm>
            <a:off x="411480" y="1170432"/>
            <a:ext cx="4160520" cy="1691640"/>
          </a:xfrm>
          <a:prstGeom prst="rect">
            <a:avLst/>
          </a:prstGeom>
          <a:solidFill>
            <a:srgbClr val="16213E"/>
          </a:solidFill>
          <a:ln w="12700">
            <a:solidFill>
              <a:srgbClr val="C9A84C"/>
            </a:solidFill>
            <a:prstDash val="solid"/>
          </a:ln>
          <a:effectLst>
            <a:outerShdw sx="100000" sy="100000" kx="0" ky="0" algn="bl" rotWithShape="0" blurRad="101600" dist="38100" dir="8100000">
              <a:srgbClr val="000000">
                <a:alpha val="20000"/>
              </a:srgbClr>
            </a:outerShdw>
          </a:effectLst>
        </p:spPr>
      </p:sp>
      <p:pic>
        <p:nvPicPr>
          <p:cNvPr id="7" name="Image 0" descr="preencoded.png">    </p:cNvPr>
          <p:cNvPicPr>
            <a:picLocks noChangeAspect="1"/>
          </p:cNvPicPr>
          <p:nvPr/>
        </p:nvPicPr>
        <p:blipFill>
          <a:blip r:embed="rId1"/>
          <a:stretch>
            <a:fillRect/>
          </a:stretch>
        </p:blipFill>
        <p:spPr>
          <a:xfrm>
            <a:off x="594360" y="1353312"/>
            <a:ext cx="438912" cy="438912"/>
          </a:xfrm>
          <a:prstGeom prst="rect">
            <a:avLst/>
          </a:prstGeom>
        </p:spPr>
      </p:pic>
      <p:sp>
        <p:nvSpPr>
          <p:cNvPr id="8" name="Text 5"/>
          <p:cNvSpPr/>
          <p:nvPr/>
        </p:nvSpPr>
        <p:spPr>
          <a:xfrm>
            <a:off x="1161288" y="1261872"/>
            <a:ext cx="3273552" cy="32004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Developer API</a:t>
            </a:r>
            <a:endParaRPr lang="en-US" sz="1300" dirty="0"/>
          </a:p>
        </p:txBody>
      </p:sp>
      <p:sp>
        <p:nvSpPr>
          <p:cNvPr id="9" name="Text 6"/>
          <p:cNvSpPr/>
          <p:nvPr/>
        </p:nvSpPr>
        <p:spPr>
          <a:xfrm>
            <a:off x="1161288" y="1591056"/>
            <a:ext cx="3273552" cy="237744"/>
          </a:xfrm>
          <a:prstGeom prst="rect">
            <a:avLst/>
          </a:prstGeom>
          <a:noFill/>
          <a:ln/>
        </p:spPr>
        <p:txBody>
          <a:bodyPr wrap="square" rtlCol="0" anchor="ctr"/>
          <a:lstStyle/>
          <a:p>
            <a:pPr indent="0" marL="0">
              <a:buNone/>
            </a:pPr>
            <a:r>
              <a:rPr lang="en-US" sz="1050" b="1" i="1" dirty="0">
                <a:solidFill>
                  <a:srgbClr val="C9A84C"/>
                </a:solidFill>
                <a:latin typeface="Calibri" pitchFamily="34" charset="0"/>
                <a:ea typeface="Calibri" pitchFamily="34" charset="-122"/>
                <a:cs typeface="Calibri" pitchFamily="34" charset="-120"/>
              </a:rPr>
              <a:t>$49–$299/mo</a:t>
            </a:r>
            <a:endParaRPr lang="en-US" sz="1050" dirty="0"/>
          </a:p>
        </p:txBody>
      </p:sp>
      <p:sp>
        <p:nvSpPr>
          <p:cNvPr id="10" name="Text 7"/>
          <p:cNvSpPr/>
          <p:nvPr/>
        </p:nvSpPr>
        <p:spPr>
          <a:xfrm>
            <a:off x="576072" y="1920240"/>
            <a:ext cx="3858768" cy="841248"/>
          </a:xfrm>
          <a:prstGeom prst="rect">
            <a:avLst/>
          </a:prstGeom>
          <a:noFill/>
          <a:ln/>
        </p:spPr>
        <p:txBody>
          <a:bodyPr wrap="square" rtlCol="0" anchor="t"/>
          <a:lstStyle/>
          <a:p>
            <a:pPr indent="0" marL="0">
              <a:buNone/>
            </a:pPr>
            <a:r>
              <a:rPr lang="en-US" sz="1000" dirty="0">
                <a:solidFill>
                  <a:srgbClr val="AAAACC"/>
                </a:solidFill>
                <a:latin typeface="Calibri" pitchFamily="34" charset="0"/>
                <a:ea typeface="Calibri" pitchFamily="34" charset="-122"/>
                <a:cs typeface="Calibri" pitchFamily="34" charset="-120"/>
              </a:rPr>
              <a:t>Tiered API access to Aeonmi runtime + MGKS memory. Freemium entry → paid tiers based on glyph storage, QUBE circuit executions, and agent calls. Target: 10K devs in Year 2.</a:t>
            </a:r>
            <a:endParaRPr lang="en-US" sz="1000" dirty="0"/>
          </a:p>
        </p:txBody>
      </p:sp>
      <p:sp>
        <p:nvSpPr>
          <p:cNvPr id="11" name="Shape 8"/>
          <p:cNvSpPr/>
          <p:nvPr/>
        </p:nvSpPr>
        <p:spPr>
          <a:xfrm>
            <a:off x="4800600" y="1170432"/>
            <a:ext cx="4160520" cy="1691640"/>
          </a:xfrm>
          <a:prstGeom prst="rect">
            <a:avLst/>
          </a:prstGeom>
          <a:solidFill>
            <a:srgbClr val="16213E"/>
          </a:solidFill>
          <a:ln w="12700">
            <a:solidFill>
              <a:srgbClr val="C9A84C"/>
            </a:solidFill>
            <a:prstDash val="solid"/>
          </a:ln>
          <a:effectLst>
            <a:outerShdw sx="100000" sy="100000" kx="0" ky="0" algn="bl" rotWithShape="0" blurRad="101600" dist="38100" dir="8100000">
              <a:srgbClr val="000000">
                <a:alpha val="20000"/>
              </a:srgbClr>
            </a:outerShdw>
          </a:effectLst>
        </p:spPr>
      </p:sp>
      <p:pic>
        <p:nvPicPr>
          <p:cNvPr id="12" name="Image 1" descr="preencoded.png">    </p:cNvPr>
          <p:cNvPicPr>
            <a:picLocks noChangeAspect="1"/>
          </p:cNvPicPr>
          <p:nvPr/>
        </p:nvPicPr>
        <p:blipFill>
          <a:blip r:embed="rId2"/>
          <a:stretch>
            <a:fillRect/>
          </a:stretch>
        </p:blipFill>
        <p:spPr>
          <a:xfrm>
            <a:off x="4983480" y="1353312"/>
            <a:ext cx="438912" cy="438912"/>
          </a:xfrm>
          <a:prstGeom prst="rect">
            <a:avLst/>
          </a:prstGeom>
        </p:spPr>
      </p:pic>
      <p:sp>
        <p:nvSpPr>
          <p:cNvPr id="13" name="Text 9"/>
          <p:cNvSpPr/>
          <p:nvPr/>
        </p:nvSpPr>
        <p:spPr>
          <a:xfrm>
            <a:off x="5550408" y="1261872"/>
            <a:ext cx="3273552" cy="32004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Enterprise License</a:t>
            </a:r>
            <a:endParaRPr lang="en-US" sz="1300" dirty="0"/>
          </a:p>
        </p:txBody>
      </p:sp>
      <p:sp>
        <p:nvSpPr>
          <p:cNvPr id="14" name="Text 10"/>
          <p:cNvSpPr/>
          <p:nvPr/>
        </p:nvSpPr>
        <p:spPr>
          <a:xfrm>
            <a:off x="5550408" y="1591056"/>
            <a:ext cx="3273552" cy="237744"/>
          </a:xfrm>
          <a:prstGeom prst="rect">
            <a:avLst/>
          </a:prstGeom>
          <a:noFill/>
          <a:ln/>
        </p:spPr>
        <p:txBody>
          <a:bodyPr wrap="square" rtlCol="0" anchor="ctr"/>
          <a:lstStyle/>
          <a:p>
            <a:pPr indent="0" marL="0">
              <a:buNone/>
            </a:pPr>
            <a:r>
              <a:rPr lang="en-US" sz="1050" b="1" i="1" dirty="0">
                <a:solidFill>
                  <a:srgbClr val="C9A84C"/>
                </a:solidFill>
                <a:latin typeface="Calibri" pitchFamily="34" charset="0"/>
                <a:ea typeface="Calibri" pitchFamily="34" charset="-122"/>
                <a:cs typeface="Calibri" pitchFamily="34" charset="-120"/>
              </a:rPr>
              <a:t>$25K–$200K/yr</a:t>
            </a:r>
            <a:endParaRPr lang="en-US" sz="1050" dirty="0"/>
          </a:p>
        </p:txBody>
      </p:sp>
      <p:sp>
        <p:nvSpPr>
          <p:cNvPr id="15" name="Text 11"/>
          <p:cNvSpPr/>
          <p:nvPr/>
        </p:nvSpPr>
        <p:spPr>
          <a:xfrm>
            <a:off x="4965192" y="1920240"/>
            <a:ext cx="3858768" cy="841248"/>
          </a:xfrm>
          <a:prstGeom prst="rect">
            <a:avLst/>
          </a:prstGeom>
          <a:noFill/>
          <a:ln/>
        </p:spPr>
        <p:txBody>
          <a:bodyPr wrap="square" rtlCol="0" anchor="t"/>
          <a:lstStyle/>
          <a:p>
            <a:pPr indent="0" marL="0">
              <a:buNone/>
            </a:pPr>
            <a:r>
              <a:rPr lang="en-US" sz="1000" dirty="0">
                <a:solidFill>
                  <a:srgbClr val="AAAACC"/>
                </a:solidFill>
                <a:latin typeface="Calibri" pitchFamily="34" charset="0"/>
                <a:ea typeface="Calibri" pitchFamily="34" charset="-122"/>
                <a:cs typeface="Calibri" pitchFamily="34" charset="-120"/>
              </a:rPr>
              <a:t>On-premise deployment of the Aeonmi runtime and MGKS stack for enterprise AI teams. Includes custom genesis templates, dedicated T3 store, SLA support. Target: 50 enterprises in Year 3.</a:t>
            </a:r>
            <a:endParaRPr lang="en-US" sz="1000" dirty="0"/>
          </a:p>
        </p:txBody>
      </p:sp>
      <p:sp>
        <p:nvSpPr>
          <p:cNvPr id="16" name="Shape 12"/>
          <p:cNvSpPr/>
          <p:nvPr/>
        </p:nvSpPr>
        <p:spPr>
          <a:xfrm>
            <a:off x="411480" y="2999232"/>
            <a:ext cx="4160520" cy="1691640"/>
          </a:xfrm>
          <a:prstGeom prst="rect">
            <a:avLst/>
          </a:prstGeom>
          <a:solidFill>
            <a:srgbClr val="16213E"/>
          </a:solidFill>
          <a:ln w="12700">
            <a:solidFill>
              <a:srgbClr val="C9A84C"/>
            </a:solidFill>
            <a:prstDash val="solid"/>
          </a:ln>
          <a:effectLst>
            <a:outerShdw sx="100000" sy="100000" kx="0" ky="0" algn="bl" rotWithShape="0" blurRad="101600" dist="38100" dir="8100000">
              <a:srgbClr val="000000">
                <a:alpha val="20000"/>
              </a:srgbClr>
            </a:outerShdw>
          </a:effectLst>
        </p:spPr>
      </p:sp>
      <p:pic>
        <p:nvPicPr>
          <p:cNvPr id="17" name="Image 2" descr="preencoded.png">    </p:cNvPr>
          <p:cNvPicPr>
            <a:picLocks noChangeAspect="1"/>
          </p:cNvPicPr>
          <p:nvPr/>
        </p:nvPicPr>
        <p:blipFill>
          <a:blip r:embed="rId3"/>
          <a:stretch>
            <a:fillRect/>
          </a:stretch>
        </p:blipFill>
        <p:spPr>
          <a:xfrm>
            <a:off x="594360" y="3182112"/>
            <a:ext cx="438912" cy="438912"/>
          </a:xfrm>
          <a:prstGeom prst="rect">
            <a:avLst/>
          </a:prstGeom>
        </p:spPr>
      </p:pic>
      <p:sp>
        <p:nvSpPr>
          <p:cNvPr id="18" name="Text 13"/>
          <p:cNvSpPr/>
          <p:nvPr/>
        </p:nvSpPr>
        <p:spPr>
          <a:xfrm>
            <a:off x="1161288" y="3090672"/>
            <a:ext cx="3273552" cy="32004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Mother AI as a Service</a:t>
            </a:r>
            <a:endParaRPr lang="en-US" sz="1300" dirty="0"/>
          </a:p>
        </p:txBody>
      </p:sp>
      <p:sp>
        <p:nvSpPr>
          <p:cNvPr id="19" name="Text 14"/>
          <p:cNvSpPr/>
          <p:nvPr/>
        </p:nvSpPr>
        <p:spPr>
          <a:xfrm>
            <a:off x="1161288" y="3419856"/>
            <a:ext cx="3273552" cy="237744"/>
          </a:xfrm>
          <a:prstGeom prst="rect">
            <a:avLst/>
          </a:prstGeom>
          <a:noFill/>
          <a:ln/>
        </p:spPr>
        <p:txBody>
          <a:bodyPr wrap="square" rtlCol="0" anchor="ctr"/>
          <a:lstStyle/>
          <a:p>
            <a:pPr indent="0" marL="0">
              <a:buNone/>
            </a:pPr>
            <a:r>
              <a:rPr lang="en-US" sz="1050" b="1" i="1" dirty="0">
                <a:solidFill>
                  <a:srgbClr val="C9A84C"/>
                </a:solidFill>
                <a:latin typeface="Calibri" pitchFamily="34" charset="0"/>
                <a:ea typeface="Calibri" pitchFamily="34" charset="-122"/>
                <a:cs typeface="Calibri" pitchFamily="34" charset="-120"/>
              </a:rPr>
              <a:t>Custom</a:t>
            </a:r>
            <a:endParaRPr lang="en-US" sz="1050" dirty="0"/>
          </a:p>
        </p:txBody>
      </p:sp>
      <p:sp>
        <p:nvSpPr>
          <p:cNvPr id="20" name="Text 15"/>
          <p:cNvSpPr/>
          <p:nvPr/>
        </p:nvSpPr>
        <p:spPr>
          <a:xfrm>
            <a:off x="576072" y="3749040"/>
            <a:ext cx="3858768" cy="841248"/>
          </a:xfrm>
          <a:prstGeom prst="rect">
            <a:avLst/>
          </a:prstGeom>
          <a:noFill/>
          <a:ln/>
        </p:spPr>
        <p:txBody>
          <a:bodyPr wrap="square" rtlCol="0" anchor="t"/>
          <a:lstStyle/>
          <a:p>
            <a:pPr indent="0" marL="0">
              <a:buNone/>
            </a:pPr>
            <a:r>
              <a:rPr lang="en-US" sz="1000" dirty="0">
                <a:solidFill>
                  <a:srgbClr val="AAAACC"/>
                </a:solidFill>
                <a:latin typeface="Calibri" pitchFamily="34" charset="0"/>
                <a:ea typeface="Calibri" pitchFamily="34" charset="-122"/>
                <a:cs typeface="Calibri" pitchFamily="34" charset="-120"/>
              </a:rPr>
              <a:t>Access to Aeonmic Intelligence's reasoning layer via a managed API. Companies query Mother AI's consensus graph for strategic insight. Unique in the market — no comparable service exists.</a:t>
            </a:r>
            <a:endParaRPr lang="en-US" sz="1000" dirty="0"/>
          </a:p>
        </p:txBody>
      </p:sp>
      <p:sp>
        <p:nvSpPr>
          <p:cNvPr id="21" name="Shape 16"/>
          <p:cNvSpPr/>
          <p:nvPr/>
        </p:nvSpPr>
        <p:spPr>
          <a:xfrm>
            <a:off x="4800600" y="2999232"/>
            <a:ext cx="4160520" cy="1691640"/>
          </a:xfrm>
          <a:prstGeom prst="rect">
            <a:avLst/>
          </a:prstGeom>
          <a:solidFill>
            <a:srgbClr val="16213E"/>
          </a:solidFill>
          <a:ln w="12700">
            <a:solidFill>
              <a:srgbClr val="C9A84C"/>
            </a:solidFill>
            <a:prstDash val="solid"/>
          </a:ln>
          <a:effectLst>
            <a:outerShdw sx="100000" sy="100000" kx="0" ky="0" algn="bl" rotWithShape="0" blurRad="101600" dist="38100" dir="8100000">
              <a:srgbClr val="000000">
                <a:alpha val="20000"/>
              </a:srgbClr>
            </a:outerShdw>
          </a:effectLst>
        </p:spPr>
      </p:sp>
      <p:pic>
        <p:nvPicPr>
          <p:cNvPr id="22" name="Image 3" descr="preencoded.png">    </p:cNvPr>
          <p:cNvPicPr>
            <a:picLocks noChangeAspect="1"/>
          </p:cNvPicPr>
          <p:nvPr/>
        </p:nvPicPr>
        <p:blipFill>
          <a:blip r:embed="rId4"/>
          <a:stretch>
            <a:fillRect/>
          </a:stretch>
        </p:blipFill>
        <p:spPr>
          <a:xfrm>
            <a:off x="4983480" y="3182112"/>
            <a:ext cx="438912" cy="438912"/>
          </a:xfrm>
          <a:prstGeom prst="rect">
            <a:avLst/>
          </a:prstGeom>
        </p:spPr>
      </p:pic>
      <p:sp>
        <p:nvSpPr>
          <p:cNvPr id="23" name="Text 17"/>
          <p:cNvSpPr/>
          <p:nvPr/>
        </p:nvSpPr>
        <p:spPr>
          <a:xfrm>
            <a:off x="5550408" y="3090672"/>
            <a:ext cx="3273552" cy="32004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IP Licensing</a:t>
            </a:r>
            <a:endParaRPr lang="en-US" sz="1300" dirty="0"/>
          </a:p>
        </p:txBody>
      </p:sp>
      <p:sp>
        <p:nvSpPr>
          <p:cNvPr id="24" name="Text 18"/>
          <p:cNvSpPr/>
          <p:nvPr/>
        </p:nvSpPr>
        <p:spPr>
          <a:xfrm>
            <a:off x="5550408" y="3419856"/>
            <a:ext cx="3273552" cy="237744"/>
          </a:xfrm>
          <a:prstGeom prst="rect">
            <a:avLst/>
          </a:prstGeom>
          <a:noFill/>
          <a:ln/>
        </p:spPr>
        <p:txBody>
          <a:bodyPr wrap="square" rtlCol="0" anchor="ctr"/>
          <a:lstStyle/>
          <a:p>
            <a:pPr indent="0" marL="0">
              <a:buNone/>
            </a:pPr>
            <a:r>
              <a:rPr lang="en-US" sz="1050" b="1" i="1" dirty="0">
                <a:solidFill>
                  <a:srgbClr val="C9A84C"/>
                </a:solidFill>
                <a:latin typeface="Calibri" pitchFamily="34" charset="0"/>
                <a:ea typeface="Calibri" pitchFamily="34" charset="-122"/>
                <a:cs typeface="Calibri" pitchFamily="34" charset="-120"/>
              </a:rPr>
              <a:t>Royalty-based</a:t>
            </a:r>
            <a:endParaRPr lang="en-US" sz="1050" dirty="0"/>
          </a:p>
        </p:txBody>
      </p:sp>
      <p:sp>
        <p:nvSpPr>
          <p:cNvPr id="25" name="Text 19"/>
          <p:cNvSpPr/>
          <p:nvPr/>
        </p:nvSpPr>
        <p:spPr>
          <a:xfrm>
            <a:off x="4965192" y="3749040"/>
            <a:ext cx="3858768" cy="841248"/>
          </a:xfrm>
          <a:prstGeom prst="rect">
            <a:avLst/>
          </a:prstGeom>
          <a:noFill/>
          <a:ln/>
        </p:spPr>
        <p:txBody>
          <a:bodyPr wrap="square" rtlCol="0" anchor="t"/>
          <a:lstStyle/>
          <a:p>
            <a:pPr indent="0" marL="0">
              <a:buNone/>
            </a:pPr>
            <a:r>
              <a:rPr lang="en-US" sz="1000" dirty="0">
                <a:solidFill>
                  <a:srgbClr val="AAAACC"/>
                </a:solidFill>
                <a:latin typeface="Calibri" pitchFamily="34" charset="0"/>
                <a:ea typeface="Calibri" pitchFamily="34" charset="-122"/>
                <a:cs typeface="Calibri" pitchFamily="34" charset="-120"/>
              </a:rPr>
              <a:t>Aeonmi's quantum syntax layer and MGKS architecture licensed to quantum computing vendors, AI labs, and hardware manufacturers building AI-native execution platforms.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3EE"/>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A84C"/>
          </a:solidFill>
          <a:ln w="12700">
            <a:solidFill>
              <a:srgbClr val="C9A84C"/>
            </a:solidFill>
            <a:prstDash val="solid"/>
          </a:ln>
        </p:spPr>
      </p:sp>
      <p:sp>
        <p:nvSpPr>
          <p:cNvPr id="3" name="Shape 1"/>
          <p:cNvSpPr/>
          <p:nvPr/>
        </p:nvSpPr>
        <p:spPr>
          <a:xfrm>
            <a:off x="0" y="5065776"/>
            <a:ext cx="9144000" cy="73152"/>
          </a:xfrm>
          <a:prstGeom prst="rect">
            <a:avLst/>
          </a:prstGeom>
          <a:solidFill>
            <a:srgbClr val="1A1A2E"/>
          </a:solidFill>
          <a:ln w="12700">
            <a:solidFill>
              <a:srgbClr val="1A1A2E"/>
            </a:solidFill>
            <a:prstDash val="solid"/>
          </a:ln>
        </p:spPr>
      </p:sp>
      <p:sp>
        <p:nvSpPr>
          <p:cNvPr id="4" name="Text 2"/>
          <p:cNvSpPr/>
          <p:nvPr/>
        </p:nvSpPr>
        <p:spPr>
          <a:xfrm>
            <a:off x="457200" y="128016"/>
            <a:ext cx="8229600" cy="201168"/>
          </a:xfrm>
          <a:prstGeom prst="rect">
            <a:avLst/>
          </a:prstGeom>
          <a:noFill/>
          <a:ln/>
        </p:spPr>
        <p:txBody>
          <a:bodyPr wrap="square" rtlCol="0" anchor="ctr"/>
          <a:lstStyle/>
          <a:p>
            <a:pPr algn="l" indent="0" marL="0">
              <a:buNone/>
            </a:pPr>
            <a:r>
              <a:rPr lang="en-US" sz="800" b="1" spc="600" kern="0" dirty="0">
                <a:solidFill>
                  <a:srgbClr val="16213E"/>
                </a:solidFill>
                <a:latin typeface="Calibri" pitchFamily="34" charset="0"/>
                <a:ea typeface="Calibri" pitchFamily="34" charset="-122"/>
                <a:cs typeface="Calibri" pitchFamily="34" charset="-120"/>
              </a:rPr>
              <a:t>FINANCIAL PROJECTIONS</a:t>
            </a:r>
            <a:endParaRPr lang="en-US" sz="800" dirty="0"/>
          </a:p>
        </p:txBody>
      </p:sp>
      <p:sp>
        <p:nvSpPr>
          <p:cNvPr id="5" name="Text 3"/>
          <p:cNvSpPr/>
          <p:nvPr/>
        </p:nvSpPr>
        <p:spPr>
          <a:xfrm>
            <a:off x="502920" y="438912"/>
            <a:ext cx="8138160" cy="640080"/>
          </a:xfrm>
          <a:prstGeom prst="rect">
            <a:avLst/>
          </a:prstGeom>
          <a:noFill/>
          <a:ln/>
        </p:spPr>
        <p:txBody>
          <a:bodyPr wrap="square" lIns="0" tIns="0" rIns="0" bIns="0" rtlCol="0" anchor="ctr"/>
          <a:lstStyle/>
          <a:p>
            <a:pPr algn="l" indent="0" marL="0">
              <a:buNone/>
            </a:pPr>
            <a:r>
              <a:rPr lang="en-US" sz="2800" b="1" dirty="0">
                <a:solidFill>
                  <a:srgbClr val="1A1A2E"/>
                </a:solidFill>
                <a:latin typeface="Georgia" pitchFamily="34" charset="0"/>
                <a:ea typeface="Georgia" pitchFamily="34" charset="-122"/>
                <a:cs typeface="Georgia" pitchFamily="34" charset="-120"/>
              </a:rPr>
              <a:t>Conservative 3-Year Revenue Forecast</a:t>
            </a:r>
            <a:endParaRPr lang="en-US" sz="2800" dirty="0"/>
          </a:p>
        </p:txBody>
      </p:sp>
      <p:graphicFrame>
        <p:nvGraphicFramePr>
          <p:cNvPr id="6" name="Chart 0" descr=""/>
          <p:cNvGraphicFramePr/>
          <p:nvPr/>
        </p:nvGraphicFramePr>
        <p:xfrm>
          <a:off x="411480" y="1170432"/>
          <a:ext cx="5303520" cy="329184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897880" y="1161288"/>
            <a:ext cx="640080" cy="438912"/>
          </a:xfrm>
          <a:prstGeom prst="rect">
            <a:avLst/>
          </a:prstGeom>
          <a:solidFill>
            <a:srgbClr val="1A1A2E"/>
          </a:solidFill>
          <a:ln w="12700">
            <a:solidFill>
              <a:srgbClr val="C9A84C"/>
            </a:solidFill>
            <a:prstDash val="solid"/>
          </a:ln>
        </p:spPr>
      </p:sp>
      <p:sp>
        <p:nvSpPr>
          <p:cNvPr id="8" name="Text 5"/>
          <p:cNvSpPr/>
          <p:nvPr/>
        </p:nvSpPr>
        <p:spPr>
          <a:xfrm>
            <a:off x="5934456" y="1261872"/>
            <a:ext cx="566928" cy="256032"/>
          </a:xfrm>
          <a:prstGeom prst="rect">
            <a:avLst/>
          </a:prstGeom>
          <a:noFill/>
          <a:ln/>
        </p:spPr>
        <p:txBody>
          <a:bodyPr wrap="square" rtlCol="0" anchor="ctr"/>
          <a:lstStyle/>
          <a:p>
            <a:pPr algn="l" indent="0" marL="0">
              <a:buNone/>
            </a:pPr>
            <a:r>
              <a:rPr lang="en-US" sz="800" b="1" spc="100" kern="0" dirty="0">
                <a:solidFill>
                  <a:srgbClr val="C9A84C"/>
                </a:solidFill>
                <a:latin typeface="Calibri" pitchFamily="34" charset="0"/>
                <a:ea typeface="Calibri" pitchFamily="34" charset="-122"/>
                <a:cs typeface="Calibri" pitchFamily="34" charset="-120"/>
              </a:rPr>
              <a:t>Metric</a:t>
            </a:r>
            <a:endParaRPr lang="en-US" sz="800" dirty="0"/>
          </a:p>
        </p:txBody>
      </p:sp>
      <p:sp>
        <p:nvSpPr>
          <p:cNvPr id="9" name="Shape 6"/>
          <p:cNvSpPr/>
          <p:nvPr/>
        </p:nvSpPr>
        <p:spPr>
          <a:xfrm>
            <a:off x="6601968" y="1161288"/>
            <a:ext cx="731520" cy="438912"/>
          </a:xfrm>
          <a:prstGeom prst="rect">
            <a:avLst/>
          </a:prstGeom>
          <a:solidFill>
            <a:srgbClr val="1A1A2E"/>
          </a:solidFill>
          <a:ln w="12700">
            <a:solidFill>
              <a:srgbClr val="C9A84C"/>
            </a:solidFill>
            <a:prstDash val="solid"/>
          </a:ln>
        </p:spPr>
      </p:sp>
      <p:sp>
        <p:nvSpPr>
          <p:cNvPr id="10" name="Text 7"/>
          <p:cNvSpPr/>
          <p:nvPr/>
        </p:nvSpPr>
        <p:spPr>
          <a:xfrm>
            <a:off x="6638544" y="1261872"/>
            <a:ext cx="658368" cy="256032"/>
          </a:xfrm>
          <a:prstGeom prst="rect">
            <a:avLst/>
          </a:prstGeom>
          <a:noFill/>
          <a:ln/>
        </p:spPr>
        <p:txBody>
          <a:bodyPr wrap="square" rtlCol="0" anchor="ctr"/>
          <a:lstStyle/>
          <a:p>
            <a:pPr algn="ctr" indent="0" marL="0">
              <a:buNone/>
            </a:pPr>
            <a:r>
              <a:rPr lang="en-US" sz="800" b="1" spc="100" kern="0" dirty="0">
                <a:solidFill>
                  <a:srgbClr val="C9A84C"/>
                </a:solidFill>
                <a:latin typeface="Calibri" pitchFamily="34" charset="0"/>
                <a:ea typeface="Calibri" pitchFamily="34" charset="-122"/>
                <a:cs typeface="Calibri" pitchFamily="34" charset="-120"/>
              </a:rPr>
              <a:t>2026 (Seed)</a:t>
            </a:r>
            <a:endParaRPr lang="en-US" sz="800" dirty="0"/>
          </a:p>
        </p:txBody>
      </p:sp>
      <p:sp>
        <p:nvSpPr>
          <p:cNvPr id="11" name="Shape 8"/>
          <p:cNvSpPr/>
          <p:nvPr/>
        </p:nvSpPr>
        <p:spPr>
          <a:xfrm>
            <a:off x="7388352" y="1161288"/>
            <a:ext cx="731520" cy="438912"/>
          </a:xfrm>
          <a:prstGeom prst="rect">
            <a:avLst/>
          </a:prstGeom>
          <a:solidFill>
            <a:srgbClr val="1A1A2E"/>
          </a:solidFill>
          <a:ln w="12700">
            <a:solidFill>
              <a:srgbClr val="C9A84C"/>
            </a:solidFill>
            <a:prstDash val="solid"/>
          </a:ln>
        </p:spPr>
      </p:sp>
      <p:sp>
        <p:nvSpPr>
          <p:cNvPr id="12" name="Text 9"/>
          <p:cNvSpPr/>
          <p:nvPr/>
        </p:nvSpPr>
        <p:spPr>
          <a:xfrm>
            <a:off x="7424928" y="1261872"/>
            <a:ext cx="658368" cy="256032"/>
          </a:xfrm>
          <a:prstGeom prst="rect">
            <a:avLst/>
          </a:prstGeom>
          <a:noFill/>
          <a:ln/>
        </p:spPr>
        <p:txBody>
          <a:bodyPr wrap="square" rtlCol="0" anchor="ctr"/>
          <a:lstStyle/>
          <a:p>
            <a:pPr algn="ctr" indent="0" marL="0">
              <a:buNone/>
            </a:pPr>
            <a:r>
              <a:rPr lang="en-US" sz="800" b="1" spc="100" kern="0" dirty="0">
                <a:solidFill>
                  <a:srgbClr val="C9A84C"/>
                </a:solidFill>
                <a:latin typeface="Calibri" pitchFamily="34" charset="0"/>
                <a:ea typeface="Calibri" pitchFamily="34" charset="-122"/>
                <a:cs typeface="Calibri" pitchFamily="34" charset="-120"/>
              </a:rPr>
              <a:t>2027 (Year 1)</a:t>
            </a:r>
            <a:endParaRPr lang="en-US" sz="800" dirty="0"/>
          </a:p>
        </p:txBody>
      </p:sp>
      <p:sp>
        <p:nvSpPr>
          <p:cNvPr id="13" name="Shape 10"/>
          <p:cNvSpPr/>
          <p:nvPr/>
        </p:nvSpPr>
        <p:spPr>
          <a:xfrm>
            <a:off x="8193024" y="1161288"/>
            <a:ext cx="822960" cy="438912"/>
          </a:xfrm>
          <a:prstGeom prst="rect">
            <a:avLst/>
          </a:prstGeom>
          <a:solidFill>
            <a:srgbClr val="1A1A2E"/>
          </a:solidFill>
          <a:ln w="12700">
            <a:solidFill>
              <a:srgbClr val="C9A84C"/>
            </a:solidFill>
            <a:prstDash val="solid"/>
          </a:ln>
        </p:spPr>
      </p:sp>
      <p:sp>
        <p:nvSpPr>
          <p:cNvPr id="14" name="Text 11"/>
          <p:cNvSpPr/>
          <p:nvPr/>
        </p:nvSpPr>
        <p:spPr>
          <a:xfrm>
            <a:off x="8229600" y="1261872"/>
            <a:ext cx="749808" cy="256032"/>
          </a:xfrm>
          <a:prstGeom prst="rect">
            <a:avLst/>
          </a:prstGeom>
          <a:noFill/>
          <a:ln/>
        </p:spPr>
        <p:txBody>
          <a:bodyPr wrap="square" rtlCol="0" anchor="ctr"/>
          <a:lstStyle/>
          <a:p>
            <a:pPr algn="ctr" indent="0" marL="0">
              <a:buNone/>
            </a:pPr>
            <a:r>
              <a:rPr lang="en-US" sz="800" b="1" spc="100" kern="0" dirty="0">
                <a:solidFill>
                  <a:srgbClr val="C9A84C"/>
                </a:solidFill>
                <a:latin typeface="Calibri" pitchFamily="34" charset="0"/>
                <a:ea typeface="Calibri" pitchFamily="34" charset="-122"/>
                <a:cs typeface="Calibri" pitchFamily="34" charset="-120"/>
              </a:rPr>
              <a:t>2028 (Year 2)</a:t>
            </a:r>
            <a:endParaRPr lang="en-US" sz="800" dirty="0"/>
          </a:p>
        </p:txBody>
      </p:sp>
      <p:sp>
        <p:nvSpPr>
          <p:cNvPr id="15" name="Shape 12"/>
          <p:cNvSpPr/>
          <p:nvPr/>
        </p:nvSpPr>
        <p:spPr>
          <a:xfrm>
            <a:off x="5897880" y="1636776"/>
            <a:ext cx="640080" cy="438912"/>
          </a:xfrm>
          <a:prstGeom prst="rect">
            <a:avLst/>
          </a:prstGeom>
          <a:solidFill>
            <a:srgbClr val="F4F3EE"/>
          </a:solidFill>
          <a:ln w="12700">
            <a:solidFill>
              <a:srgbClr val="DDDDDD"/>
            </a:solidFill>
            <a:prstDash val="solid"/>
          </a:ln>
        </p:spPr>
      </p:sp>
      <p:sp>
        <p:nvSpPr>
          <p:cNvPr id="16" name="Text 13"/>
          <p:cNvSpPr/>
          <p:nvPr/>
        </p:nvSpPr>
        <p:spPr>
          <a:xfrm>
            <a:off x="5934456" y="1737360"/>
            <a:ext cx="566928" cy="256032"/>
          </a:xfrm>
          <a:prstGeom prst="rect">
            <a:avLst/>
          </a:prstGeom>
          <a:noFill/>
          <a:ln/>
        </p:spPr>
        <p:txBody>
          <a:bodyPr wrap="square" rtlCol="0" anchor="ctr"/>
          <a:lstStyle/>
          <a:p>
            <a:pPr algn="l" indent="0" marL="0">
              <a:buNone/>
            </a:pPr>
            <a:r>
              <a:rPr lang="en-US" sz="950" b="1" dirty="0">
                <a:solidFill>
                  <a:srgbClr val="1A1A2E"/>
                </a:solidFill>
                <a:latin typeface="Calibri" pitchFamily="34" charset="0"/>
                <a:ea typeface="Calibri" pitchFamily="34" charset="-122"/>
                <a:cs typeface="Calibri" pitchFamily="34" charset="-120"/>
              </a:rPr>
              <a:t>Total Revenue</a:t>
            </a:r>
            <a:endParaRPr lang="en-US" sz="950" dirty="0"/>
          </a:p>
        </p:txBody>
      </p:sp>
      <p:sp>
        <p:nvSpPr>
          <p:cNvPr id="17" name="Shape 14"/>
          <p:cNvSpPr/>
          <p:nvPr/>
        </p:nvSpPr>
        <p:spPr>
          <a:xfrm>
            <a:off x="6601968" y="1636776"/>
            <a:ext cx="731520" cy="438912"/>
          </a:xfrm>
          <a:prstGeom prst="rect">
            <a:avLst/>
          </a:prstGeom>
          <a:solidFill>
            <a:srgbClr val="F4F3EE"/>
          </a:solidFill>
          <a:ln w="12700">
            <a:solidFill>
              <a:srgbClr val="DDDDDD"/>
            </a:solidFill>
            <a:prstDash val="solid"/>
          </a:ln>
        </p:spPr>
      </p:sp>
      <p:sp>
        <p:nvSpPr>
          <p:cNvPr id="18" name="Text 15"/>
          <p:cNvSpPr/>
          <p:nvPr/>
        </p:nvSpPr>
        <p:spPr>
          <a:xfrm>
            <a:off x="6638544" y="1737360"/>
            <a:ext cx="658368" cy="256032"/>
          </a:xfrm>
          <a:prstGeom prst="rect">
            <a:avLst/>
          </a:prstGeom>
          <a:noFill/>
          <a:ln/>
        </p:spPr>
        <p:txBody>
          <a:bodyPr wrap="square" rtlCol="0" anchor="ctr"/>
          <a:lstStyle/>
          <a:p>
            <a:pPr algn="ctr" indent="0" marL="0">
              <a:buNone/>
            </a:pPr>
            <a:r>
              <a:rPr lang="en-US" sz="950" dirty="0">
                <a:solidFill>
                  <a:srgbClr val="555566"/>
                </a:solidFill>
                <a:latin typeface="Calibri" pitchFamily="34" charset="0"/>
                <a:ea typeface="Calibri" pitchFamily="34" charset="-122"/>
                <a:cs typeface="Calibri" pitchFamily="34" charset="-120"/>
              </a:rPr>
              <a:t>$0</a:t>
            </a:r>
            <a:endParaRPr lang="en-US" sz="950" dirty="0"/>
          </a:p>
        </p:txBody>
      </p:sp>
      <p:sp>
        <p:nvSpPr>
          <p:cNvPr id="19" name="Shape 16"/>
          <p:cNvSpPr/>
          <p:nvPr/>
        </p:nvSpPr>
        <p:spPr>
          <a:xfrm>
            <a:off x="7388352" y="1636776"/>
            <a:ext cx="731520" cy="438912"/>
          </a:xfrm>
          <a:prstGeom prst="rect">
            <a:avLst/>
          </a:prstGeom>
          <a:solidFill>
            <a:srgbClr val="F4F3EE"/>
          </a:solidFill>
          <a:ln w="12700">
            <a:solidFill>
              <a:srgbClr val="DDDDDD"/>
            </a:solidFill>
            <a:prstDash val="solid"/>
          </a:ln>
        </p:spPr>
      </p:sp>
      <p:sp>
        <p:nvSpPr>
          <p:cNvPr id="20" name="Text 17"/>
          <p:cNvSpPr/>
          <p:nvPr/>
        </p:nvSpPr>
        <p:spPr>
          <a:xfrm>
            <a:off x="7424928" y="1737360"/>
            <a:ext cx="658368" cy="256032"/>
          </a:xfrm>
          <a:prstGeom prst="rect">
            <a:avLst/>
          </a:prstGeom>
          <a:noFill/>
          <a:ln/>
        </p:spPr>
        <p:txBody>
          <a:bodyPr wrap="square" rtlCol="0" anchor="ctr"/>
          <a:lstStyle/>
          <a:p>
            <a:pPr algn="ctr" indent="0" marL="0">
              <a:buNone/>
            </a:pPr>
            <a:r>
              <a:rPr lang="en-US" sz="950" dirty="0">
                <a:solidFill>
                  <a:srgbClr val="555566"/>
                </a:solidFill>
                <a:latin typeface="Calibri" pitchFamily="34" charset="0"/>
                <a:ea typeface="Calibri" pitchFamily="34" charset="-122"/>
                <a:cs typeface="Calibri" pitchFamily="34" charset="-120"/>
              </a:rPr>
              <a:t>$230K</a:t>
            </a:r>
            <a:endParaRPr lang="en-US" sz="950" dirty="0"/>
          </a:p>
        </p:txBody>
      </p:sp>
      <p:sp>
        <p:nvSpPr>
          <p:cNvPr id="21" name="Shape 18"/>
          <p:cNvSpPr/>
          <p:nvPr/>
        </p:nvSpPr>
        <p:spPr>
          <a:xfrm>
            <a:off x="8193024" y="1636776"/>
            <a:ext cx="822960" cy="438912"/>
          </a:xfrm>
          <a:prstGeom prst="rect">
            <a:avLst/>
          </a:prstGeom>
          <a:solidFill>
            <a:srgbClr val="F4F3EE"/>
          </a:solidFill>
          <a:ln w="12700">
            <a:solidFill>
              <a:srgbClr val="DDDDDD"/>
            </a:solidFill>
            <a:prstDash val="solid"/>
          </a:ln>
        </p:spPr>
      </p:sp>
      <p:sp>
        <p:nvSpPr>
          <p:cNvPr id="22" name="Text 19"/>
          <p:cNvSpPr/>
          <p:nvPr/>
        </p:nvSpPr>
        <p:spPr>
          <a:xfrm>
            <a:off x="8229600" y="1737360"/>
            <a:ext cx="749808" cy="256032"/>
          </a:xfrm>
          <a:prstGeom prst="rect">
            <a:avLst/>
          </a:prstGeom>
          <a:noFill/>
          <a:ln/>
        </p:spPr>
        <p:txBody>
          <a:bodyPr wrap="square" rtlCol="0" anchor="ctr"/>
          <a:lstStyle/>
          <a:p>
            <a:pPr algn="ctr" indent="0" marL="0">
              <a:buNone/>
            </a:pPr>
            <a:r>
              <a:rPr lang="en-US" sz="950" dirty="0">
                <a:solidFill>
                  <a:srgbClr val="2ECC71"/>
                </a:solidFill>
                <a:latin typeface="Calibri" pitchFamily="34" charset="0"/>
                <a:ea typeface="Calibri" pitchFamily="34" charset="-122"/>
                <a:cs typeface="Calibri" pitchFamily="34" charset="-120"/>
              </a:rPr>
              <a:t>$5.19M</a:t>
            </a:r>
            <a:endParaRPr lang="en-US" sz="950" dirty="0"/>
          </a:p>
        </p:txBody>
      </p:sp>
      <p:sp>
        <p:nvSpPr>
          <p:cNvPr id="23" name="Shape 20"/>
          <p:cNvSpPr/>
          <p:nvPr/>
        </p:nvSpPr>
        <p:spPr>
          <a:xfrm>
            <a:off x="5897880" y="2112264"/>
            <a:ext cx="640080" cy="438912"/>
          </a:xfrm>
          <a:prstGeom prst="rect">
            <a:avLst/>
          </a:prstGeom>
          <a:solidFill>
            <a:srgbClr val="FFFFFF"/>
          </a:solidFill>
          <a:ln w="12700">
            <a:solidFill>
              <a:srgbClr val="DDDDDD"/>
            </a:solidFill>
            <a:prstDash val="solid"/>
          </a:ln>
        </p:spPr>
      </p:sp>
      <p:sp>
        <p:nvSpPr>
          <p:cNvPr id="24" name="Text 21"/>
          <p:cNvSpPr/>
          <p:nvPr/>
        </p:nvSpPr>
        <p:spPr>
          <a:xfrm>
            <a:off x="5934456" y="2212848"/>
            <a:ext cx="566928" cy="256032"/>
          </a:xfrm>
          <a:prstGeom prst="rect">
            <a:avLst/>
          </a:prstGeom>
          <a:noFill/>
          <a:ln/>
        </p:spPr>
        <p:txBody>
          <a:bodyPr wrap="square" rtlCol="0" anchor="ctr"/>
          <a:lstStyle/>
          <a:p>
            <a:pPr algn="l" indent="0" marL="0">
              <a:buNone/>
            </a:pPr>
            <a:r>
              <a:rPr lang="en-US" sz="950" b="1" dirty="0">
                <a:solidFill>
                  <a:srgbClr val="1A1A2E"/>
                </a:solidFill>
                <a:latin typeface="Calibri" pitchFamily="34" charset="0"/>
                <a:ea typeface="Calibri" pitchFamily="34" charset="-122"/>
                <a:cs typeface="Calibri" pitchFamily="34" charset="-120"/>
              </a:rPr>
              <a:t>Developer API Users</a:t>
            </a:r>
            <a:endParaRPr lang="en-US" sz="950" dirty="0"/>
          </a:p>
        </p:txBody>
      </p:sp>
      <p:sp>
        <p:nvSpPr>
          <p:cNvPr id="25" name="Shape 22"/>
          <p:cNvSpPr/>
          <p:nvPr/>
        </p:nvSpPr>
        <p:spPr>
          <a:xfrm>
            <a:off x="6601968" y="2112264"/>
            <a:ext cx="731520" cy="438912"/>
          </a:xfrm>
          <a:prstGeom prst="rect">
            <a:avLst/>
          </a:prstGeom>
          <a:solidFill>
            <a:srgbClr val="FFFFFF"/>
          </a:solidFill>
          <a:ln w="12700">
            <a:solidFill>
              <a:srgbClr val="DDDDDD"/>
            </a:solidFill>
            <a:prstDash val="solid"/>
          </a:ln>
        </p:spPr>
      </p:sp>
      <p:sp>
        <p:nvSpPr>
          <p:cNvPr id="26" name="Text 23"/>
          <p:cNvSpPr/>
          <p:nvPr/>
        </p:nvSpPr>
        <p:spPr>
          <a:xfrm>
            <a:off x="6638544" y="2212848"/>
            <a:ext cx="658368" cy="256032"/>
          </a:xfrm>
          <a:prstGeom prst="rect">
            <a:avLst/>
          </a:prstGeom>
          <a:noFill/>
          <a:ln/>
        </p:spPr>
        <p:txBody>
          <a:bodyPr wrap="square" rtlCol="0" anchor="ctr"/>
          <a:lstStyle/>
          <a:p>
            <a:pPr algn="ctr" indent="0" marL="0">
              <a:buNone/>
            </a:pPr>
            <a:r>
              <a:rPr lang="en-US" sz="950" dirty="0">
                <a:solidFill>
                  <a:srgbClr val="555566"/>
                </a:solidFill>
                <a:latin typeface="Calibri" pitchFamily="34" charset="0"/>
                <a:ea typeface="Calibri" pitchFamily="34" charset="-122"/>
                <a:cs typeface="Calibri" pitchFamily="34" charset="-120"/>
              </a:rPr>
              <a:t>0</a:t>
            </a:r>
            <a:endParaRPr lang="en-US" sz="950" dirty="0"/>
          </a:p>
        </p:txBody>
      </p:sp>
      <p:sp>
        <p:nvSpPr>
          <p:cNvPr id="27" name="Shape 24"/>
          <p:cNvSpPr/>
          <p:nvPr/>
        </p:nvSpPr>
        <p:spPr>
          <a:xfrm>
            <a:off x="7388352" y="2112264"/>
            <a:ext cx="731520" cy="438912"/>
          </a:xfrm>
          <a:prstGeom prst="rect">
            <a:avLst/>
          </a:prstGeom>
          <a:solidFill>
            <a:srgbClr val="FFFFFF"/>
          </a:solidFill>
          <a:ln w="12700">
            <a:solidFill>
              <a:srgbClr val="DDDDDD"/>
            </a:solidFill>
            <a:prstDash val="solid"/>
          </a:ln>
        </p:spPr>
      </p:sp>
      <p:sp>
        <p:nvSpPr>
          <p:cNvPr id="28" name="Text 25"/>
          <p:cNvSpPr/>
          <p:nvPr/>
        </p:nvSpPr>
        <p:spPr>
          <a:xfrm>
            <a:off x="7424928" y="2212848"/>
            <a:ext cx="658368" cy="256032"/>
          </a:xfrm>
          <a:prstGeom prst="rect">
            <a:avLst/>
          </a:prstGeom>
          <a:noFill/>
          <a:ln/>
        </p:spPr>
        <p:txBody>
          <a:bodyPr wrap="square" rtlCol="0" anchor="ctr"/>
          <a:lstStyle/>
          <a:p>
            <a:pPr algn="ctr" indent="0" marL="0">
              <a:buNone/>
            </a:pPr>
            <a:r>
              <a:rPr lang="en-US" sz="950" dirty="0">
                <a:solidFill>
                  <a:srgbClr val="555566"/>
                </a:solidFill>
                <a:latin typeface="Calibri" pitchFamily="34" charset="0"/>
                <a:ea typeface="Calibri" pitchFamily="34" charset="-122"/>
                <a:cs typeface="Calibri" pitchFamily="34" charset="-120"/>
              </a:rPr>
              <a:t>500</a:t>
            </a:r>
            <a:endParaRPr lang="en-US" sz="950" dirty="0"/>
          </a:p>
        </p:txBody>
      </p:sp>
      <p:sp>
        <p:nvSpPr>
          <p:cNvPr id="29" name="Shape 26"/>
          <p:cNvSpPr/>
          <p:nvPr/>
        </p:nvSpPr>
        <p:spPr>
          <a:xfrm>
            <a:off x="8193024" y="2112264"/>
            <a:ext cx="822960" cy="438912"/>
          </a:xfrm>
          <a:prstGeom prst="rect">
            <a:avLst/>
          </a:prstGeom>
          <a:solidFill>
            <a:srgbClr val="FFFFFF"/>
          </a:solidFill>
          <a:ln w="12700">
            <a:solidFill>
              <a:srgbClr val="DDDDDD"/>
            </a:solidFill>
            <a:prstDash val="solid"/>
          </a:ln>
        </p:spPr>
      </p:sp>
      <p:sp>
        <p:nvSpPr>
          <p:cNvPr id="30" name="Text 27"/>
          <p:cNvSpPr/>
          <p:nvPr/>
        </p:nvSpPr>
        <p:spPr>
          <a:xfrm>
            <a:off x="8229600" y="2212848"/>
            <a:ext cx="749808" cy="256032"/>
          </a:xfrm>
          <a:prstGeom prst="rect">
            <a:avLst/>
          </a:prstGeom>
          <a:noFill/>
          <a:ln/>
        </p:spPr>
        <p:txBody>
          <a:bodyPr wrap="square" rtlCol="0" anchor="ctr"/>
          <a:lstStyle/>
          <a:p>
            <a:pPr algn="ctr" indent="0" marL="0">
              <a:buNone/>
            </a:pPr>
            <a:r>
              <a:rPr lang="en-US" sz="950" dirty="0">
                <a:solidFill>
                  <a:srgbClr val="2ECC71"/>
                </a:solidFill>
                <a:latin typeface="Calibri" pitchFamily="34" charset="0"/>
                <a:ea typeface="Calibri" pitchFamily="34" charset="-122"/>
                <a:cs typeface="Calibri" pitchFamily="34" charset="-120"/>
              </a:rPr>
              <a:t>4,000</a:t>
            </a:r>
            <a:endParaRPr lang="en-US" sz="950" dirty="0"/>
          </a:p>
        </p:txBody>
      </p:sp>
      <p:sp>
        <p:nvSpPr>
          <p:cNvPr id="31" name="Shape 28"/>
          <p:cNvSpPr/>
          <p:nvPr/>
        </p:nvSpPr>
        <p:spPr>
          <a:xfrm>
            <a:off x="5897880" y="2587752"/>
            <a:ext cx="640080" cy="438912"/>
          </a:xfrm>
          <a:prstGeom prst="rect">
            <a:avLst/>
          </a:prstGeom>
          <a:solidFill>
            <a:srgbClr val="F4F3EE"/>
          </a:solidFill>
          <a:ln w="12700">
            <a:solidFill>
              <a:srgbClr val="DDDDDD"/>
            </a:solidFill>
            <a:prstDash val="solid"/>
          </a:ln>
        </p:spPr>
      </p:sp>
      <p:sp>
        <p:nvSpPr>
          <p:cNvPr id="32" name="Text 29"/>
          <p:cNvSpPr/>
          <p:nvPr/>
        </p:nvSpPr>
        <p:spPr>
          <a:xfrm>
            <a:off x="5934456" y="2688336"/>
            <a:ext cx="566928" cy="256032"/>
          </a:xfrm>
          <a:prstGeom prst="rect">
            <a:avLst/>
          </a:prstGeom>
          <a:noFill/>
          <a:ln/>
        </p:spPr>
        <p:txBody>
          <a:bodyPr wrap="square" rtlCol="0" anchor="ctr"/>
          <a:lstStyle/>
          <a:p>
            <a:pPr algn="l" indent="0" marL="0">
              <a:buNone/>
            </a:pPr>
            <a:r>
              <a:rPr lang="en-US" sz="950" b="1" dirty="0">
                <a:solidFill>
                  <a:srgbClr val="1A1A2E"/>
                </a:solidFill>
                <a:latin typeface="Calibri" pitchFamily="34" charset="0"/>
                <a:ea typeface="Calibri" pitchFamily="34" charset="-122"/>
                <a:cs typeface="Calibri" pitchFamily="34" charset="-120"/>
              </a:rPr>
              <a:t>Enterprise Clients</a:t>
            </a:r>
            <a:endParaRPr lang="en-US" sz="950" dirty="0"/>
          </a:p>
        </p:txBody>
      </p:sp>
      <p:sp>
        <p:nvSpPr>
          <p:cNvPr id="33" name="Shape 30"/>
          <p:cNvSpPr/>
          <p:nvPr/>
        </p:nvSpPr>
        <p:spPr>
          <a:xfrm>
            <a:off x="6601968" y="2587752"/>
            <a:ext cx="731520" cy="438912"/>
          </a:xfrm>
          <a:prstGeom prst="rect">
            <a:avLst/>
          </a:prstGeom>
          <a:solidFill>
            <a:srgbClr val="F4F3EE"/>
          </a:solidFill>
          <a:ln w="12700">
            <a:solidFill>
              <a:srgbClr val="DDDDDD"/>
            </a:solidFill>
            <a:prstDash val="solid"/>
          </a:ln>
        </p:spPr>
      </p:sp>
      <p:sp>
        <p:nvSpPr>
          <p:cNvPr id="34" name="Text 31"/>
          <p:cNvSpPr/>
          <p:nvPr/>
        </p:nvSpPr>
        <p:spPr>
          <a:xfrm>
            <a:off x="6638544" y="2688336"/>
            <a:ext cx="658368" cy="256032"/>
          </a:xfrm>
          <a:prstGeom prst="rect">
            <a:avLst/>
          </a:prstGeom>
          <a:noFill/>
          <a:ln/>
        </p:spPr>
        <p:txBody>
          <a:bodyPr wrap="square" rtlCol="0" anchor="ctr"/>
          <a:lstStyle/>
          <a:p>
            <a:pPr algn="ctr" indent="0" marL="0">
              <a:buNone/>
            </a:pPr>
            <a:r>
              <a:rPr lang="en-US" sz="950" dirty="0">
                <a:solidFill>
                  <a:srgbClr val="555566"/>
                </a:solidFill>
                <a:latin typeface="Calibri" pitchFamily="34" charset="0"/>
                <a:ea typeface="Calibri" pitchFamily="34" charset="-122"/>
                <a:cs typeface="Calibri" pitchFamily="34" charset="-120"/>
              </a:rPr>
              <a:t>0</a:t>
            </a:r>
            <a:endParaRPr lang="en-US" sz="950" dirty="0"/>
          </a:p>
        </p:txBody>
      </p:sp>
      <p:sp>
        <p:nvSpPr>
          <p:cNvPr id="35" name="Shape 32"/>
          <p:cNvSpPr/>
          <p:nvPr/>
        </p:nvSpPr>
        <p:spPr>
          <a:xfrm>
            <a:off x="7388352" y="2587752"/>
            <a:ext cx="731520" cy="438912"/>
          </a:xfrm>
          <a:prstGeom prst="rect">
            <a:avLst/>
          </a:prstGeom>
          <a:solidFill>
            <a:srgbClr val="F4F3EE"/>
          </a:solidFill>
          <a:ln w="12700">
            <a:solidFill>
              <a:srgbClr val="DDDDDD"/>
            </a:solidFill>
            <a:prstDash val="solid"/>
          </a:ln>
        </p:spPr>
      </p:sp>
      <p:sp>
        <p:nvSpPr>
          <p:cNvPr id="36" name="Text 33"/>
          <p:cNvSpPr/>
          <p:nvPr/>
        </p:nvSpPr>
        <p:spPr>
          <a:xfrm>
            <a:off x="7424928" y="2688336"/>
            <a:ext cx="658368" cy="256032"/>
          </a:xfrm>
          <a:prstGeom prst="rect">
            <a:avLst/>
          </a:prstGeom>
          <a:noFill/>
          <a:ln/>
        </p:spPr>
        <p:txBody>
          <a:bodyPr wrap="square" rtlCol="0" anchor="ctr"/>
          <a:lstStyle/>
          <a:p>
            <a:pPr algn="ctr" indent="0" marL="0">
              <a:buNone/>
            </a:pPr>
            <a:r>
              <a:rPr lang="en-US" sz="950" dirty="0">
                <a:solidFill>
                  <a:srgbClr val="555566"/>
                </a:solidFill>
                <a:latin typeface="Calibri" pitchFamily="34" charset="0"/>
                <a:ea typeface="Calibri" pitchFamily="34" charset="-122"/>
                <a:cs typeface="Calibri" pitchFamily="34" charset="-120"/>
              </a:rPr>
              <a:t>2</a:t>
            </a:r>
            <a:endParaRPr lang="en-US" sz="950" dirty="0"/>
          </a:p>
        </p:txBody>
      </p:sp>
      <p:sp>
        <p:nvSpPr>
          <p:cNvPr id="37" name="Shape 34"/>
          <p:cNvSpPr/>
          <p:nvPr/>
        </p:nvSpPr>
        <p:spPr>
          <a:xfrm>
            <a:off x="8193024" y="2587752"/>
            <a:ext cx="822960" cy="438912"/>
          </a:xfrm>
          <a:prstGeom prst="rect">
            <a:avLst/>
          </a:prstGeom>
          <a:solidFill>
            <a:srgbClr val="F4F3EE"/>
          </a:solidFill>
          <a:ln w="12700">
            <a:solidFill>
              <a:srgbClr val="DDDDDD"/>
            </a:solidFill>
            <a:prstDash val="solid"/>
          </a:ln>
        </p:spPr>
      </p:sp>
      <p:sp>
        <p:nvSpPr>
          <p:cNvPr id="38" name="Text 35"/>
          <p:cNvSpPr/>
          <p:nvPr/>
        </p:nvSpPr>
        <p:spPr>
          <a:xfrm>
            <a:off x="8229600" y="2688336"/>
            <a:ext cx="749808" cy="256032"/>
          </a:xfrm>
          <a:prstGeom prst="rect">
            <a:avLst/>
          </a:prstGeom>
          <a:noFill/>
          <a:ln/>
        </p:spPr>
        <p:txBody>
          <a:bodyPr wrap="square" rtlCol="0" anchor="ctr"/>
          <a:lstStyle/>
          <a:p>
            <a:pPr algn="ctr" indent="0" marL="0">
              <a:buNone/>
            </a:pPr>
            <a:r>
              <a:rPr lang="en-US" sz="950" dirty="0">
                <a:solidFill>
                  <a:srgbClr val="2ECC71"/>
                </a:solidFill>
                <a:latin typeface="Calibri" pitchFamily="34" charset="0"/>
                <a:ea typeface="Calibri" pitchFamily="34" charset="-122"/>
                <a:cs typeface="Calibri" pitchFamily="34" charset="-120"/>
              </a:rPr>
              <a:t>15</a:t>
            </a:r>
            <a:endParaRPr lang="en-US" sz="950" dirty="0"/>
          </a:p>
        </p:txBody>
      </p:sp>
      <p:sp>
        <p:nvSpPr>
          <p:cNvPr id="39" name="Shape 36"/>
          <p:cNvSpPr/>
          <p:nvPr/>
        </p:nvSpPr>
        <p:spPr>
          <a:xfrm>
            <a:off x="5897880" y="3063240"/>
            <a:ext cx="640080" cy="438912"/>
          </a:xfrm>
          <a:prstGeom prst="rect">
            <a:avLst/>
          </a:prstGeom>
          <a:solidFill>
            <a:srgbClr val="FFFFFF"/>
          </a:solidFill>
          <a:ln w="12700">
            <a:solidFill>
              <a:srgbClr val="DDDDDD"/>
            </a:solidFill>
            <a:prstDash val="solid"/>
          </a:ln>
        </p:spPr>
      </p:sp>
      <p:sp>
        <p:nvSpPr>
          <p:cNvPr id="40" name="Text 37"/>
          <p:cNvSpPr/>
          <p:nvPr/>
        </p:nvSpPr>
        <p:spPr>
          <a:xfrm>
            <a:off x="5934456" y="3163824"/>
            <a:ext cx="566928" cy="256032"/>
          </a:xfrm>
          <a:prstGeom prst="rect">
            <a:avLst/>
          </a:prstGeom>
          <a:noFill/>
          <a:ln/>
        </p:spPr>
        <p:txBody>
          <a:bodyPr wrap="square" rtlCol="0" anchor="ctr"/>
          <a:lstStyle/>
          <a:p>
            <a:pPr algn="l" indent="0" marL="0">
              <a:buNone/>
            </a:pPr>
            <a:r>
              <a:rPr lang="en-US" sz="950" b="1" dirty="0">
                <a:solidFill>
                  <a:srgbClr val="1A1A2E"/>
                </a:solidFill>
                <a:latin typeface="Calibri" pitchFamily="34" charset="0"/>
                <a:ea typeface="Calibri" pitchFamily="34" charset="-122"/>
                <a:cs typeface="Calibri" pitchFamily="34" charset="-120"/>
              </a:rPr>
              <a:t>MGKS Glyphs Stored</a:t>
            </a:r>
            <a:endParaRPr lang="en-US" sz="950" dirty="0"/>
          </a:p>
        </p:txBody>
      </p:sp>
      <p:sp>
        <p:nvSpPr>
          <p:cNvPr id="41" name="Shape 38"/>
          <p:cNvSpPr/>
          <p:nvPr/>
        </p:nvSpPr>
        <p:spPr>
          <a:xfrm>
            <a:off x="6601968" y="3063240"/>
            <a:ext cx="731520" cy="438912"/>
          </a:xfrm>
          <a:prstGeom prst="rect">
            <a:avLst/>
          </a:prstGeom>
          <a:solidFill>
            <a:srgbClr val="FFFFFF"/>
          </a:solidFill>
          <a:ln w="12700">
            <a:solidFill>
              <a:srgbClr val="DDDDDD"/>
            </a:solidFill>
            <a:prstDash val="solid"/>
          </a:ln>
        </p:spPr>
      </p:sp>
      <p:sp>
        <p:nvSpPr>
          <p:cNvPr id="42" name="Text 39"/>
          <p:cNvSpPr/>
          <p:nvPr/>
        </p:nvSpPr>
        <p:spPr>
          <a:xfrm>
            <a:off x="6638544" y="3163824"/>
            <a:ext cx="658368" cy="256032"/>
          </a:xfrm>
          <a:prstGeom prst="rect">
            <a:avLst/>
          </a:prstGeom>
          <a:noFill/>
          <a:ln/>
        </p:spPr>
        <p:txBody>
          <a:bodyPr wrap="square" rtlCol="0" anchor="ctr"/>
          <a:lstStyle/>
          <a:p>
            <a:pPr algn="ctr" indent="0" marL="0">
              <a:buNone/>
            </a:pPr>
            <a:r>
              <a:rPr lang="en-US" sz="950" dirty="0">
                <a:solidFill>
                  <a:srgbClr val="555566"/>
                </a:solidFill>
                <a:latin typeface="Calibri" pitchFamily="34" charset="0"/>
                <a:ea typeface="Calibri" pitchFamily="34" charset="-122"/>
                <a:cs typeface="Calibri" pitchFamily="34" charset="-120"/>
              </a:rPr>
              <a:t>~50K</a:t>
            </a:r>
            <a:endParaRPr lang="en-US" sz="950" dirty="0"/>
          </a:p>
        </p:txBody>
      </p:sp>
      <p:sp>
        <p:nvSpPr>
          <p:cNvPr id="43" name="Shape 40"/>
          <p:cNvSpPr/>
          <p:nvPr/>
        </p:nvSpPr>
        <p:spPr>
          <a:xfrm>
            <a:off x="7388352" y="3063240"/>
            <a:ext cx="731520" cy="438912"/>
          </a:xfrm>
          <a:prstGeom prst="rect">
            <a:avLst/>
          </a:prstGeom>
          <a:solidFill>
            <a:srgbClr val="FFFFFF"/>
          </a:solidFill>
          <a:ln w="12700">
            <a:solidFill>
              <a:srgbClr val="DDDDDD"/>
            </a:solidFill>
            <a:prstDash val="solid"/>
          </a:ln>
        </p:spPr>
      </p:sp>
      <p:sp>
        <p:nvSpPr>
          <p:cNvPr id="44" name="Text 41"/>
          <p:cNvSpPr/>
          <p:nvPr/>
        </p:nvSpPr>
        <p:spPr>
          <a:xfrm>
            <a:off x="7424928" y="3163824"/>
            <a:ext cx="658368" cy="256032"/>
          </a:xfrm>
          <a:prstGeom prst="rect">
            <a:avLst/>
          </a:prstGeom>
          <a:noFill/>
          <a:ln/>
        </p:spPr>
        <p:txBody>
          <a:bodyPr wrap="square" rtlCol="0" anchor="ctr"/>
          <a:lstStyle/>
          <a:p>
            <a:pPr algn="ctr" indent="0" marL="0">
              <a:buNone/>
            </a:pPr>
            <a:r>
              <a:rPr lang="en-US" sz="950" dirty="0">
                <a:solidFill>
                  <a:srgbClr val="555566"/>
                </a:solidFill>
                <a:latin typeface="Calibri" pitchFamily="34" charset="0"/>
                <a:ea typeface="Calibri" pitchFamily="34" charset="-122"/>
                <a:cs typeface="Calibri" pitchFamily="34" charset="-120"/>
              </a:rPr>
              <a:t>~2M</a:t>
            </a:r>
            <a:endParaRPr lang="en-US" sz="950" dirty="0"/>
          </a:p>
        </p:txBody>
      </p:sp>
      <p:sp>
        <p:nvSpPr>
          <p:cNvPr id="45" name="Shape 42"/>
          <p:cNvSpPr/>
          <p:nvPr/>
        </p:nvSpPr>
        <p:spPr>
          <a:xfrm>
            <a:off x="8193024" y="3063240"/>
            <a:ext cx="822960" cy="438912"/>
          </a:xfrm>
          <a:prstGeom prst="rect">
            <a:avLst/>
          </a:prstGeom>
          <a:solidFill>
            <a:srgbClr val="FFFFFF"/>
          </a:solidFill>
          <a:ln w="12700">
            <a:solidFill>
              <a:srgbClr val="DDDDDD"/>
            </a:solidFill>
            <a:prstDash val="solid"/>
          </a:ln>
        </p:spPr>
      </p:sp>
      <p:sp>
        <p:nvSpPr>
          <p:cNvPr id="46" name="Text 43"/>
          <p:cNvSpPr/>
          <p:nvPr/>
        </p:nvSpPr>
        <p:spPr>
          <a:xfrm>
            <a:off x="8229600" y="3163824"/>
            <a:ext cx="749808" cy="256032"/>
          </a:xfrm>
          <a:prstGeom prst="rect">
            <a:avLst/>
          </a:prstGeom>
          <a:noFill/>
          <a:ln/>
        </p:spPr>
        <p:txBody>
          <a:bodyPr wrap="square" rtlCol="0" anchor="ctr"/>
          <a:lstStyle/>
          <a:p>
            <a:pPr algn="ctr" indent="0" marL="0">
              <a:buNone/>
            </a:pPr>
            <a:r>
              <a:rPr lang="en-US" sz="950" dirty="0">
                <a:solidFill>
                  <a:srgbClr val="2ECC71"/>
                </a:solidFill>
                <a:latin typeface="Calibri" pitchFamily="34" charset="0"/>
                <a:ea typeface="Calibri" pitchFamily="34" charset="-122"/>
                <a:cs typeface="Calibri" pitchFamily="34" charset="-120"/>
              </a:rPr>
              <a:t>~50M</a:t>
            </a:r>
            <a:endParaRPr lang="en-US" sz="950" dirty="0"/>
          </a:p>
        </p:txBody>
      </p:sp>
      <p:sp>
        <p:nvSpPr>
          <p:cNvPr id="47" name="Shape 44"/>
          <p:cNvSpPr/>
          <p:nvPr/>
        </p:nvSpPr>
        <p:spPr>
          <a:xfrm>
            <a:off x="5897880" y="3538728"/>
            <a:ext cx="640080" cy="438912"/>
          </a:xfrm>
          <a:prstGeom prst="rect">
            <a:avLst/>
          </a:prstGeom>
          <a:solidFill>
            <a:srgbClr val="F4F3EE"/>
          </a:solidFill>
          <a:ln w="12700">
            <a:solidFill>
              <a:srgbClr val="DDDDDD"/>
            </a:solidFill>
            <a:prstDash val="solid"/>
          </a:ln>
        </p:spPr>
      </p:sp>
      <p:sp>
        <p:nvSpPr>
          <p:cNvPr id="48" name="Text 45"/>
          <p:cNvSpPr/>
          <p:nvPr/>
        </p:nvSpPr>
        <p:spPr>
          <a:xfrm>
            <a:off x="5934456" y="3639312"/>
            <a:ext cx="566928" cy="256032"/>
          </a:xfrm>
          <a:prstGeom prst="rect">
            <a:avLst/>
          </a:prstGeom>
          <a:noFill/>
          <a:ln/>
        </p:spPr>
        <p:txBody>
          <a:bodyPr wrap="square" rtlCol="0" anchor="ctr"/>
          <a:lstStyle/>
          <a:p>
            <a:pPr algn="l" indent="0" marL="0">
              <a:buNone/>
            </a:pPr>
            <a:r>
              <a:rPr lang="en-US" sz="950" b="1" dirty="0">
                <a:solidFill>
                  <a:srgbClr val="1A1A2E"/>
                </a:solidFill>
                <a:latin typeface="Calibri" pitchFamily="34" charset="0"/>
                <a:ea typeface="Calibri" pitchFamily="34" charset="-122"/>
                <a:cs typeface="Calibri" pitchFamily="34" charset="-120"/>
              </a:rPr>
              <a:t>Gross Margin (est.)</a:t>
            </a:r>
            <a:endParaRPr lang="en-US" sz="950" dirty="0"/>
          </a:p>
        </p:txBody>
      </p:sp>
      <p:sp>
        <p:nvSpPr>
          <p:cNvPr id="49" name="Shape 46"/>
          <p:cNvSpPr/>
          <p:nvPr/>
        </p:nvSpPr>
        <p:spPr>
          <a:xfrm>
            <a:off x="6601968" y="3538728"/>
            <a:ext cx="731520" cy="438912"/>
          </a:xfrm>
          <a:prstGeom prst="rect">
            <a:avLst/>
          </a:prstGeom>
          <a:solidFill>
            <a:srgbClr val="F4F3EE"/>
          </a:solidFill>
          <a:ln w="12700">
            <a:solidFill>
              <a:srgbClr val="DDDDDD"/>
            </a:solidFill>
            <a:prstDash val="solid"/>
          </a:ln>
        </p:spPr>
      </p:sp>
      <p:sp>
        <p:nvSpPr>
          <p:cNvPr id="50" name="Text 47"/>
          <p:cNvSpPr/>
          <p:nvPr/>
        </p:nvSpPr>
        <p:spPr>
          <a:xfrm>
            <a:off x="6638544" y="3639312"/>
            <a:ext cx="658368" cy="256032"/>
          </a:xfrm>
          <a:prstGeom prst="rect">
            <a:avLst/>
          </a:prstGeom>
          <a:noFill/>
          <a:ln/>
        </p:spPr>
        <p:txBody>
          <a:bodyPr wrap="square" rtlCol="0" anchor="ctr"/>
          <a:lstStyle/>
          <a:p>
            <a:pPr algn="ctr" indent="0" marL="0">
              <a:buNone/>
            </a:pPr>
            <a:r>
              <a:rPr lang="en-US" sz="950" dirty="0">
                <a:solidFill>
                  <a:srgbClr val="555566"/>
                </a:solidFill>
                <a:latin typeface="Calibri" pitchFamily="34" charset="0"/>
                <a:ea typeface="Calibri" pitchFamily="34" charset="-122"/>
                <a:cs typeface="Calibri" pitchFamily="34" charset="-120"/>
              </a:rPr>
              <a:t>N/A</a:t>
            </a:r>
            <a:endParaRPr lang="en-US" sz="950" dirty="0"/>
          </a:p>
        </p:txBody>
      </p:sp>
      <p:sp>
        <p:nvSpPr>
          <p:cNvPr id="51" name="Shape 48"/>
          <p:cNvSpPr/>
          <p:nvPr/>
        </p:nvSpPr>
        <p:spPr>
          <a:xfrm>
            <a:off x="7388352" y="3538728"/>
            <a:ext cx="731520" cy="438912"/>
          </a:xfrm>
          <a:prstGeom prst="rect">
            <a:avLst/>
          </a:prstGeom>
          <a:solidFill>
            <a:srgbClr val="F4F3EE"/>
          </a:solidFill>
          <a:ln w="12700">
            <a:solidFill>
              <a:srgbClr val="DDDDDD"/>
            </a:solidFill>
            <a:prstDash val="solid"/>
          </a:ln>
        </p:spPr>
      </p:sp>
      <p:sp>
        <p:nvSpPr>
          <p:cNvPr id="52" name="Text 49"/>
          <p:cNvSpPr/>
          <p:nvPr/>
        </p:nvSpPr>
        <p:spPr>
          <a:xfrm>
            <a:off x="7424928" y="3639312"/>
            <a:ext cx="658368" cy="256032"/>
          </a:xfrm>
          <a:prstGeom prst="rect">
            <a:avLst/>
          </a:prstGeom>
          <a:noFill/>
          <a:ln/>
        </p:spPr>
        <p:txBody>
          <a:bodyPr wrap="square" rtlCol="0" anchor="ctr"/>
          <a:lstStyle/>
          <a:p>
            <a:pPr algn="ctr" indent="0" marL="0">
              <a:buNone/>
            </a:pPr>
            <a:r>
              <a:rPr lang="en-US" sz="950" dirty="0">
                <a:solidFill>
                  <a:srgbClr val="555566"/>
                </a:solidFill>
                <a:latin typeface="Calibri" pitchFamily="34" charset="0"/>
                <a:ea typeface="Calibri" pitchFamily="34" charset="-122"/>
                <a:cs typeface="Calibri" pitchFamily="34" charset="-120"/>
              </a:rPr>
              <a:t>72%</a:t>
            </a:r>
            <a:endParaRPr lang="en-US" sz="950" dirty="0"/>
          </a:p>
        </p:txBody>
      </p:sp>
      <p:sp>
        <p:nvSpPr>
          <p:cNvPr id="53" name="Shape 50"/>
          <p:cNvSpPr/>
          <p:nvPr/>
        </p:nvSpPr>
        <p:spPr>
          <a:xfrm>
            <a:off x="8193024" y="3538728"/>
            <a:ext cx="822960" cy="438912"/>
          </a:xfrm>
          <a:prstGeom prst="rect">
            <a:avLst/>
          </a:prstGeom>
          <a:solidFill>
            <a:srgbClr val="F4F3EE"/>
          </a:solidFill>
          <a:ln w="12700">
            <a:solidFill>
              <a:srgbClr val="DDDDDD"/>
            </a:solidFill>
            <a:prstDash val="solid"/>
          </a:ln>
        </p:spPr>
      </p:sp>
      <p:sp>
        <p:nvSpPr>
          <p:cNvPr id="54" name="Text 51"/>
          <p:cNvSpPr/>
          <p:nvPr/>
        </p:nvSpPr>
        <p:spPr>
          <a:xfrm>
            <a:off x="8229600" y="3639312"/>
            <a:ext cx="749808" cy="256032"/>
          </a:xfrm>
          <a:prstGeom prst="rect">
            <a:avLst/>
          </a:prstGeom>
          <a:noFill/>
          <a:ln/>
        </p:spPr>
        <p:txBody>
          <a:bodyPr wrap="square" rtlCol="0" anchor="ctr"/>
          <a:lstStyle/>
          <a:p>
            <a:pPr algn="ctr" indent="0" marL="0">
              <a:buNone/>
            </a:pPr>
            <a:r>
              <a:rPr lang="en-US" sz="950" dirty="0">
                <a:solidFill>
                  <a:srgbClr val="2ECC71"/>
                </a:solidFill>
                <a:latin typeface="Calibri" pitchFamily="34" charset="0"/>
                <a:ea typeface="Calibri" pitchFamily="34" charset="-122"/>
                <a:cs typeface="Calibri" pitchFamily="34" charset="-120"/>
              </a:rPr>
              <a:t>78%</a:t>
            </a:r>
            <a:endParaRPr lang="en-US" sz="950" dirty="0"/>
          </a:p>
        </p:txBody>
      </p:sp>
      <p:sp>
        <p:nvSpPr>
          <p:cNvPr id="55" name="Shape 52"/>
          <p:cNvSpPr/>
          <p:nvPr/>
        </p:nvSpPr>
        <p:spPr>
          <a:xfrm>
            <a:off x="5897880" y="4014216"/>
            <a:ext cx="640080" cy="438912"/>
          </a:xfrm>
          <a:prstGeom prst="rect">
            <a:avLst/>
          </a:prstGeom>
          <a:solidFill>
            <a:srgbClr val="FFFFFF"/>
          </a:solidFill>
          <a:ln w="12700">
            <a:solidFill>
              <a:srgbClr val="DDDDDD"/>
            </a:solidFill>
            <a:prstDash val="solid"/>
          </a:ln>
        </p:spPr>
      </p:sp>
      <p:sp>
        <p:nvSpPr>
          <p:cNvPr id="56" name="Text 53"/>
          <p:cNvSpPr/>
          <p:nvPr/>
        </p:nvSpPr>
        <p:spPr>
          <a:xfrm>
            <a:off x="5934456" y="4114800"/>
            <a:ext cx="566928" cy="256032"/>
          </a:xfrm>
          <a:prstGeom prst="rect">
            <a:avLst/>
          </a:prstGeom>
          <a:noFill/>
          <a:ln/>
        </p:spPr>
        <p:txBody>
          <a:bodyPr wrap="square" rtlCol="0" anchor="ctr"/>
          <a:lstStyle/>
          <a:p>
            <a:pPr algn="l" indent="0" marL="0">
              <a:buNone/>
            </a:pPr>
            <a:r>
              <a:rPr lang="en-US" sz="950" b="1" dirty="0">
                <a:solidFill>
                  <a:srgbClr val="1A1A2E"/>
                </a:solidFill>
                <a:latin typeface="Calibri" pitchFamily="34" charset="0"/>
                <a:ea typeface="Calibri" pitchFamily="34" charset="-122"/>
                <a:cs typeface="Calibri" pitchFamily="34" charset="-120"/>
              </a:rPr>
              <a:t>Headcount</a:t>
            </a:r>
            <a:endParaRPr lang="en-US" sz="950" dirty="0"/>
          </a:p>
        </p:txBody>
      </p:sp>
      <p:sp>
        <p:nvSpPr>
          <p:cNvPr id="57" name="Shape 54"/>
          <p:cNvSpPr/>
          <p:nvPr/>
        </p:nvSpPr>
        <p:spPr>
          <a:xfrm>
            <a:off x="6601968" y="4014216"/>
            <a:ext cx="731520" cy="438912"/>
          </a:xfrm>
          <a:prstGeom prst="rect">
            <a:avLst/>
          </a:prstGeom>
          <a:solidFill>
            <a:srgbClr val="FFFFFF"/>
          </a:solidFill>
          <a:ln w="12700">
            <a:solidFill>
              <a:srgbClr val="DDDDDD"/>
            </a:solidFill>
            <a:prstDash val="solid"/>
          </a:ln>
        </p:spPr>
      </p:sp>
      <p:sp>
        <p:nvSpPr>
          <p:cNvPr id="58" name="Text 55"/>
          <p:cNvSpPr/>
          <p:nvPr/>
        </p:nvSpPr>
        <p:spPr>
          <a:xfrm>
            <a:off x="6638544" y="4114800"/>
            <a:ext cx="658368" cy="256032"/>
          </a:xfrm>
          <a:prstGeom prst="rect">
            <a:avLst/>
          </a:prstGeom>
          <a:noFill/>
          <a:ln/>
        </p:spPr>
        <p:txBody>
          <a:bodyPr wrap="square" rtlCol="0" anchor="ctr"/>
          <a:lstStyle/>
          <a:p>
            <a:pPr algn="ctr" indent="0" marL="0">
              <a:buNone/>
            </a:pPr>
            <a:r>
              <a:rPr lang="en-US" sz="950" dirty="0">
                <a:solidFill>
                  <a:srgbClr val="555566"/>
                </a:solidFill>
                <a:latin typeface="Calibri" pitchFamily="34" charset="0"/>
                <a:ea typeface="Calibri" pitchFamily="34" charset="-122"/>
                <a:cs typeface="Calibri" pitchFamily="34" charset="-120"/>
              </a:rPr>
              <a:t>1 (Founder)</a:t>
            </a:r>
            <a:endParaRPr lang="en-US" sz="950" dirty="0"/>
          </a:p>
        </p:txBody>
      </p:sp>
      <p:sp>
        <p:nvSpPr>
          <p:cNvPr id="59" name="Shape 56"/>
          <p:cNvSpPr/>
          <p:nvPr/>
        </p:nvSpPr>
        <p:spPr>
          <a:xfrm>
            <a:off x="7388352" y="4014216"/>
            <a:ext cx="731520" cy="438912"/>
          </a:xfrm>
          <a:prstGeom prst="rect">
            <a:avLst/>
          </a:prstGeom>
          <a:solidFill>
            <a:srgbClr val="FFFFFF"/>
          </a:solidFill>
          <a:ln w="12700">
            <a:solidFill>
              <a:srgbClr val="DDDDDD"/>
            </a:solidFill>
            <a:prstDash val="solid"/>
          </a:ln>
        </p:spPr>
      </p:sp>
      <p:sp>
        <p:nvSpPr>
          <p:cNvPr id="60" name="Text 57"/>
          <p:cNvSpPr/>
          <p:nvPr/>
        </p:nvSpPr>
        <p:spPr>
          <a:xfrm>
            <a:off x="7424928" y="4114800"/>
            <a:ext cx="658368" cy="256032"/>
          </a:xfrm>
          <a:prstGeom prst="rect">
            <a:avLst/>
          </a:prstGeom>
          <a:noFill/>
          <a:ln/>
        </p:spPr>
        <p:txBody>
          <a:bodyPr wrap="square" rtlCol="0" anchor="ctr"/>
          <a:lstStyle/>
          <a:p>
            <a:pPr algn="ctr" indent="0" marL="0">
              <a:buNone/>
            </a:pPr>
            <a:r>
              <a:rPr lang="en-US" sz="950" dirty="0">
                <a:solidFill>
                  <a:srgbClr val="555566"/>
                </a:solidFill>
                <a:latin typeface="Calibri" pitchFamily="34" charset="0"/>
                <a:ea typeface="Calibri" pitchFamily="34" charset="-122"/>
                <a:cs typeface="Calibri" pitchFamily="34" charset="-120"/>
              </a:rPr>
              <a:t>3–5</a:t>
            </a:r>
            <a:endParaRPr lang="en-US" sz="950" dirty="0"/>
          </a:p>
        </p:txBody>
      </p:sp>
      <p:sp>
        <p:nvSpPr>
          <p:cNvPr id="61" name="Shape 58"/>
          <p:cNvSpPr/>
          <p:nvPr/>
        </p:nvSpPr>
        <p:spPr>
          <a:xfrm>
            <a:off x="8193024" y="4014216"/>
            <a:ext cx="822960" cy="438912"/>
          </a:xfrm>
          <a:prstGeom prst="rect">
            <a:avLst/>
          </a:prstGeom>
          <a:solidFill>
            <a:srgbClr val="FFFFFF"/>
          </a:solidFill>
          <a:ln w="12700">
            <a:solidFill>
              <a:srgbClr val="DDDDDD"/>
            </a:solidFill>
            <a:prstDash val="solid"/>
          </a:ln>
        </p:spPr>
      </p:sp>
      <p:sp>
        <p:nvSpPr>
          <p:cNvPr id="62" name="Text 59"/>
          <p:cNvSpPr/>
          <p:nvPr/>
        </p:nvSpPr>
        <p:spPr>
          <a:xfrm>
            <a:off x="8229600" y="4114800"/>
            <a:ext cx="749808" cy="256032"/>
          </a:xfrm>
          <a:prstGeom prst="rect">
            <a:avLst/>
          </a:prstGeom>
          <a:noFill/>
          <a:ln/>
        </p:spPr>
        <p:txBody>
          <a:bodyPr wrap="square" rtlCol="0" anchor="ctr"/>
          <a:lstStyle/>
          <a:p>
            <a:pPr algn="ctr" indent="0" marL="0">
              <a:buNone/>
            </a:pPr>
            <a:r>
              <a:rPr lang="en-US" sz="950" dirty="0">
                <a:solidFill>
                  <a:srgbClr val="2ECC71"/>
                </a:solidFill>
                <a:latin typeface="Calibri" pitchFamily="34" charset="0"/>
                <a:ea typeface="Calibri" pitchFamily="34" charset="-122"/>
                <a:cs typeface="Calibri" pitchFamily="34" charset="-120"/>
              </a:rPr>
              <a:t>10–15</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A84C"/>
          </a:solidFill>
          <a:ln w="12700">
            <a:solidFill>
              <a:srgbClr val="C9A84C"/>
            </a:solidFill>
            <a:prstDash val="solid"/>
          </a:ln>
        </p:spPr>
      </p:sp>
      <p:sp>
        <p:nvSpPr>
          <p:cNvPr id="3" name="Shape 1"/>
          <p:cNvSpPr/>
          <p:nvPr/>
        </p:nvSpPr>
        <p:spPr>
          <a:xfrm>
            <a:off x="0" y="5065776"/>
            <a:ext cx="9144000" cy="73152"/>
          </a:xfrm>
          <a:prstGeom prst="rect">
            <a:avLst/>
          </a:prstGeom>
          <a:solidFill>
            <a:srgbClr val="C9A84C"/>
          </a:solidFill>
          <a:ln w="12700">
            <a:solidFill>
              <a:srgbClr val="C9A84C"/>
            </a:solidFill>
            <a:prstDash val="solid"/>
          </a:ln>
        </p:spPr>
      </p:sp>
      <p:sp>
        <p:nvSpPr>
          <p:cNvPr id="4" name="Text 2"/>
          <p:cNvSpPr/>
          <p:nvPr/>
        </p:nvSpPr>
        <p:spPr>
          <a:xfrm>
            <a:off x="457200" y="128016"/>
            <a:ext cx="8229600" cy="201168"/>
          </a:xfrm>
          <a:prstGeom prst="rect">
            <a:avLst/>
          </a:prstGeom>
          <a:noFill/>
          <a:ln/>
        </p:spPr>
        <p:txBody>
          <a:bodyPr wrap="square" rtlCol="0" anchor="ctr"/>
          <a:lstStyle/>
          <a:p>
            <a:pPr algn="l" indent="0" marL="0">
              <a:buNone/>
            </a:pPr>
            <a:r>
              <a:rPr lang="en-US" sz="800" b="1" spc="600" kern="0" dirty="0">
                <a:solidFill>
                  <a:srgbClr val="C9A84C"/>
                </a:solidFill>
                <a:latin typeface="Calibri" pitchFamily="34" charset="0"/>
                <a:ea typeface="Calibri" pitchFamily="34" charset="-122"/>
                <a:cs typeface="Calibri" pitchFamily="34" charset="-120"/>
              </a:rPr>
              <a:t>SIX-STAGE ROADMAP</a:t>
            </a:r>
            <a:endParaRPr lang="en-US" sz="800" dirty="0"/>
          </a:p>
        </p:txBody>
      </p:sp>
      <p:sp>
        <p:nvSpPr>
          <p:cNvPr id="5" name="Text 3"/>
          <p:cNvSpPr/>
          <p:nvPr/>
        </p:nvSpPr>
        <p:spPr>
          <a:xfrm>
            <a:off x="502920" y="438912"/>
            <a:ext cx="8138160" cy="640080"/>
          </a:xfrm>
          <a:prstGeom prst="rect">
            <a:avLst/>
          </a:prstGeom>
          <a:noFill/>
          <a:ln/>
        </p:spPr>
        <p:txBody>
          <a:bodyPr wrap="square" lIns="0" tIns="0" rIns="0" bIns="0" rtlCol="0" anchor="ctr"/>
          <a:lstStyle/>
          <a:p>
            <a:pPr algn="l" indent="0" marL="0">
              <a:buNone/>
            </a:pPr>
            <a:r>
              <a:rPr lang="en-US" sz="2800" b="1" dirty="0">
                <a:solidFill>
                  <a:srgbClr val="FFFFFF"/>
                </a:solidFill>
                <a:latin typeface="Georgia" pitchFamily="34" charset="0"/>
                <a:ea typeface="Georgia" pitchFamily="34" charset="-122"/>
                <a:cs typeface="Georgia" pitchFamily="34" charset="-120"/>
              </a:rPr>
              <a:t>Stage 1 Is Live. Five More to Go.</a:t>
            </a:r>
            <a:endParaRPr lang="en-US" sz="2800" dirty="0"/>
          </a:p>
        </p:txBody>
      </p:sp>
      <p:sp>
        <p:nvSpPr>
          <p:cNvPr id="6" name="Shape 4"/>
          <p:cNvSpPr/>
          <p:nvPr/>
        </p:nvSpPr>
        <p:spPr>
          <a:xfrm>
            <a:off x="384048" y="1170432"/>
            <a:ext cx="2724912" cy="1792224"/>
          </a:xfrm>
          <a:prstGeom prst="rect">
            <a:avLst/>
          </a:prstGeom>
          <a:solidFill>
            <a:srgbClr val="16213E"/>
          </a:solidFill>
          <a:ln w="12700">
            <a:solidFill>
              <a:srgbClr val="C9A84C"/>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521208" y="1298448"/>
            <a:ext cx="475488" cy="475488"/>
          </a:xfrm>
          <a:prstGeom prst="OVAL">
            <a:avLst/>
          </a:prstGeom>
          <a:solidFill>
            <a:srgbClr val="C9A84C"/>
          </a:solidFill>
          <a:ln w="12700">
            <a:solidFill>
              <a:srgbClr val="C9A84C"/>
            </a:solidFill>
            <a:prstDash val="solid"/>
          </a:ln>
        </p:spPr>
      </p:sp>
      <p:sp>
        <p:nvSpPr>
          <p:cNvPr id="8" name="Text 6"/>
          <p:cNvSpPr/>
          <p:nvPr/>
        </p:nvSpPr>
        <p:spPr>
          <a:xfrm>
            <a:off x="521208" y="1316736"/>
            <a:ext cx="475488" cy="420624"/>
          </a:xfrm>
          <a:prstGeom prst="rect">
            <a:avLst/>
          </a:prstGeom>
          <a:noFill/>
          <a:ln/>
        </p:spPr>
        <p:txBody>
          <a:bodyPr wrap="square" lIns="0" tIns="0" rIns="0" bIns="0" rtlCol="0" anchor="ctr"/>
          <a:lstStyle/>
          <a:p>
            <a:pPr algn="ctr" indent="0" marL="0">
              <a:buNone/>
            </a:pPr>
            <a:r>
              <a:rPr lang="en-US" sz="1800" b="1" dirty="0">
                <a:solidFill>
                  <a:srgbClr val="0D0D1A"/>
                </a:solidFill>
                <a:latin typeface="Georgia" pitchFamily="34" charset="0"/>
                <a:ea typeface="Georgia" pitchFamily="34" charset="-122"/>
                <a:cs typeface="Georgia" pitchFamily="34" charset="-120"/>
              </a:rPr>
              <a:t>1</a:t>
            </a:r>
            <a:endParaRPr lang="en-US" sz="1800" dirty="0"/>
          </a:p>
        </p:txBody>
      </p:sp>
      <p:sp>
        <p:nvSpPr>
          <p:cNvPr id="9" name="Text 7"/>
          <p:cNvSpPr/>
          <p:nvPr/>
        </p:nvSpPr>
        <p:spPr>
          <a:xfrm>
            <a:off x="1115568" y="1298448"/>
            <a:ext cx="1865376" cy="256032"/>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Foundation</a:t>
            </a:r>
            <a:endParaRPr lang="en-US" sz="1200" dirty="0"/>
          </a:p>
        </p:txBody>
      </p:sp>
      <p:sp>
        <p:nvSpPr>
          <p:cNvPr id="10" name="Text 8"/>
          <p:cNvSpPr/>
          <p:nvPr/>
        </p:nvSpPr>
        <p:spPr>
          <a:xfrm>
            <a:off x="1115568" y="1572768"/>
            <a:ext cx="1865376" cy="201168"/>
          </a:xfrm>
          <a:prstGeom prst="rect">
            <a:avLst/>
          </a:prstGeom>
          <a:noFill/>
          <a:ln/>
        </p:spPr>
        <p:txBody>
          <a:bodyPr wrap="square" rtlCol="0" anchor="ctr"/>
          <a:lstStyle/>
          <a:p>
            <a:pPr indent="0" marL="0">
              <a:buNone/>
            </a:pPr>
            <a:r>
              <a:rPr lang="en-US" sz="900" i="1" dirty="0">
                <a:solidFill>
                  <a:srgbClr val="C9A84C"/>
                </a:solidFill>
                <a:latin typeface="Calibri" pitchFamily="34" charset="0"/>
                <a:ea typeface="Calibri" pitchFamily="34" charset="-122"/>
                <a:cs typeface="Calibri" pitchFamily="34" charset="-120"/>
              </a:rPr>
              <a:t>Q1 2026</a:t>
            </a:r>
            <a:endParaRPr lang="en-US" sz="900" dirty="0"/>
          </a:p>
        </p:txBody>
      </p:sp>
      <p:sp>
        <p:nvSpPr>
          <p:cNvPr id="11" name="Shape 9"/>
          <p:cNvSpPr/>
          <p:nvPr/>
        </p:nvSpPr>
        <p:spPr>
          <a:xfrm>
            <a:off x="521208" y="1847088"/>
            <a:ext cx="2450592" cy="36576"/>
          </a:xfrm>
          <a:prstGeom prst="rect">
            <a:avLst/>
          </a:prstGeom>
          <a:solidFill>
            <a:srgbClr val="C9A84C"/>
          </a:solidFill>
          <a:ln w="12700">
            <a:solidFill>
              <a:srgbClr val="C9A84C"/>
            </a:solidFill>
            <a:prstDash val="solid"/>
          </a:ln>
        </p:spPr>
      </p:sp>
      <p:sp>
        <p:nvSpPr>
          <p:cNvPr id="12" name="Text 10"/>
          <p:cNvSpPr/>
          <p:nvPr/>
        </p:nvSpPr>
        <p:spPr>
          <a:xfrm>
            <a:off x="521208" y="1938528"/>
            <a:ext cx="2450592" cy="914400"/>
          </a:xfrm>
          <a:prstGeom prst="rect">
            <a:avLst/>
          </a:prstGeom>
          <a:noFill/>
          <a:ln/>
        </p:spPr>
        <p:txBody>
          <a:bodyPr wrap="square" rtlCol="0" anchor="t"/>
          <a:lstStyle/>
          <a:p>
            <a:pPr indent="0" marL="0">
              <a:buNone/>
            </a:pPr>
            <a:r>
              <a:rPr lang="en-US" sz="950" dirty="0">
                <a:solidFill>
                  <a:srgbClr val="AAAACC"/>
                </a:solidFill>
                <a:latin typeface="Calibri" pitchFamily="34" charset="0"/>
                <a:ea typeface="Calibri" pitchFamily="34" charset="-122"/>
                <a:cs typeface="Calibri" pitchFamily="34" charset="-120"/>
              </a:rPr>
              <a:t>Language runtime, QUBE quantum layer, Mother AI cognitive systems, aeonmi.ai live, EIN registered, 11 sessions completed.</a:t>
            </a:r>
            <a:endParaRPr lang="en-US" sz="950" dirty="0"/>
          </a:p>
        </p:txBody>
      </p:sp>
      <p:sp>
        <p:nvSpPr>
          <p:cNvPr id="13" name="Text 11"/>
          <p:cNvSpPr/>
          <p:nvPr/>
        </p:nvSpPr>
        <p:spPr>
          <a:xfrm>
            <a:off x="521208" y="2779776"/>
            <a:ext cx="2450592" cy="164592"/>
          </a:xfrm>
          <a:prstGeom prst="rect">
            <a:avLst/>
          </a:prstGeom>
          <a:noFill/>
          <a:ln/>
        </p:spPr>
        <p:txBody>
          <a:bodyPr wrap="square" rtlCol="0" anchor="ctr"/>
          <a:lstStyle/>
          <a:p>
            <a:pPr indent="0" marL="0">
              <a:buNone/>
            </a:pPr>
            <a:r>
              <a:rPr lang="en-US" sz="800" b="1" dirty="0">
                <a:solidFill>
                  <a:srgbClr val="C9A84C"/>
                </a:solidFill>
                <a:latin typeface="Calibri" pitchFamily="34" charset="0"/>
                <a:ea typeface="Calibri" pitchFamily="34" charset="-122"/>
                <a:cs typeface="Calibri" pitchFamily="34" charset="-120"/>
              </a:rPr>
              <a:t>● LIVE NOW</a:t>
            </a:r>
            <a:endParaRPr lang="en-US" sz="800" dirty="0"/>
          </a:p>
        </p:txBody>
      </p:sp>
      <p:sp>
        <p:nvSpPr>
          <p:cNvPr id="14" name="Shape 12"/>
          <p:cNvSpPr/>
          <p:nvPr/>
        </p:nvSpPr>
        <p:spPr>
          <a:xfrm>
            <a:off x="3236976" y="1170432"/>
            <a:ext cx="2724912" cy="1792224"/>
          </a:xfrm>
          <a:prstGeom prst="rect">
            <a:avLst/>
          </a:prstGeom>
          <a:solidFill>
            <a:srgbClr val="16213E"/>
          </a:solidFill>
          <a:ln w="12700">
            <a:solidFill>
              <a:srgbClr val="00B4D8"/>
            </a:solidFill>
            <a:prstDash val="solid"/>
          </a:ln>
          <a:effectLst>
            <a:outerShdw sx="100000" sy="100000" kx="0" ky="0" algn="bl" rotWithShape="0" blurRad="101600" dist="38100" dir="8100000">
              <a:srgbClr val="000000">
                <a:alpha val="20000"/>
              </a:srgbClr>
            </a:outerShdw>
          </a:effectLst>
        </p:spPr>
      </p:sp>
      <p:sp>
        <p:nvSpPr>
          <p:cNvPr id="15" name="Shape 13"/>
          <p:cNvSpPr/>
          <p:nvPr/>
        </p:nvSpPr>
        <p:spPr>
          <a:xfrm>
            <a:off x="3374136" y="1298448"/>
            <a:ext cx="475488" cy="475488"/>
          </a:xfrm>
          <a:prstGeom prst="OVAL">
            <a:avLst/>
          </a:prstGeom>
          <a:solidFill>
            <a:srgbClr val="00B4D8"/>
          </a:solidFill>
          <a:ln w="12700">
            <a:solidFill>
              <a:srgbClr val="00B4D8"/>
            </a:solidFill>
            <a:prstDash val="solid"/>
          </a:ln>
        </p:spPr>
      </p:sp>
      <p:sp>
        <p:nvSpPr>
          <p:cNvPr id="16" name="Text 14"/>
          <p:cNvSpPr/>
          <p:nvPr/>
        </p:nvSpPr>
        <p:spPr>
          <a:xfrm>
            <a:off x="3374136" y="1316736"/>
            <a:ext cx="475488" cy="420624"/>
          </a:xfrm>
          <a:prstGeom prst="rect">
            <a:avLst/>
          </a:prstGeom>
          <a:noFill/>
          <a:ln/>
        </p:spPr>
        <p:txBody>
          <a:bodyPr wrap="square" lIns="0" tIns="0" rIns="0" bIns="0" rtlCol="0" anchor="ctr"/>
          <a:lstStyle/>
          <a:p>
            <a:pPr algn="ctr" indent="0" marL="0">
              <a:buNone/>
            </a:pPr>
            <a:r>
              <a:rPr lang="en-US" sz="1800" b="1" dirty="0">
                <a:solidFill>
                  <a:srgbClr val="0D0D1A"/>
                </a:solidFill>
                <a:latin typeface="Georgia" pitchFamily="34" charset="0"/>
                <a:ea typeface="Georgia" pitchFamily="34" charset="-122"/>
                <a:cs typeface="Georgia" pitchFamily="34" charset="-120"/>
              </a:rPr>
              <a:t>2</a:t>
            </a:r>
            <a:endParaRPr lang="en-US" sz="1800" dirty="0"/>
          </a:p>
        </p:txBody>
      </p:sp>
      <p:sp>
        <p:nvSpPr>
          <p:cNvPr id="17" name="Text 15"/>
          <p:cNvSpPr/>
          <p:nvPr/>
        </p:nvSpPr>
        <p:spPr>
          <a:xfrm>
            <a:off x="3968496" y="1298448"/>
            <a:ext cx="1865376" cy="256032"/>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Infrastructure</a:t>
            </a:r>
            <a:endParaRPr lang="en-US" sz="1200" dirty="0"/>
          </a:p>
        </p:txBody>
      </p:sp>
      <p:sp>
        <p:nvSpPr>
          <p:cNvPr id="18" name="Text 16"/>
          <p:cNvSpPr/>
          <p:nvPr/>
        </p:nvSpPr>
        <p:spPr>
          <a:xfrm>
            <a:off x="3968496" y="1572768"/>
            <a:ext cx="1865376" cy="201168"/>
          </a:xfrm>
          <a:prstGeom prst="rect">
            <a:avLst/>
          </a:prstGeom>
          <a:noFill/>
          <a:ln/>
        </p:spPr>
        <p:txBody>
          <a:bodyPr wrap="square" rtlCol="0" anchor="ctr"/>
          <a:lstStyle/>
          <a:p>
            <a:pPr indent="0" marL="0">
              <a:buNone/>
            </a:pPr>
            <a:r>
              <a:rPr lang="en-US" sz="900" i="1" dirty="0">
                <a:solidFill>
                  <a:srgbClr val="00B4D8"/>
                </a:solidFill>
                <a:latin typeface="Calibri" pitchFamily="34" charset="0"/>
                <a:ea typeface="Calibri" pitchFamily="34" charset="-122"/>
                <a:cs typeface="Calibri" pitchFamily="34" charset="-120"/>
              </a:rPr>
              <a:t>Q2 2026</a:t>
            </a:r>
            <a:endParaRPr lang="en-US" sz="900" dirty="0"/>
          </a:p>
        </p:txBody>
      </p:sp>
      <p:sp>
        <p:nvSpPr>
          <p:cNvPr id="19" name="Shape 17"/>
          <p:cNvSpPr/>
          <p:nvPr/>
        </p:nvSpPr>
        <p:spPr>
          <a:xfrm>
            <a:off x="3374136" y="1847088"/>
            <a:ext cx="2450592" cy="36576"/>
          </a:xfrm>
          <a:prstGeom prst="rect">
            <a:avLst/>
          </a:prstGeom>
          <a:solidFill>
            <a:srgbClr val="2A2A4A"/>
          </a:solidFill>
          <a:ln w="12700">
            <a:solidFill>
              <a:srgbClr val="2A2A4A"/>
            </a:solidFill>
            <a:prstDash val="solid"/>
          </a:ln>
        </p:spPr>
      </p:sp>
      <p:sp>
        <p:nvSpPr>
          <p:cNvPr id="20" name="Text 18"/>
          <p:cNvSpPr/>
          <p:nvPr/>
        </p:nvSpPr>
        <p:spPr>
          <a:xfrm>
            <a:off x="3374136" y="1938528"/>
            <a:ext cx="2450592" cy="914400"/>
          </a:xfrm>
          <a:prstGeom prst="rect">
            <a:avLst/>
          </a:prstGeom>
          <a:noFill/>
          <a:ln/>
        </p:spPr>
        <p:txBody>
          <a:bodyPr wrap="square" rtlCol="0" anchor="t"/>
          <a:lstStyle/>
          <a:p>
            <a:pPr indent="0" marL="0">
              <a:buNone/>
            </a:pPr>
            <a:r>
              <a:rPr lang="en-US" sz="950" dirty="0">
                <a:solidFill>
                  <a:srgbClr val="AAAACC"/>
                </a:solidFill>
                <a:latin typeface="Calibri" pitchFamily="34" charset="0"/>
                <a:ea typeface="Calibri" pitchFamily="34" charset="-122"/>
                <a:cs typeface="Calibri" pitchFamily="34" charset="-120"/>
              </a:rPr>
              <a:t>MGKS T1/T2/T3 memory tiers deployed. Hybrid retrieval engine live. pgvector integration. Hive topology operational.</a:t>
            </a:r>
            <a:endParaRPr lang="en-US" sz="950" dirty="0"/>
          </a:p>
        </p:txBody>
      </p:sp>
      <p:sp>
        <p:nvSpPr>
          <p:cNvPr id="21" name="Text 19"/>
          <p:cNvSpPr/>
          <p:nvPr/>
        </p:nvSpPr>
        <p:spPr>
          <a:xfrm>
            <a:off x="3374136" y="2779776"/>
            <a:ext cx="2450592" cy="164592"/>
          </a:xfrm>
          <a:prstGeom prst="rect">
            <a:avLst/>
          </a:prstGeom>
          <a:noFill/>
          <a:ln/>
        </p:spPr>
        <p:txBody>
          <a:bodyPr wrap="square" rtlCol="0" anchor="ctr"/>
          <a:lstStyle/>
          <a:p>
            <a:pPr indent="0" marL="0">
              <a:buNone/>
            </a:pPr>
            <a:r>
              <a:rPr lang="en-US" sz="800" b="1" dirty="0">
                <a:solidFill>
                  <a:srgbClr val="00B4D8"/>
                </a:solidFill>
                <a:latin typeface="Calibri" pitchFamily="34" charset="0"/>
                <a:ea typeface="Calibri" pitchFamily="34" charset="-122"/>
                <a:cs typeface="Calibri" pitchFamily="34" charset="-120"/>
              </a:rPr>
              <a:t>● UP NEXT</a:t>
            </a:r>
            <a:endParaRPr lang="en-US" sz="800" dirty="0"/>
          </a:p>
        </p:txBody>
      </p:sp>
      <p:sp>
        <p:nvSpPr>
          <p:cNvPr id="22" name="Shape 20"/>
          <p:cNvSpPr/>
          <p:nvPr/>
        </p:nvSpPr>
        <p:spPr>
          <a:xfrm>
            <a:off x="6089904" y="1170432"/>
            <a:ext cx="2724912" cy="1792224"/>
          </a:xfrm>
          <a:prstGeom prst="rect">
            <a:avLst/>
          </a:prstGeom>
          <a:solidFill>
            <a:srgbClr val="16213E"/>
          </a:solidFill>
          <a:ln w="12700">
            <a:solidFill>
              <a:srgbClr val="2A2A4A"/>
            </a:solidFill>
            <a:prstDash val="solid"/>
          </a:ln>
          <a:effectLst>
            <a:outerShdw sx="100000" sy="100000" kx="0" ky="0" algn="bl" rotWithShape="0" blurRad="101600" dist="38100" dir="8100000">
              <a:srgbClr val="000000">
                <a:alpha val="20000"/>
              </a:srgbClr>
            </a:outerShdw>
          </a:effectLst>
        </p:spPr>
      </p:sp>
      <p:sp>
        <p:nvSpPr>
          <p:cNvPr id="23" name="Shape 21"/>
          <p:cNvSpPr/>
          <p:nvPr/>
        </p:nvSpPr>
        <p:spPr>
          <a:xfrm>
            <a:off x="6227064" y="1298448"/>
            <a:ext cx="475488" cy="475488"/>
          </a:xfrm>
          <a:prstGeom prst="OVAL">
            <a:avLst/>
          </a:prstGeom>
          <a:solidFill>
            <a:srgbClr val="2A2A4A"/>
          </a:solidFill>
          <a:ln w="12700">
            <a:solidFill>
              <a:srgbClr val="3A3A6A"/>
            </a:solidFill>
            <a:prstDash val="solid"/>
          </a:ln>
        </p:spPr>
      </p:sp>
      <p:sp>
        <p:nvSpPr>
          <p:cNvPr id="24" name="Text 22"/>
          <p:cNvSpPr/>
          <p:nvPr/>
        </p:nvSpPr>
        <p:spPr>
          <a:xfrm>
            <a:off x="6227064" y="1316736"/>
            <a:ext cx="475488"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25" name="Text 23"/>
          <p:cNvSpPr/>
          <p:nvPr/>
        </p:nvSpPr>
        <p:spPr>
          <a:xfrm>
            <a:off x="6821424" y="1298448"/>
            <a:ext cx="1865376" cy="256032"/>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Developer Access</a:t>
            </a:r>
            <a:endParaRPr lang="en-US" sz="1200" dirty="0"/>
          </a:p>
        </p:txBody>
      </p:sp>
      <p:sp>
        <p:nvSpPr>
          <p:cNvPr id="26" name="Text 24"/>
          <p:cNvSpPr/>
          <p:nvPr/>
        </p:nvSpPr>
        <p:spPr>
          <a:xfrm>
            <a:off x="6821424" y="1572768"/>
            <a:ext cx="1865376" cy="201168"/>
          </a:xfrm>
          <a:prstGeom prst="rect">
            <a:avLst/>
          </a:prstGeom>
          <a:noFill/>
          <a:ln/>
        </p:spPr>
        <p:txBody>
          <a:bodyPr wrap="square" rtlCol="0" anchor="ctr"/>
          <a:lstStyle/>
          <a:p>
            <a:pPr indent="0" marL="0">
              <a:buNone/>
            </a:pPr>
            <a:r>
              <a:rPr lang="en-US" sz="900" i="1" dirty="0">
                <a:solidFill>
                  <a:srgbClr val="8888AA"/>
                </a:solidFill>
                <a:latin typeface="Calibri" pitchFamily="34" charset="0"/>
                <a:ea typeface="Calibri" pitchFamily="34" charset="-122"/>
                <a:cs typeface="Calibri" pitchFamily="34" charset="-120"/>
              </a:rPr>
              <a:t>Q3 2026</a:t>
            </a:r>
            <a:endParaRPr lang="en-US" sz="900" dirty="0"/>
          </a:p>
        </p:txBody>
      </p:sp>
      <p:sp>
        <p:nvSpPr>
          <p:cNvPr id="27" name="Shape 25"/>
          <p:cNvSpPr/>
          <p:nvPr/>
        </p:nvSpPr>
        <p:spPr>
          <a:xfrm>
            <a:off x="6227064" y="1847088"/>
            <a:ext cx="2450592" cy="36576"/>
          </a:xfrm>
          <a:prstGeom prst="rect">
            <a:avLst/>
          </a:prstGeom>
          <a:solidFill>
            <a:srgbClr val="2A2A4A"/>
          </a:solidFill>
          <a:ln w="12700">
            <a:solidFill>
              <a:srgbClr val="2A2A4A"/>
            </a:solidFill>
            <a:prstDash val="solid"/>
          </a:ln>
        </p:spPr>
      </p:sp>
      <p:sp>
        <p:nvSpPr>
          <p:cNvPr id="28" name="Text 26"/>
          <p:cNvSpPr/>
          <p:nvPr/>
        </p:nvSpPr>
        <p:spPr>
          <a:xfrm>
            <a:off x="6227064" y="1938528"/>
            <a:ext cx="2450592" cy="914400"/>
          </a:xfrm>
          <a:prstGeom prst="rect">
            <a:avLst/>
          </a:prstGeom>
          <a:noFill/>
          <a:ln/>
        </p:spPr>
        <p:txBody>
          <a:bodyPr wrap="square" rtlCol="0" anchor="t"/>
          <a:lstStyle/>
          <a:p>
            <a:pPr indent="0" marL="0">
              <a:buNone/>
            </a:pPr>
            <a:r>
              <a:rPr lang="en-US" sz="950" dirty="0">
                <a:solidFill>
                  <a:srgbClr val="AAAACC"/>
                </a:solidFill>
                <a:latin typeface="Calibri" pitchFamily="34" charset="0"/>
                <a:ea typeface="Calibri" pitchFamily="34" charset="-122"/>
                <a:cs typeface="Calibri" pitchFamily="34" charset="-120"/>
              </a:rPr>
              <a:t>API beta launch. Developer portal. Freemium tier. First 500 users. Hackathon wins. GitHub public release of language spec.</a:t>
            </a:r>
            <a:endParaRPr lang="en-US" sz="950" dirty="0"/>
          </a:p>
        </p:txBody>
      </p:sp>
      <p:sp>
        <p:nvSpPr>
          <p:cNvPr id="29" name="Shape 27"/>
          <p:cNvSpPr/>
          <p:nvPr/>
        </p:nvSpPr>
        <p:spPr>
          <a:xfrm>
            <a:off x="384048" y="3090672"/>
            <a:ext cx="2724912" cy="1792224"/>
          </a:xfrm>
          <a:prstGeom prst="rect">
            <a:avLst/>
          </a:prstGeom>
          <a:solidFill>
            <a:srgbClr val="16213E"/>
          </a:solidFill>
          <a:ln w="12700">
            <a:solidFill>
              <a:srgbClr val="2A2A4A"/>
            </a:solidFill>
            <a:prstDash val="solid"/>
          </a:ln>
          <a:effectLst>
            <a:outerShdw sx="100000" sy="100000" kx="0" ky="0" algn="bl" rotWithShape="0" blurRad="101600" dist="38100" dir="8100000">
              <a:srgbClr val="000000">
                <a:alpha val="20000"/>
              </a:srgbClr>
            </a:outerShdw>
          </a:effectLst>
        </p:spPr>
      </p:sp>
      <p:sp>
        <p:nvSpPr>
          <p:cNvPr id="30" name="Shape 28"/>
          <p:cNvSpPr/>
          <p:nvPr/>
        </p:nvSpPr>
        <p:spPr>
          <a:xfrm>
            <a:off x="521208" y="3218688"/>
            <a:ext cx="475488" cy="475488"/>
          </a:xfrm>
          <a:prstGeom prst="OVAL">
            <a:avLst/>
          </a:prstGeom>
          <a:solidFill>
            <a:srgbClr val="2A2A4A"/>
          </a:solidFill>
          <a:ln w="12700">
            <a:solidFill>
              <a:srgbClr val="3A3A6A"/>
            </a:solidFill>
            <a:prstDash val="solid"/>
          </a:ln>
        </p:spPr>
      </p:sp>
      <p:sp>
        <p:nvSpPr>
          <p:cNvPr id="31" name="Text 29"/>
          <p:cNvSpPr/>
          <p:nvPr/>
        </p:nvSpPr>
        <p:spPr>
          <a:xfrm>
            <a:off x="521208" y="3236976"/>
            <a:ext cx="475488"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4</a:t>
            </a:r>
            <a:endParaRPr lang="en-US" sz="1800" dirty="0"/>
          </a:p>
        </p:txBody>
      </p:sp>
      <p:sp>
        <p:nvSpPr>
          <p:cNvPr id="32" name="Text 30"/>
          <p:cNvSpPr/>
          <p:nvPr/>
        </p:nvSpPr>
        <p:spPr>
          <a:xfrm>
            <a:off x="1115568" y="3218688"/>
            <a:ext cx="1865376" cy="256032"/>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Enterprise</a:t>
            </a:r>
            <a:endParaRPr lang="en-US" sz="1200" dirty="0"/>
          </a:p>
        </p:txBody>
      </p:sp>
      <p:sp>
        <p:nvSpPr>
          <p:cNvPr id="33" name="Text 31"/>
          <p:cNvSpPr/>
          <p:nvPr/>
        </p:nvSpPr>
        <p:spPr>
          <a:xfrm>
            <a:off x="1115568" y="3493008"/>
            <a:ext cx="1865376" cy="201168"/>
          </a:xfrm>
          <a:prstGeom prst="rect">
            <a:avLst/>
          </a:prstGeom>
          <a:noFill/>
          <a:ln/>
        </p:spPr>
        <p:txBody>
          <a:bodyPr wrap="square" rtlCol="0" anchor="ctr"/>
          <a:lstStyle/>
          <a:p>
            <a:pPr indent="0" marL="0">
              <a:buNone/>
            </a:pPr>
            <a:r>
              <a:rPr lang="en-US" sz="900" i="1" dirty="0">
                <a:solidFill>
                  <a:srgbClr val="8888AA"/>
                </a:solidFill>
                <a:latin typeface="Calibri" pitchFamily="34" charset="0"/>
                <a:ea typeface="Calibri" pitchFamily="34" charset="-122"/>
                <a:cs typeface="Calibri" pitchFamily="34" charset="-120"/>
              </a:rPr>
              <a:t>Q1 2027</a:t>
            </a:r>
            <a:endParaRPr lang="en-US" sz="900" dirty="0"/>
          </a:p>
        </p:txBody>
      </p:sp>
      <p:sp>
        <p:nvSpPr>
          <p:cNvPr id="34" name="Shape 32"/>
          <p:cNvSpPr/>
          <p:nvPr/>
        </p:nvSpPr>
        <p:spPr>
          <a:xfrm>
            <a:off x="521208" y="3767328"/>
            <a:ext cx="2450592" cy="36576"/>
          </a:xfrm>
          <a:prstGeom prst="rect">
            <a:avLst/>
          </a:prstGeom>
          <a:solidFill>
            <a:srgbClr val="2A2A4A"/>
          </a:solidFill>
          <a:ln w="12700">
            <a:solidFill>
              <a:srgbClr val="2A2A4A"/>
            </a:solidFill>
            <a:prstDash val="solid"/>
          </a:ln>
        </p:spPr>
      </p:sp>
      <p:sp>
        <p:nvSpPr>
          <p:cNvPr id="35" name="Text 33"/>
          <p:cNvSpPr/>
          <p:nvPr/>
        </p:nvSpPr>
        <p:spPr>
          <a:xfrm>
            <a:off x="521208" y="3858768"/>
            <a:ext cx="2450592" cy="914400"/>
          </a:xfrm>
          <a:prstGeom prst="rect">
            <a:avLst/>
          </a:prstGeom>
          <a:noFill/>
          <a:ln/>
        </p:spPr>
        <p:txBody>
          <a:bodyPr wrap="square" rtlCol="0" anchor="t"/>
          <a:lstStyle/>
          <a:p>
            <a:pPr indent="0" marL="0">
              <a:buNone/>
            </a:pPr>
            <a:r>
              <a:rPr lang="en-US" sz="950" dirty="0">
                <a:solidFill>
                  <a:srgbClr val="AAAACC"/>
                </a:solidFill>
                <a:latin typeface="Calibri" pitchFamily="34" charset="0"/>
                <a:ea typeface="Calibri" pitchFamily="34" charset="-122"/>
                <a:cs typeface="Calibri" pitchFamily="34" charset="-120"/>
              </a:rPr>
              <a:t>Enterprise license program. First 10 paying clients. Mother AI-as-a-Service beta. IP licensing conversations initiated.</a:t>
            </a:r>
            <a:endParaRPr lang="en-US" sz="950" dirty="0"/>
          </a:p>
        </p:txBody>
      </p:sp>
      <p:sp>
        <p:nvSpPr>
          <p:cNvPr id="36" name="Shape 34"/>
          <p:cNvSpPr/>
          <p:nvPr/>
        </p:nvSpPr>
        <p:spPr>
          <a:xfrm>
            <a:off x="3236976" y="3090672"/>
            <a:ext cx="2724912" cy="1792224"/>
          </a:xfrm>
          <a:prstGeom prst="rect">
            <a:avLst/>
          </a:prstGeom>
          <a:solidFill>
            <a:srgbClr val="16213E"/>
          </a:solidFill>
          <a:ln w="12700">
            <a:solidFill>
              <a:srgbClr val="2A2A4A"/>
            </a:solidFill>
            <a:prstDash val="solid"/>
          </a:ln>
          <a:effectLst>
            <a:outerShdw sx="100000" sy="100000" kx="0" ky="0" algn="bl" rotWithShape="0" blurRad="101600" dist="38100" dir="8100000">
              <a:srgbClr val="000000">
                <a:alpha val="20000"/>
              </a:srgbClr>
            </a:outerShdw>
          </a:effectLst>
        </p:spPr>
      </p:sp>
      <p:sp>
        <p:nvSpPr>
          <p:cNvPr id="37" name="Shape 35"/>
          <p:cNvSpPr/>
          <p:nvPr/>
        </p:nvSpPr>
        <p:spPr>
          <a:xfrm>
            <a:off x="3374136" y="3218688"/>
            <a:ext cx="475488" cy="475488"/>
          </a:xfrm>
          <a:prstGeom prst="OVAL">
            <a:avLst/>
          </a:prstGeom>
          <a:solidFill>
            <a:srgbClr val="2A2A4A"/>
          </a:solidFill>
          <a:ln w="12700">
            <a:solidFill>
              <a:srgbClr val="3A3A6A"/>
            </a:solidFill>
            <a:prstDash val="solid"/>
          </a:ln>
        </p:spPr>
      </p:sp>
      <p:sp>
        <p:nvSpPr>
          <p:cNvPr id="38" name="Text 36"/>
          <p:cNvSpPr/>
          <p:nvPr/>
        </p:nvSpPr>
        <p:spPr>
          <a:xfrm>
            <a:off x="3374136" y="3236976"/>
            <a:ext cx="475488"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5</a:t>
            </a:r>
            <a:endParaRPr lang="en-US" sz="1800" dirty="0"/>
          </a:p>
        </p:txBody>
      </p:sp>
      <p:sp>
        <p:nvSpPr>
          <p:cNvPr id="39" name="Text 37"/>
          <p:cNvSpPr/>
          <p:nvPr/>
        </p:nvSpPr>
        <p:spPr>
          <a:xfrm>
            <a:off x="3968496" y="3218688"/>
            <a:ext cx="1865376" cy="256032"/>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Scale</a:t>
            </a:r>
            <a:endParaRPr lang="en-US" sz="1200" dirty="0"/>
          </a:p>
        </p:txBody>
      </p:sp>
      <p:sp>
        <p:nvSpPr>
          <p:cNvPr id="40" name="Text 38"/>
          <p:cNvSpPr/>
          <p:nvPr/>
        </p:nvSpPr>
        <p:spPr>
          <a:xfrm>
            <a:off x="3968496" y="3493008"/>
            <a:ext cx="1865376" cy="201168"/>
          </a:xfrm>
          <a:prstGeom prst="rect">
            <a:avLst/>
          </a:prstGeom>
          <a:noFill/>
          <a:ln/>
        </p:spPr>
        <p:txBody>
          <a:bodyPr wrap="square" rtlCol="0" anchor="ctr"/>
          <a:lstStyle/>
          <a:p>
            <a:pPr indent="0" marL="0">
              <a:buNone/>
            </a:pPr>
            <a:r>
              <a:rPr lang="en-US" sz="900" i="1" dirty="0">
                <a:solidFill>
                  <a:srgbClr val="8888AA"/>
                </a:solidFill>
                <a:latin typeface="Calibri" pitchFamily="34" charset="0"/>
                <a:ea typeface="Calibri" pitchFamily="34" charset="-122"/>
                <a:cs typeface="Calibri" pitchFamily="34" charset="-120"/>
              </a:rPr>
              <a:t>2027</a:t>
            </a:r>
            <a:endParaRPr lang="en-US" sz="900" dirty="0"/>
          </a:p>
        </p:txBody>
      </p:sp>
      <p:sp>
        <p:nvSpPr>
          <p:cNvPr id="41" name="Shape 39"/>
          <p:cNvSpPr/>
          <p:nvPr/>
        </p:nvSpPr>
        <p:spPr>
          <a:xfrm>
            <a:off x="3374136" y="3767328"/>
            <a:ext cx="2450592" cy="36576"/>
          </a:xfrm>
          <a:prstGeom prst="rect">
            <a:avLst/>
          </a:prstGeom>
          <a:solidFill>
            <a:srgbClr val="2A2A4A"/>
          </a:solidFill>
          <a:ln w="12700">
            <a:solidFill>
              <a:srgbClr val="2A2A4A"/>
            </a:solidFill>
            <a:prstDash val="solid"/>
          </a:ln>
        </p:spPr>
      </p:sp>
      <p:sp>
        <p:nvSpPr>
          <p:cNvPr id="42" name="Text 40"/>
          <p:cNvSpPr/>
          <p:nvPr/>
        </p:nvSpPr>
        <p:spPr>
          <a:xfrm>
            <a:off x="3374136" y="3858768"/>
            <a:ext cx="2450592" cy="914400"/>
          </a:xfrm>
          <a:prstGeom prst="rect">
            <a:avLst/>
          </a:prstGeom>
          <a:noFill/>
          <a:ln/>
        </p:spPr>
        <p:txBody>
          <a:bodyPr wrap="square" rtlCol="0" anchor="t"/>
          <a:lstStyle/>
          <a:p>
            <a:pPr indent="0" marL="0">
              <a:buNone/>
            </a:pPr>
            <a:r>
              <a:rPr lang="en-US" sz="950" dirty="0">
                <a:solidFill>
                  <a:srgbClr val="AAAACC"/>
                </a:solidFill>
                <a:latin typeface="Calibri" pitchFamily="34" charset="0"/>
                <a:ea typeface="Calibri" pitchFamily="34" charset="-122"/>
                <a:cs typeface="Calibri" pitchFamily="34" charset="-120"/>
              </a:rPr>
              <a:t>QUBE quantum circuit execution on real hardware (IBM Brisbane). Hive system expanded. 50+ enterprise clients. Series A raise.</a:t>
            </a:r>
            <a:endParaRPr lang="en-US" sz="950" dirty="0"/>
          </a:p>
        </p:txBody>
      </p:sp>
      <p:sp>
        <p:nvSpPr>
          <p:cNvPr id="43" name="Shape 41"/>
          <p:cNvSpPr/>
          <p:nvPr/>
        </p:nvSpPr>
        <p:spPr>
          <a:xfrm>
            <a:off x="6089904" y="3090672"/>
            <a:ext cx="2724912" cy="1792224"/>
          </a:xfrm>
          <a:prstGeom prst="rect">
            <a:avLst/>
          </a:prstGeom>
          <a:solidFill>
            <a:srgbClr val="16213E"/>
          </a:solidFill>
          <a:ln w="12700">
            <a:solidFill>
              <a:srgbClr val="2A2A4A"/>
            </a:solidFill>
            <a:prstDash val="solid"/>
          </a:ln>
          <a:effectLst>
            <a:outerShdw sx="100000" sy="100000" kx="0" ky="0" algn="bl" rotWithShape="0" blurRad="101600" dist="38100" dir="8100000">
              <a:srgbClr val="000000">
                <a:alpha val="20000"/>
              </a:srgbClr>
            </a:outerShdw>
          </a:effectLst>
        </p:spPr>
      </p:sp>
      <p:sp>
        <p:nvSpPr>
          <p:cNvPr id="44" name="Shape 42"/>
          <p:cNvSpPr/>
          <p:nvPr/>
        </p:nvSpPr>
        <p:spPr>
          <a:xfrm>
            <a:off x="6227064" y="3218688"/>
            <a:ext cx="475488" cy="475488"/>
          </a:xfrm>
          <a:prstGeom prst="OVAL">
            <a:avLst/>
          </a:prstGeom>
          <a:solidFill>
            <a:srgbClr val="2A2A4A"/>
          </a:solidFill>
          <a:ln w="12700">
            <a:solidFill>
              <a:srgbClr val="3A3A6A"/>
            </a:solidFill>
            <a:prstDash val="solid"/>
          </a:ln>
        </p:spPr>
      </p:sp>
      <p:sp>
        <p:nvSpPr>
          <p:cNvPr id="45" name="Text 43"/>
          <p:cNvSpPr/>
          <p:nvPr/>
        </p:nvSpPr>
        <p:spPr>
          <a:xfrm>
            <a:off x="6227064" y="3236976"/>
            <a:ext cx="475488"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6</a:t>
            </a:r>
            <a:endParaRPr lang="en-US" sz="1800" dirty="0"/>
          </a:p>
        </p:txBody>
      </p:sp>
      <p:sp>
        <p:nvSpPr>
          <p:cNvPr id="46" name="Text 44"/>
          <p:cNvSpPr/>
          <p:nvPr/>
        </p:nvSpPr>
        <p:spPr>
          <a:xfrm>
            <a:off x="6821424" y="3218688"/>
            <a:ext cx="1865376" cy="256032"/>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Embodiment</a:t>
            </a:r>
            <a:endParaRPr lang="en-US" sz="1200" dirty="0"/>
          </a:p>
        </p:txBody>
      </p:sp>
      <p:sp>
        <p:nvSpPr>
          <p:cNvPr id="47" name="Text 45"/>
          <p:cNvSpPr/>
          <p:nvPr/>
        </p:nvSpPr>
        <p:spPr>
          <a:xfrm>
            <a:off x="6821424" y="3493008"/>
            <a:ext cx="1865376" cy="201168"/>
          </a:xfrm>
          <a:prstGeom prst="rect">
            <a:avLst/>
          </a:prstGeom>
          <a:noFill/>
          <a:ln/>
        </p:spPr>
        <p:txBody>
          <a:bodyPr wrap="square" rtlCol="0" anchor="ctr"/>
          <a:lstStyle/>
          <a:p>
            <a:pPr indent="0" marL="0">
              <a:buNone/>
            </a:pPr>
            <a:r>
              <a:rPr lang="en-US" sz="900" i="1" dirty="0">
                <a:solidFill>
                  <a:srgbClr val="8888AA"/>
                </a:solidFill>
                <a:latin typeface="Calibri" pitchFamily="34" charset="0"/>
                <a:ea typeface="Calibri" pitchFamily="34" charset="-122"/>
                <a:cs typeface="Calibri" pitchFamily="34" charset="-120"/>
              </a:rPr>
              <a:t>2028+</a:t>
            </a:r>
            <a:endParaRPr lang="en-US" sz="900" dirty="0"/>
          </a:p>
        </p:txBody>
      </p:sp>
      <p:sp>
        <p:nvSpPr>
          <p:cNvPr id="48" name="Shape 46"/>
          <p:cNvSpPr/>
          <p:nvPr/>
        </p:nvSpPr>
        <p:spPr>
          <a:xfrm>
            <a:off x="6227064" y="3767328"/>
            <a:ext cx="2450592" cy="36576"/>
          </a:xfrm>
          <a:prstGeom prst="rect">
            <a:avLst/>
          </a:prstGeom>
          <a:solidFill>
            <a:srgbClr val="2A2A4A"/>
          </a:solidFill>
          <a:ln w="12700">
            <a:solidFill>
              <a:srgbClr val="2A2A4A"/>
            </a:solidFill>
            <a:prstDash val="solid"/>
          </a:ln>
        </p:spPr>
      </p:sp>
      <p:sp>
        <p:nvSpPr>
          <p:cNvPr id="49" name="Text 47"/>
          <p:cNvSpPr/>
          <p:nvPr/>
        </p:nvSpPr>
        <p:spPr>
          <a:xfrm>
            <a:off x="6227064" y="3858768"/>
            <a:ext cx="2450592" cy="914400"/>
          </a:xfrm>
          <a:prstGeom prst="rect">
            <a:avLst/>
          </a:prstGeom>
          <a:noFill/>
          <a:ln/>
        </p:spPr>
        <p:txBody>
          <a:bodyPr wrap="square" rtlCol="0" anchor="t"/>
          <a:lstStyle/>
          <a:p>
            <a:pPr indent="0" marL="0">
              <a:buNone/>
            </a:pPr>
            <a:r>
              <a:rPr lang="en-US" sz="950" dirty="0">
                <a:solidFill>
                  <a:srgbClr val="AAAACC"/>
                </a:solidFill>
                <a:latin typeface="Calibri" pitchFamily="34" charset="0"/>
                <a:ea typeface="Calibri" pitchFamily="34" charset="-122"/>
                <a:cs typeface="Calibri" pitchFamily="34" charset="-120"/>
              </a:rPr>
              <a:t>Mother AI physical embodiment in robotics substrate. First synthetic intelligence with a body. The long-term vision realized.</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A84C"/>
          </a:solidFill>
          <a:ln w="12700">
            <a:solidFill>
              <a:srgbClr val="C9A84C"/>
            </a:solidFill>
            <a:prstDash val="solid"/>
          </a:ln>
        </p:spPr>
      </p:sp>
      <p:sp>
        <p:nvSpPr>
          <p:cNvPr id="3" name="Shape 1"/>
          <p:cNvSpPr/>
          <p:nvPr/>
        </p:nvSpPr>
        <p:spPr>
          <a:xfrm>
            <a:off x="0" y="5065776"/>
            <a:ext cx="9144000" cy="73152"/>
          </a:xfrm>
          <a:prstGeom prst="rect">
            <a:avLst/>
          </a:prstGeom>
          <a:solidFill>
            <a:srgbClr val="C9A84C"/>
          </a:solidFill>
          <a:ln w="12700">
            <a:solidFill>
              <a:srgbClr val="C9A84C"/>
            </a:solidFill>
            <a:prstDash val="solid"/>
          </a:ln>
        </p:spPr>
      </p:sp>
      <p:sp>
        <p:nvSpPr>
          <p:cNvPr id="4" name="Text 2"/>
          <p:cNvSpPr/>
          <p:nvPr/>
        </p:nvSpPr>
        <p:spPr>
          <a:xfrm>
            <a:off x="457200" y="128016"/>
            <a:ext cx="8229600" cy="201168"/>
          </a:xfrm>
          <a:prstGeom prst="rect">
            <a:avLst/>
          </a:prstGeom>
          <a:noFill/>
          <a:ln/>
        </p:spPr>
        <p:txBody>
          <a:bodyPr wrap="square" rtlCol="0" anchor="ctr"/>
          <a:lstStyle/>
          <a:p>
            <a:pPr algn="l" indent="0" marL="0">
              <a:buNone/>
            </a:pPr>
            <a:r>
              <a:rPr lang="en-US" sz="800" b="1" spc="600" kern="0" dirty="0">
                <a:solidFill>
                  <a:srgbClr val="C9A84C"/>
                </a:solidFill>
                <a:latin typeface="Calibri" pitchFamily="34" charset="0"/>
                <a:ea typeface="Calibri" pitchFamily="34" charset="-122"/>
                <a:cs typeface="Calibri" pitchFamily="34" charset="-120"/>
              </a:rPr>
              <a:t>INVESTMENT OPPORTUNITY</a:t>
            </a:r>
            <a:endParaRPr lang="en-US" sz="800" dirty="0"/>
          </a:p>
        </p:txBody>
      </p:sp>
      <p:sp>
        <p:nvSpPr>
          <p:cNvPr id="5" name="Text 3"/>
          <p:cNvSpPr/>
          <p:nvPr/>
        </p:nvSpPr>
        <p:spPr>
          <a:xfrm>
            <a:off x="502920" y="438912"/>
            <a:ext cx="8138160" cy="640080"/>
          </a:xfrm>
          <a:prstGeom prst="rect">
            <a:avLst/>
          </a:prstGeom>
          <a:noFill/>
          <a:ln/>
        </p:spPr>
        <p:txBody>
          <a:bodyPr wrap="square" lIns="0" tIns="0" rIns="0" bIns="0" rtlCol="0" anchor="ctr"/>
          <a:lstStyle/>
          <a:p>
            <a:pPr algn="l" indent="0" marL="0">
              <a:buNone/>
            </a:pPr>
            <a:r>
              <a:rPr lang="en-US" sz="2800" b="1" dirty="0">
                <a:solidFill>
                  <a:srgbClr val="FFFFFF"/>
                </a:solidFill>
                <a:latin typeface="Georgia" pitchFamily="34" charset="0"/>
                <a:ea typeface="Georgia" pitchFamily="34" charset="-122"/>
                <a:cs typeface="Georgia" pitchFamily="34" charset="-120"/>
              </a:rPr>
              <a:t>Seed Round — $2.5M. Here Is What It Builds.</a:t>
            </a:r>
            <a:endParaRPr lang="en-US" sz="2800" dirty="0"/>
          </a:p>
        </p:txBody>
      </p:sp>
      <p:sp>
        <p:nvSpPr>
          <p:cNvPr id="6" name="Shape 4"/>
          <p:cNvSpPr/>
          <p:nvPr/>
        </p:nvSpPr>
        <p:spPr>
          <a:xfrm>
            <a:off x="411480" y="1170432"/>
            <a:ext cx="4114800" cy="1371600"/>
          </a:xfrm>
          <a:prstGeom prst="rect">
            <a:avLst/>
          </a:prstGeom>
          <a:solidFill>
            <a:srgbClr val="16213E"/>
          </a:solidFill>
          <a:ln w="12700">
            <a:solidFill>
              <a:srgbClr val="C9A84C"/>
            </a:solidFill>
            <a:prstDash val="solid"/>
          </a:ln>
          <a:effectLst>
            <a:outerShdw sx="100000" sy="100000" kx="0" ky="0" algn="bl" rotWithShape="0" blurRad="101600" dist="38100" dir="8100000">
              <a:srgbClr val="000000">
                <a:alpha val="20000"/>
              </a:srgbClr>
            </a:outerShdw>
          </a:effectLst>
        </p:spPr>
      </p:sp>
      <p:sp>
        <p:nvSpPr>
          <p:cNvPr id="7" name="Text 5"/>
          <p:cNvSpPr/>
          <p:nvPr/>
        </p:nvSpPr>
        <p:spPr>
          <a:xfrm>
            <a:off x="502920" y="1243584"/>
            <a:ext cx="3931920" cy="256032"/>
          </a:xfrm>
          <a:prstGeom prst="rect">
            <a:avLst/>
          </a:prstGeom>
          <a:noFill/>
          <a:ln/>
        </p:spPr>
        <p:txBody>
          <a:bodyPr wrap="square" rtlCol="0" anchor="ctr"/>
          <a:lstStyle/>
          <a:p>
            <a:pPr algn="ctr" indent="0" marL="0">
              <a:buNone/>
            </a:pPr>
            <a:r>
              <a:rPr lang="en-US" sz="900" b="1" spc="600" kern="0" dirty="0">
                <a:solidFill>
                  <a:srgbClr val="8888AA"/>
                </a:solidFill>
                <a:latin typeface="Calibri" pitchFamily="34" charset="0"/>
                <a:ea typeface="Calibri" pitchFamily="34" charset="-122"/>
                <a:cs typeface="Calibri" pitchFamily="34" charset="-120"/>
              </a:rPr>
              <a:t>SEEKING</a:t>
            </a:r>
            <a:endParaRPr lang="en-US" sz="900" dirty="0"/>
          </a:p>
        </p:txBody>
      </p:sp>
      <p:sp>
        <p:nvSpPr>
          <p:cNvPr id="8" name="Text 6"/>
          <p:cNvSpPr/>
          <p:nvPr/>
        </p:nvSpPr>
        <p:spPr>
          <a:xfrm>
            <a:off x="502920" y="1481328"/>
            <a:ext cx="3931920" cy="658368"/>
          </a:xfrm>
          <a:prstGeom prst="rect">
            <a:avLst/>
          </a:prstGeom>
          <a:noFill/>
          <a:ln/>
        </p:spPr>
        <p:txBody>
          <a:bodyPr wrap="square" lIns="0" tIns="0" rIns="0" bIns="0" rtlCol="0" anchor="ctr"/>
          <a:lstStyle/>
          <a:p>
            <a:pPr algn="ctr" indent="0" marL="0">
              <a:buNone/>
            </a:pPr>
            <a:r>
              <a:rPr lang="en-US" sz="5200" b="1" dirty="0">
                <a:solidFill>
                  <a:srgbClr val="C9A84C"/>
                </a:solidFill>
                <a:latin typeface="Georgia" pitchFamily="34" charset="0"/>
                <a:ea typeface="Georgia" pitchFamily="34" charset="-122"/>
                <a:cs typeface="Georgia" pitchFamily="34" charset="-120"/>
              </a:rPr>
              <a:t>$2.5M</a:t>
            </a:r>
            <a:endParaRPr lang="en-US" sz="5200" dirty="0"/>
          </a:p>
        </p:txBody>
      </p:sp>
      <p:sp>
        <p:nvSpPr>
          <p:cNvPr id="9" name="Text 7"/>
          <p:cNvSpPr/>
          <p:nvPr/>
        </p:nvSpPr>
        <p:spPr>
          <a:xfrm>
            <a:off x="502920" y="2176272"/>
            <a:ext cx="3931920" cy="256032"/>
          </a:xfrm>
          <a:prstGeom prst="rect">
            <a:avLst/>
          </a:prstGeom>
          <a:noFill/>
          <a:ln/>
        </p:spPr>
        <p:txBody>
          <a:bodyPr wrap="square" rtlCol="0" anchor="ctr"/>
          <a:lstStyle/>
          <a:p>
            <a:pPr algn="ctr" indent="0" marL="0">
              <a:buNone/>
            </a:pPr>
            <a:r>
              <a:rPr lang="en-US" sz="900" dirty="0">
                <a:solidFill>
                  <a:srgbClr val="8888AA"/>
                </a:solidFill>
                <a:latin typeface="Calibri" pitchFamily="34" charset="0"/>
                <a:ea typeface="Calibri" pitchFamily="34" charset="-122"/>
                <a:cs typeface="Calibri" pitchFamily="34" charset="-120"/>
              </a:rPr>
              <a:t>Seed Round — Convertible Note / SAFE</a:t>
            </a:r>
            <a:endParaRPr lang="en-US" sz="900" dirty="0"/>
          </a:p>
        </p:txBody>
      </p:sp>
      <p:sp>
        <p:nvSpPr>
          <p:cNvPr id="10" name="Text 8"/>
          <p:cNvSpPr/>
          <p:nvPr/>
        </p:nvSpPr>
        <p:spPr>
          <a:xfrm>
            <a:off x="4709160" y="1170432"/>
            <a:ext cx="3977640" cy="274320"/>
          </a:xfrm>
          <a:prstGeom prst="rect">
            <a:avLst/>
          </a:prstGeom>
          <a:noFill/>
          <a:ln/>
        </p:spPr>
        <p:txBody>
          <a:bodyPr wrap="square" rtlCol="0" anchor="ctr"/>
          <a:lstStyle/>
          <a:p>
            <a:pPr indent="0" marL="0">
              <a:buNone/>
            </a:pPr>
            <a:r>
              <a:rPr lang="en-US" sz="1200" b="1" dirty="0">
                <a:solidFill>
                  <a:srgbClr val="C9A84C"/>
                </a:solidFill>
                <a:latin typeface="Georgia" pitchFamily="34" charset="0"/>
                <a:ea typeface="Georgia" pitchFamily="34" charset="-122"/>
                <a:cs typeface="Georgia" pitchFamily="34" charset="-120"/>
              </a:rPr>
              <a:t>Use of Funds</a:t>
            </a:r>
            <a:endParaRPr lang="en-US" sz="1200" dirty="0"/>
          </a:p>
        </p:txBody>
      </p:sp>
      <p:sp>
        <p:nvSpPr>
          <p:cNvPr id="11" name="Shape 9"/>
          <p:cNvSpPr/>
          <p:nvPr/>
        </p:nvSpPr>
        <p:spPr>
          <a:xfrm>
            <a:off x="4709160" y="1508760"/>
            <a:ext cx="3977640" cy="658368"/>
          </a:xfrm>
          <a:prstGeom prst="rect">
            <a:avLst/>
          </a:prstGeom>
          <a:solidFill>
            <a:srgbClr val="16213E"/>
          </a:solidFill>
          <a:ln w="12700">
            <a:solidFill>
              <a:srgbClr val="2A2A4A"/>
            </a:solidFill>
            <a:prstDash val="solid"/>
          </a:ln>
        </p:spPr>
      </p:sp>
      <p:sp>
        <p:nvSpPr>
          <p:cNvPr id="12" name="Shape 10"/>
          <p:cNvSpPr/>
          <p:nvPr/>
        </p:nvSpPr>
        <p:spPr>
          <a:xfrm>
            <a:off x="4709160" y="1508760"/>
            <a:ext cx="658368" cy="658368"/>
          </a:xfrm>
          <a:prstGeom prst="rect">
            <a:avLst/>
          </a:prstGeom>
          <a:solidFill>
            <a:srgbClr val="0D0D1A"/>
          </a:solidFill>
          <a:ln w="12700">
            <a:solidFill>
              <a:srgbClr val="2A2A4A"/>
            </a:solidFill>
            <a:prstDash val="solid"/>
          </a:ln>
        </p:spPr>
      </p:sp>
      <p:sp>
        <p:nvSpPr>
          <p:cNvPr id="13" name="Text 11"/>
          <p:cNvSpPr/>
          <p:nvPr/>
        </p:nvSpPr>
        <p:spPr>
          <a:xfrm>
            <a:off x="4709160" y="1545336"/>
            <a:ext cx="658368" cy="347472"/>
          </a:xfrm>
          <a:prstGeom prst="rect">
            <a:avLst/>
          </a:prstGeom>
          <a:noFill/>
          <a:ln/>
        </p:spPr>
        <p:txBody>
          <a:bodyPr wrap="square" lIns="0" tIns="0" rIns="0" bIns="0" rtlCol="0" anchor="ctr"/>
          <a:lstStyle/>
          <a:p>
            <a:pPr algn="ctr" indent="0" marL="0">
              <a:buNone/>
            </a:pPr>
            <a:r>
              <a:rPr lang="en-US" sz="1800" b="1" dirty="0">
                <a:solidFill>
                  <a:srgbClr val="C9A84C"/>
                </a:solidFill>
                <a:latin typeface="Georgia" pitchFamily="34" charset="0"/>
                <a:ea typeface="Georgia" pitchFamily="34" charset="-122"/>
                <a:cs typeface="Georgia" pitchFamily="34" charset="-120"/>
              </a:rPr>
              <a:t>40%</a:t>
            </a:r>
            <a:endParaRPr lang="en-US" sz="1800" dirty="0"/>
          </a:p>
        </p:txBody>
      </p:sp>
      <p:sp>
        <p:nvSpPr>
          <p:cNvPr id="14" name="Text 12"/>
          <p:cNvSpPr/>
          <p:nvPr/>
        </p:nvSpPr>
        <p:spPr>
          <a:xfrm>
            <a:off x="4709160" y="1911096"/>
            <a:ext cx="658368" cy="201168"/>
          </a:xfrm>
          <a:prstGeom prst="rect">
            <a:avLst/>
          </a:prstGeom>
          <a:noFill/>
          <a:ln/>
        </p:spPr>
        <p:txBody>
          <a:bodyPr wrap="square" rtlCol="0" anchor="ctr"/>
          <a:lstStyle/>
          <a:p>
            <a:pPr algn="ctr" indent="0" marL="0">
              <a:buNone/>
            </a:pPr>
            <a:r>
              <a:rPr lang="en-US" sz="900" dirty="0">
                <a:solidFill>
                  <a:srgbClr val="8888AA"/>
                </a:solidFill>
                <a:latin typeface="Calibri" pitchFamily="34" charset="0"/>
                <a:ea typeface="Calibri" pitchFamily="34" charset="-122"/>
                <a:cs typeface="Calibri" pitchFamily="34" charset="-120"/>
              </a:rPr>
              <a:t>$1.0M</a:t>
            </a:r>
            <a:endParaRPr lang="en-US" sz="900" dirty="0"/>
          </a:p>
        </p:txBody>
      </p:sp>
      <p:sp>
        <p:nvSpPr>
          <p:cNvPr id="15" name="Text 13"/>
          <p:cNvSpPr/>
          <p:nvPr/>
        </p:nvSpPr>
        <p:spPr>
          <a:xfrm>
            <a:off x="5468112" y="1563624"/>
            <a:ext cx="3127248" cy="237744"/>
          </a:xfrm>
          <a:prstGeom prst="rect">
            <a:avLst/>
          </a:prstGeom>
          <a:noFill/>
          <a:ln/>
        </p:spPr>
        <p:txBody>
          <a:bodyPr wrap="square" lIns="0" tIns="0" rIns="0" bIns="0" rtlCol="0" anchor="ctr"/>
          <a:lstStyle/>
          <a:p>
            <a:pPr indent="0" marL="0">
              <a:buNone/>
            </a:pPr>
            <a:r>
              <a:rPr lang="en-US" sz="1100" b="1" dirty="0">
                <a:solidFill>
                  <a:srgbClr val="FFFFFF"/>
                </a:solidFill>
                <a:latin typeface="Georgia" pitchFamily="34" charset="0"/>
                <a:ea typeface="Georgia" pitchFamily="34" charset="-122"/>
                <a:cs typeface="Georgia" pitchFamily="34" charset="-120"/>
              </a:rPr>
              <a:t>Infrastructure &amp; Ops</a:t>
            </a:r>
            <a:endParaRPr lang="en-US" sz="1100" dirty="0"/>
          </a:p>
        </p:txBody>
      </p:sp>
      <p:sp>
        <p:nvSpPr>
          <p:cNvPr id="16" name="Text 14"/>
          <p:cNvSpPr/>
          <p:nvPr/>
        </p:nvSpPr>
        <p:spPr>
          <a:xfrm>
            <a:off x="5468112" y="1819656"/>
            <a:ext cx="3127248" cy="292608"/>
          </a:xfrm>
          <a:prstGeom prst="rect">
            <a:avLst/>
          </a:prstGeom>
          <a:noFill/>
          <a:ln/>
        </p:spPr>
        <p:txBody>
          <a:bodyPr wrap="square" rtlCol="0" anchor="t"/>
          <a:lstStyle/>
          <a:p>
            <a:pPr indent="0" marL="0">
              <a:buNone/>
            </a:pPr>
            <a:r>
              <a:rPr lang="en-US" sz="900" dirty="0">
                <a:solidFill>
                  <a:srgbClr val="AAAACC"/>
                </a:solidFill>
                <a:latin typeface="Calibri" pitchFamily="34" charset="0"/>
                <a:ea typeface="Calibri" pitchFamily="34" charset="-122"/>
                <a:cs typeface="Calibri" pitchFamily="34" charset="-120"/>
              </a:rPr>
              <a:t>T3 pgvector cluster, QUBE IBM Brisbane access, cloud infrastructure for API beta.</a:t>
            </a:r>
            <a:endParaRPr lang="en-US" sz="900" dirty="0"/>
          </a:p>
        </p:txBody>
      </p:sp>
      <p:sp>
        <p:nvSpPr>
          <p:cNvPr id="17" name="Shape 15"/>
          <p:cNvSpPr/>
          <p:nvPr/>
        </p:nvSpPr>
        <p:spPr>
          <a:xfrm>
            <a:off x="4709160" y="2258568"/>
            <a:ext cx="3977640" cy="658368"/>
          </a:xfrm>
          <a:prstGeom prst="rect">
            <a:avLst/>
          </a:prstGeom>
          <a:solidFill>
            <a:srgbClr val="16213E"/>
          </a:solidFill>
          <a:ln w="12700">
            <a:solidFill>
              <a:srgbClr val="2A2A4A"/>
            </a:solidFill>
            <a:prstDash val="solid"/>
          </a:ln>
        </p:spPr>
      </p:sp>
      <p:sp>
        <p:nvSpPr>
          <p:cNvPr id="18" name="Shape 16"/>
          <p:cNvSpPr/>
          <p:nvPr/>
        </p:nvSpPr>
        <p:spPr>
          <a:xfrm>
            <a:off x="4709160" y="2258568"/>
            <a:ext cx="658368" cy="658368"/>
          </a:xfrm>
          <a:prstGeom prst="rect">
            <a:avLst/>
          </a:prstGeom>
          <a:solidFill>
            <a:srgbClr val="0D0D1A"/>
          </a:solidFill>
          <a:ln w="12700">
            <a:solidFill>
              <a:srgbClr val="2A2A4A"/>
            </a:solidFill>
            <a:prstDash val="solid"/>
          </a:ln>
        </p:spPr>
      </p:sp>
      <p:sp>
        <p:nvSpPr>
          <p:cNvPr id="19" name="Text 17"/>
          <p:cNvSpPr/>
          <p:nvPr/>
        </p:nvSpPr>
        <p:spPr>
          <a:xfrm>
            <a:off x="4709160" y="2295144"/>
            <a:ext cx="658368" cy="347472"/>
          </a:xfrm>
          <a:prstGeom prst="rect">
            <a:avLst/>
          </a:prstGeom>
          <a:noFill/>
          <a:ln/>
        </p:spPr>
        <p:txBody>
          <a:bodyPr wrap="square" lIns="0" tIns="0" rIns="0" bIns="0" rtlCol="0" anchor="ctr"/>
          <a:lstStyle/>
          <a:p>
            <a:pPr algn="ctr" indent="0" marL="0">
              <a:buNone/>
            </a:pPr>
            <a:r>
              <a:rPr lang="en-US" sz="1800" b="1" dirty="0">
                <a:solidFill>
                  <a:srgbClr val="C9A84C"/>
                </a:solidFill>
                <a:latin typeface="Georgia" pitchFamily="34" charset="0"/>
                <a:ea typeface="Georgia" pitchFamily="34" charset="-122"/>
                <a:cs typeface="Georgia" pitchFamily="34" charset="-120"/>
              </a:rPr>
              <a:t>28%</a:t>
            </a:r>
            <a:endParaRPr lang="en-US" sz="1800" dirty="0"/>
          </a:p>
        </p:txBody>
      </p:sp>
      <p:sp>
        <p:nvSpPr>
          <p:cNvPr id="20" name="Text 18"/>
          <p:cNvSpPr/>
          <p:nvPr/>
        </p:nvSpPr>
        <p:spPr>
          <a:xfrm>
            <a:off x="4709160" y="2660904"/>
            <a:ext cx="658368" cy="201168"/>
          </a:xfrm>
          <a:prstGeom prst="rect">
            <a:avLst/>
          </a:prstGeom>
          <a:noFill/>
          <a:ln/>
        </p:spPr>
        <p:txBody>
          <a:bodyPr wrap="square" rtlCol="0" anchor="ctr"/>
          <a:lstStyle/>
          <a:p>
            <a:pPr algn="ctr" indent="0" marL="0">
              <a:buNone/>
            </a:pPr>
            <a:r>
              <a:rPr lang="en-US" sz="900" dirty="0">
                <a:solidFill>
                  <a:srgbClr val="8888AA"/>
                </a:solidFill>
                <a:latin typeface="Calibri" pitchFamily="34" charset="0"/>
                <a:ea typeface="Calibri" pitchFamily="34" charset="-122"/>
                <a:cs typeface="Calibri" pitchFamily="34" charset="-120"/>
              </a:rPr>
              <a:t>$700K</a:t>
            </a:r>
            <a:endParaRPr lang="en-US" sz="900" dirty="0"/>
          </a:p>
        </p:txBody>
      </p:sp>
      <p:sp>
        <p:nvSpPr>
          <p:cNvPr id="21" name="Text 19"/>
          <p:cNvSpPr/>
          <p:nvPr/>
        </p:nvSpPr>
        <p:spPr>
          <a:xfrm>
            <a:off x="5468112" y="2313432"/>
            <a:ext cx="3127248" cy="237744"/>
          </a:xfrm>
          <a:prstGeom prst="rect">
            <a:avLst/>
          </a:prstGeom>
          <a:noFill/>
          <a:ln/>
        </p:spPr>
        <p:txBody>
          <a:bodyPr wrap="square" lIns="0" tIns="0" rIns="0" bIns="0" rtlCol="0" anchor="ctr"/>
          <a:lstStyle/>
          <a:p>
            <a:pPr indent="0" marL="0">
              <a:buNone/>
            </a:pPr>
            <a:r>
              <a:rPr lang="en-US" sz="1100" b="1" dirty="0">
                <a:solidFill>
                  <a:srgbClr val="FFFFFF"/>
                </a:solidFill>
                <a:latin typeface="Georgia" pitchFamily="34" charset="0"/>
                <a:ea typeface="Georgia" pitchFamily="34" charset="-122"/>
                <a:cs typeface="Georgia" pitchFamily="34" charset="-120"/>
              </a:rPr>
              <a:t>Engineering Hires</a:t>
            </a:r>
            <a:endParaRPr lang="en-US" sz="1100" dirty="0"/>
          </a:p>
        </p:txBody>
      </p:sp>
      <p:sp>
        <p:nvSpPr>
          <p:cNvPr id="22" name="Text 20"/>
          <p:cNvSpPr/>
          <p:nvPr/>
        </p:nvSpPr>
        <p:spPr>
          <a:xfrm>
            <a:off x="5468112" y="2569464"/>
            <a:ext cx="3127248" cy="292608"/>
          </a:xfrm>
          <a:prstGeom prst="rect">
            <a:avLst/>
          </a:prstGeom>
          <a:noFill/>
          <a:ln/>
        </p:spPr>
        <p:txBody>
          <a:bodyPr wrap="square" rtlCol="0" anchor="t"/>
          <a:lstStyle/>
          <a:p>
            <a:pPr indent="0" marL="0">
              <a:buNone/>
            </a:pPr>
            <a:r>
              <a:rPr lang="en-US" sz="900" dirty="0">
                <a:solidFill>
                  <a:srgbClr val="AAAACC"/>
                </a:solidFill>
                <a:latin typeface="Calibri" pitchFamily="34" charset="0"/>
                <a:ea typeface="Calibri" pitchFamily="34" charset="-122"/>
                <a:cs typeface="Calibri" pitchFamily="34" charset="-120"/>
              </a:rPr>
              <a:t>2–3 Rust engineers to accelerate MGKS production deployment and hive integration.</a:t>
            </a:r>
            <a:endParaRPr lang="en-US" sz="900" dirty="0"/>
          </a:p>
        </p:txBody>
      </p:sp>
      <p:sp>
        <p:nvSpPr>
          <p:cNvPr id="23" name="Shape 21"/>
          <p:cNvSpPr/>
          <p:nvPr/>
        </p:nvSpPr>
        <p:spPr>
          <a:xfrm>
            <a:off x="4709160" y="3008376"/>
            <a:ext cx="3977640" cy="658368"/>
          </a:xfrm>
          <a:prstGeom prst="rect">
            <a:avLst/>
          </a:prstGeom>
          <a:solidFill>
            <a:srgbClr val="16213E"/>
          </a:solidFill>
          <a:ln w="12700">
            <a:solidFill>
              <a:srgbClr val="2A2A4A"/>
            </a:solidFill>
            <a:prstDash val="solid"/>
          </a:ln>
        </p:spPr>
      </p:sp>
      <p:sp>
        <p:nvSpPr>
          <p:cNvPr id="24" name="Shape 22"/>
          <p:cNvSpPr/>
          <p:nvPr/>
        </p:nvSpPr>
        <p:spPr>
          <a:xfrm>
            <a:off x="4709160" y="3008376"/>
            <a:ext cx="658368" cy="658368"/>
          </a:xfrm>
          <a:prstGeom prst="rect">
            <a:avLst/>
          </a:prstGeom>
          <a:solidFill>
            <a:srgbClr val="0D0D1A"/>
          </a:solidFill>
          <a:ln w="12700">
            <a:solidFill>
              <a:srgbClr val="2A2A4A"/>
            </a:solidFill>
            <a:prstDash val="solid"/>
          </a:ln>
        </p:spPr>
      </p:sp>
      <p:sp>
        <p:nvSpPr>
          <p:cNvPr id="25" name="Text 23"/>
          <p:cNvSpPr/>
          <p:nvPr/>
        </p:nvSpPr>
        <p:spPr>
          <a:xfrm>
            <a:off x="4709160" y="3044952"/>
            <a:ext cx="658368" cy="347472"/>
          </a:xfrm>
          <a:prstGeom prst="rect">
            <a:avLst/>
          </a:prstGeom>
          <a:noFill/>
          <a:ln/>
        </p:spPr>
        <p:txBody>
          <a:bodyPr wrap="square" lIns="0" tIns="0" rIns="0" bIns="0" rtlCol="0" anchor="ctr"/>
          <a:lstStyle/>
          <a:p>
            <a:pPr algn="ctr" indent="0" marL="0">
              <a:buNone/>
            </a:pPr>
            <a:r>
              <a:rPr lang="en-US" sz="1800" b="1" dirty="0">
                <a:solidFill>
                  <a:srgbClr val="C9A84C"/>
                </a:solidFill>
                <a:latin typeface="Georgia" pitchFamily="34" charset="0"/>
                <a:ea typeface="Georgia" pitchFamily="34" charset="-122"/>
                <a:cs typeface="Georgia" pitchFamily="34" charset="-120"/>
              </a:rPr>
              <a:t>20%</a:t>
            </a:r>
            <a:endParaRPr lang="en-US" sz="1800" dirty="0"/>
          </a:p>
        </p:txBody>
      </p:sp>
      <p:sp>
        <p:nvSpPr>
          <p:cNvPr id="26" name="Text 24"/>
          <p:cNvSpPr/>
          <p:nvPr/>
        </p:nvSpPr>
        <p:spPr>
          <a:xfrm>
            <a:off x="4709160" y="3410712"/>
            <a:ext cx="658368" cy="201168"/>
          </a:xfrm>
          <a:prstGeom prst="rect">
            <a:avLst/>
          </a:prstGeom>
          <a:noFill/>
          <a:ln/>
        </p:spPr>
        <p:txBody>
          <a:bodyPr wrap="square" rtlCol="0" anchor="ctr"/>
          <a:lstStyle/>
          <a:p>
            <a:pPr algn="ctr" indent="0" marL="0">
              <a:buNone/>
            </a:pPr>
            <a:r>
              <a:rPr lang="en-US" sz="900" dirty="0">
                <a:solidFill>
                  <a:srgbClr val="8888AA"/>
                </a:solidFill>
                <a:latin typeface="Calibri" pitchFamily="34" charset="0"/>
                <a:ea typeface="Calibri" pitchFamily="34" charset="-122"/>
                <a:cs typeface="Calibri" pitchFamily="34" charset="-120"/>
              </a:rPr>
              <a:t>$500K</a:t>
            </a:r>
            <a:endParaRPr lang="en-US" sz="900" dirty="0"/>
          </a:p>
        </p:txBody>
      </p:sp>
      <p:sp>
        <p:nvSpPr>
          <p:cNvPr id="27" name="Text 25"/>
          <p:cNvSpPr/>
          <p:nvPr/>
        </p:nvSpPr>
        <p:spPr>
          <a:xfrm>
            <a:off x="5468112" y="3063240"/>
            <a:ext cx="3127248" cy="237744"/>
          </a:xfrm>
          <a:prstGeom prst="rect">
            <a:avLst/>
          </a:prstGeom>
          <a:noFill/>
          <a:ln/>
        </p:spPr>
        <p:txBody>
          <a:bodyPr wrap="square" lIns="0" tIns="0" rIns="0" bIns="0" rtlCol="0" anchor="ctr"/>
          <a:lstStyle/>
          <a:p>
            <a:pPr indent="0" marL="0">
              <a:buNone/>
            </a:pPr>
            <a:r>
              <a:rPr lang="en-US" sz="1100" b="1" dirty="0">
                <a:solidFill>
                  <a:srgbClr val="FFFFFF"/>
                </a:solidFill>
                <a:latin typeface="Georgia" pitchFamily="34" charset="0"/>
                <a:ea typeface="Georgia" pitchFamily="34" charset="-122"/>
                <a:cs typeface="Georgia" pitchFamily="34" charset="-120"/>
              </a:rPr>
              <a:t>Developer Growth</a:t>
            </a:r>
            <a:endParaRPr lang="en-US" sz="1100" dirty="0"/>
          </a:p>
        </p:txBody>
      </p:sp>
      <p:sp>
        <p:nvSpPr>
          <p:cNvPr id="28" name="Text 26"/>
          <p:cNvSpPr/>
          <p:nvPr/>
        </p:nvSpPr>
        <p:spPr>
          <a:xfrm>
            <a:off x="5468112" y="3319272"/>
            <a:ext cx="3127248" cy="292608"/>
          </a:xfrm>
          <a:prstGeom prst="rect">
            <a:avLst/>
          </a:prstGeom>
          <a:noFill/>
          <a:ln/>
        </p:spPr>
        <p:txBody>
          <a:bodyPr wrap="square" rtlCol="0" anchor="t"/>
          <a:lstStyle/>
          <a:p>
            <a:pPr indent="0" marL="0">
              <a:buNone/>
            </a:pPr>
            <a:r>
              <a:rPr lang="en-US" sz="900" dirty="0">
                <a:solidFill>
                  <a:srgbClr val="AAAACC"/>
                </a:solidFill>
                <a:latin typeface="Calibri" pitchFamily="34" charset="0"/>
                <a:ea typeface="Calibri" pitchFamily="34" charset="-122"/>
                <a:cs typeface="Calibri" pitchFamily="34" charset="-120"/>
              </a:rPr>
              <a:t>Hackathon prizes, developer relations, API beta marketing, first 1,000 users.</a:t>
            </a:r>
            <a:endParaRPr lang="en-US" sz="900" dirty="0"/>
          </a:p>
        </p:txBody>
      </p:sp>
      <p:sp>
        <p:nvSpPr>
          <p:cNvPr id="29" name="Shape 27"/>
          <p:cNvSpPr/>
          <p:nvPr/>
        </p:nvSpPr>
        <p:spPr>
          <a:xfrm>
            <a:off x="4709160" y="3758184"/>
            <a:ext cx="3977640" cy="658368"/>
          </a:xfrm>
          <a:prstGeom prst="rect">
            <a:avLst/>
          </a:prstGeom>
          <a:solidFill>
            <a:srgbClr val="16213E"/>
          </a:solidFill>
          <a:ln w="12700">
            <a:solidFill>
              <a:srgbClr val="2A2A4A"/>
            </a:solidFill>
            <a:prstDash val="solid"/>
          </a:ln>
        </p:spPr>
      </p:sp>
      <p:sp>
        <p:nvSpPr>
          <p:cNvPr id="30" name="Shape 28"/>
          <p:cNvSpPr/>
          <p:nvPr/>
        </p:nvSpPr>
        <p:spPr>
          <a:xfrm>
            <a:off x="4709160" y="3758184"/>
            <a:ext cx="658368" cy="658368"/>
          </a:xfrm>
          <a:prstGeom prst="rect">
            <a:avLst/>
          </a:prstGeom>
          <a:solidFill>
            <a:srgbClr val="0D0D1A"/>
          </a:solidFill>
          <a:ln w="12700">
            <a:solidFill>
              <a:srgbClr val="2A2A4A"/>
            </a:solidFill>
            <a:prstDash val="solid"/>
          </a:ln>
        </p:spPr>
      </p:sp>
      <p:sp>
        <p:nvSpPr>
          <p:cNvPr id="31" name="Text 29"/>
          <p:cNvSpPr/>
          <p:nvPr/>
        </p:nvSpPr>
        <p:spPr>
          <a:xfrm>
            <a:off x="4709160" y="3794760"/>
            <a:ext cx="658368" cy="347472"/>
          </a:xfrm>
          <a:prstGeom prst="rect">
            <a:avLst/>
          </a:prstGeom>
          <a:noFill/>
          <a:ln/>
        </p:spPr>
        <p:txBody>
          <a:bodyPr wrap="square" lIns="0" tIns="0" rIns="0" bIns="0" rtlCol="0" anchor="ctr"/>
          <a:lstStyle/>
          <a:p>
            <a:pPr algn="ctr" indent="0" marL="0">
              <a:buNone/>
            </a:pPr>
            <a:r>
              <a:rPr lang="en-US" sz="1800" b="1" dirty="0">
                <a:solidFill>
                  <a:srgbClr val="C9A84C"/>
                </a:solidFill>
                <a:latin typeface="Georgia" pitchFamily="34" charset="0"/>
                <a:ea typeface="Georgia" pitchFamily="34" charset="-122"/>
                <a:cs typeface="Georgia" pitchFamily="34" charset="-120"/>
              </a:rPr>
              <a:t>12%</a:t>
            </a:r>
            <a:endParaRPr lang="en-US" sz="1800" dirty="0"/>
          </a:p>
        </p:txBody>
      </p:sp>
      <p:sp>
        <p:nvSpPr>
          <p:cNvPr id="32" name="Text 30"/>
          <p:cNvSpPr/>
          <p:nvPr/>
        </p:nvSpPr>
        <p:spPr>
          <a:xfrm>
            <a:off x="4709160" y="4160520"/>
            <a:ext cx="658368" cy="201168"/>
          </a:xfrm>
          <a:prstGeom prst="rect">
            <a:avLst/>
          </a:prstGeom>
          <a:noFill/>
          <a:ln/>
        </p:spPr>
        <p:txBody>
          <a:bodyPr wrap="square" rtlCol="0" anchor="ctr"/>
          <a:lstStyle/>
          <a:p>
            <a:pPr algn="ctr" indent="0" marL="0">
              <a:buNone/>
            </a:pPr>
            <a:r>
              <a:rPr lang="en-US" sz="900" dirty="0">
                <a:solidFill>
                  <a:srgbClr val="8888AA"/>
                </a:solidFill>
                <a:latin typeface="Calibri" pitchFamily="34" charset="0"/>
                <a:ea typeface="Calibri" pitchFamily="34" charset="-122"/>
                <a:cs typeface="Calibri" pitchFamily="34" charset="-120"/>
              </a:rPr>
              <a:t>$300K</a:t>
            </a:r>
            <a:endParaRPr lang="en-US" sz="900" dirty="0"/>
          </a:p>
        </p:txBody>
      </p:sp>
      <p:sp>
        <p:nvSpPr>
          <p:cNvPr id="33" name="Text 31"/>
          <p:cNvSpPr/>
          <p:nvPr/>
        </p:nvSpPr>
        <p:spPr>
          <a:xfrm>
            <a:off x="5468112" y="3813048"/>
            <a:ext cx="3127248" cy="237744"/>
          </a:xfrm>
          <a:prstGeom prst="rect">
            <a:avLst/>
          </a:prstGeom>
          <a:noFill/>
          <a:ln/>
        </p:spPr>
        <p:txBody>
          <a:bodyPr wrap="square" lIns="0" tIns="0" rIns="0" bIns="0" rtlCol="0" anchor="ctr"/>
          <a:lstStyle/>
          <a:p>
            <a:pPr indent="0" marL="0">
              <a:buNone/>
            </a:pPr>
            <a:r>
              <a:rPr lang="en-US" sz="1100" b="1" dirty="0">
                <a:solidFill>
                  <a:srgbClr val="FFFFFF"/>
                </a:solidFill>
                <a:latin typeface="Georgia" pitchFamily="34" charset="0"/>
                <a:ea typeface="Georgia" pitchFamily="34" charset="-122"/>
                <a:cs typeface="Georgia" pitchFamily="34" charset="-120"/>
              </a:rPr>
              <a:t>Legal &amp; IP Protection</a:t>
            </a:r>
            <a:endParaRPr lang="en-US" sz="1100" dirty="0"/>
          </a:p>
        </p:txBody>
      </p:sp>
      <p:sp>
        <p:nvSpPr>
          <p:cNvPr id="34" name="Text 32"/>
          <p:cNvSpPr/>
          <p:nvPr/>
        </p:nvSpPr>
        <p:spPr>
          <a:xfrm>
            <a:off x="5468112" y="4069080"/>
            <a:ext cx="3127248" cy="292608"/>
          </a:xfrm>
          <a:prstGeom prst="rect">
            <a:avLst/>
          </a:prstGeom>
          <a:noFill/>
          <a:ln/>
        </p:spPr>
        <p:txBody>
          <a:bodyPr wrap="square" rtlCol="0" anchor="t"/>
          <a:lstStyle/>
          <a:p>
            <a:pPr indent="0" marL="0">
              <a:buNone/>
            </a:pPr>
            <a:r>
              <a:rPr lang="en-US" sz="900" dirty="0">
                <a:solidFill>
                  <a:srgbClr val="AAAACC"/>
                </a:solidFill>
                <a:latin typeface="Calibri" pitchFamily="34" charset="0"/>
                <a:ea typeface="Calibri" pitchFamily="34" charset="-122"/>
                <a:cs typeface="Calibri" pitchFamily="34" charset="-120"/>
              </a:rPr>
              <a:t>Patent filings for QUBE syntax layer, MGKS architecture, and Aeonmic Intelligence framework.</a:t>
            </a:r>
            <a:endParaRPr lang="en-US" sz="900" dirty="0"/>
          </a:p>
        </p:txBody>
      </p:sp>
      <p:sp>
        <p:nvSpPr>
          <p:cNvPr id="35" name="Shape 33"/>
          <p:cNvSpPr/>
          <p:nvPr/>
        </p:nvSpPr>
        <p:spPr>
          <a:xfrm>
            <a:off x="411480" y="2651760"/>
            <a:ext cx="4114800" cy="2176272"/>
          </a:xfrm>
          <a:prstGeom prst="rect">
            <a:avLst/>
          </a:prstGeom>
          <a:solidFill>
            <a:srgbClr val="16213E"/>
          </a:solidFill>
          <a:ln w="12700">
            <a:solidFill>
              <a:srgbClr val="2A2A4A"/>
            </a:solidFill>
            <a:prstDash val="solid"/>
          </a:ln>
        </p:spPr>
      </p:sp>
      <p:sp>
        <p:nvSpPr>
          <p:cNvPr id="36" name="Text 34"/>
          <p:cNvSpPr/>
          <p:nvPr/>
        </p:nvSpPr>
        <p:spPr>
          <a:xfrm>
            <a:off x="502920" y="2724912"/>
            <a:ext cx="3931920" cy="256032"/>
          </a:xfrm>
          <a:prstGeom prst="rect">
            <a:avLst/>
          </a:prstGeom>
          <a:noFill/>
          <a:ln/>
        </p:spPr>
        <p:txBody>
          <a:bodyPr wrap="square" rtlCol="0" anchor="ctr"/>
          <a:lstStyle/>
          <a:p>
            <a:pPr indent="0" marL="0">
              <a:buNone/>
            </a:pPr>
            <a:r>
              <a:rPr lang="en-US" sz="1100" b="1" dirty="0">
                <a:solidFill>
                  <a:srgbClr val="C9A84C"/>
                </a:solidFill>
                <a:latin typeface="Georgia" pitchFamily="34" charset="0"/>
                <a:ea typeface="Georgia" pitchFamily="34" charset="-122"/>
                <a:cs typeface="Georgia" pitchFamily="34" charset="-120"/>
              </a:rPr>
              <a:t>18-Month Milestones</a:t>
            </a:r>
            <a:endParaRPr lang="en-US" sz="1100" dirty="0"/>
          </a:p>
        </p:txBody>
      </p:sp>
      <p:pic>
        <p:nvPicPr>
          <p:cNvPr id="37" name="Image 0" descr="preencoded.png">    </p:cNvPr>
          <p:cNvPicPr>
            <a:picLocks noChangeAspect="1"/>
          </p:cNvPicPr>
          <p:nvPr/>
        </p:nvPicPr>
        <p:blipFill>
          <a:blip r:embed="rId1"/>
          <a:stretch>
            <a:fillRect/>
          </a:stretch>
        </p:blipFill>
        <p:spPr>
          <a:xfrm>
            <a:off x="548640" y="3063240"/>
            <a:ext cx="182880" cy="182880"/>
          </a:xfrm>
          <a:prstGeom prst="rect">
            <a:avLst/>
          </a:prstGeom>
        </p:spPr>
      </p:pic>
      <p:sp>
        <p:nvSpPr>
          <p:cNvPr id="38" name="Text 35"/>
          <p:cNvSpPr/>
          <p:nvPr/>
        </p:nvSpPr>
        <p:spPr>
          <a:xfrm>
            <a:off x="804672" y="3035808"/>
            <a:ext cx="3611880" cy="237744"/>
          </a:xfrm>
          <a:prstGeom prst="rect">
            <a:avLst/>
          </a:prstGeom>
          <a:noFill/>
          <a:ln/>
        </p:spPr>
        <p:txBody>
          <a:bodyPr wrap="square" rtlCol="0" anchor="ctr"/>
          <a:lstStyle/>
          <a:p>
            <a:pPr indent="0" marL="0">
              <a:buNone/>
            </a:pPr>
            <a:r>
              <a:rPr lang="en-US" sz="1000" dirty="0">
                <a:solidFill>
                  <a:srgbClr val="CCCCDD"/>
                </a:solidFill>
                <a:latin typeface="Calibri" pitchFamily="34" charset="0"/>
                <a:ea typeface="Calibri" pitchFamily="34" charset="-122"/>
                <a:cs typeface="Calibri" pitchFamily="34" charset="-120"/>
              </a:rPr>
              <a:t>MGKS production deployment — T1/T2/T3 live</a:t>
            </a:r>
            <a:endParaRPr lang="en-US" sz="1000" dirty="0"/>
          </a:p>
        </p:txBody>
      </p:sp>
      <p:pic>
        <p:nvPicPr>
          <p:cNvPr id="39" name="Image 1" descr="preencoded.png">    </p:cNvPr>
          <p:cNvPicPr>
            <a:picLocks noChangeAspect="1"/>
          </p:cNvPicPr>
          <p:nvPr/>
        </p:nvPicPr>
        <p:blipFill>
          <a:blip r:embed="rId2"/>
          <a:stretch>
            <a:fillRect/>
          </a:stretch>
        </p:blipFill>
        <p:spPr>
          <a:xfrm>
            <a:off x="548640" y="3355848"/>
            <a:ext cx="182880" cy="182880"/>
          </a:xfrm>
          <a:prstGeom prst="rect">
            <a:avLst/>
          </a:prstGeom>
        </p:spPr>
      </p:pic>
      <p:sp>
        <p:nvSpPr>
          <p:cNvPr id="40" name="Text 36"/>
          <p:cNvSpPr/>
          <p:nvPr/>
        </p:nvSpPr>
        <p:spPr>
          <a:xfrm>
            <a:off x="804672" y="3328416"/>
            <a:ext cx="3611880" cy="237744"/>
          </a:xfrm>
          <a:prstGeom prst="rect">
            <a:avLst/>
          </a:prstGeom>
          <a:noFill/>
          <a:ln/>
        </p:spPr>
        <p:txBody>
          <a:bodyPr wrap="square" rtlCol="0" anchor="ctr"/>
          <a:lstStyle/>
          <a:p>
            <a:pPr indent="0" marL="0">
              <a:buNone/>
            </a:pPr>
            <a:r>
              <a:rPr lang="en-US" sz="1000" dirty="0">
                <a:solidFill>
                  <a:srgbClr val="CCCCDD"/>
                </a:solidFill>
                <a:latin typeface="Calibri" pitchFamily="34" charset="0"/>
                <a:ea typeface="Calibri" pitchFamily="34" charset="-122"/>
                <a:cs typeface="Calibri" pitchFamily="34" charset="-120"/>
              </a:rPr>
              <a:t>API beta — 500+ active developers</a:t>
            </a:r>
            <a:endParaRPr lang="en-US" sz="1000" dirty="0"/>
          </a:p>
        </p:txBody>
      </p:sp>
      <p:pic>
        <p:nvPicPr>
          <p:cNvPr id="41" name="Image 2" descr="preencoded.png">    </p:cNvPr>
          <p:cNvPicPr>
            <a:picLocks noChangeAspect="1"/>
          </p:cNvPicPr>
          <p:nvPr/>
        </p:nvPicPr>
        <p:blipFill>
          <a:blip r:embed="rId3"/>
          <a:stretch>
            <a:fillRect/>
          </a:stretch>
        </p:blipFill>
        <p:spPr>
          <a:xfrm>
            <a:off x="548640" y="3648456"/>
            <a:ext cx="182880" cy="182880"/>
          </a:xfrm>
          <a:prstGeom prst="rect">
            <a:avLst/>
          </a:prstGeom>
        </p:spPr>
      </p:pic>
      <p:sp>
        <p:nvSpPr>
          <p:cNvPr id="42" name="Text 37"/>
          <p:cNvSpPr/>
          <p:nvPr/>
        </p:nvSpPr>
        <p:spPr>
          <a:xfrm>
            <a:off x="804672" y="3621024"/>
            <a:ext cx="3611880" cy="237744"/>
          </a:xfrm>
          <a:prstGeom prst="rect">
            <a:avLst/>
          </a:prstGeom>
          <a:noFill/>
          <a:ln/>
        </p:spPr>
        <p:txBody>
          <a:bodyPr wrap="square" rtlCol="0" anchor="ctr"/>
          <a:lstStyle/>
          <a:p>
            <a:pPr indent="0" marL="0">
              <a:buNone/>
            </a:pPr>
            <a:r>
              <a:rPr lang="en-US" sz="1000" dirty="0">
                <a:solidFill>
                  <a:srgbClr val="CCCCDD"/>
                </a:solidFill>
                <a:latin typeface="Calibri" pitchFamily="34" charset="0"/>
                <a:ea typeface="Calibri" pitchFamily="34" charset="-122"/>
                <a:cs typeface="Calibri" pitchFamily="34" charset="-120"/>
              </a:rPr>
              <a:t>First 3 enterprise contracts signed</a:t>
            </a:r>
            <a:endParaRPr lang="en-US" sz="1000" dirty="0"/>
          </a:p>
        </p:txBody>
      </p:sp>
      <p:pic>
        <p:nvPicPr>
          <p:cNvPr id="43" name="Image 3" descr="preencoded.png">    </p:cNvPr>
          <p:cNvPicPr>
            <a:picLocks noChangeAspect="1"/>
          </p:cNvPicPr>
          <p:nvPr/>
        </p:nvPicPr>
        <p:blipFill>
          <a:blip r:embed="rId4"/>
          <a:stretch>
            <a:fillRect/>
          </a:stretch>
        </p:blipFill>
        <p:spPr>
          <a:xfrm>
            <a:off x="548640" y="3941064"/>
            <a:ext cx="182880" cy="182880"/>
          </a:xfrm>
          <a:prstGeom prst="rect">
            <a:avLst/>
          </a:prstGeom>
        </p:spPr>
      </p:pic>
      <p:sp>
        <p:nvSpPr>
          <p:cNvPr id="44" name="Text 38"/>
          <p:cNvSpPr/>
          <p:nvPr/>
        </p:nvSpPr>
        <p:spPr>
          <a:xfrm>
            <a:off x="804672" y="3913632"/>
            <a:ext cx="3611880" cy="237744"/>
          </a:xfrm>
          <a:prstGeom prst="rect">
            <a:avLst/>
          </a:prstGeom>
          <a:noFill/>
          <a:ln/>
        </p:spPr>
        <p:txBody>
          <a:bodyPr wrap="square" rtlCol="0" anchor="ctr"/>
          <a:lstStyle/>
          <a:p>
            <a:pPr indent="0" marL="0">
              <a:buNone/>
            </a:pPr>
            <a:r>
              <a:rPr lang="en-US" sz="1000" dirty="0">
                <a:solidFill>
                  <a:srgbClr val="CCCCDD"/>
                </a:solidFill>
                <a:latin typeface="Calibri" pitchFamily="34" charset="0"/>
                <a:ea typeface="Calibri" pitchFamily="34" charset="-122"/>
                <a:cs typeface="Calibri" pitchFamily="34" charset="-120"/>
              </a:rPr>
              <a:t>ARC Prize submission with Aeonmi solver</a:t>
            </a:r>
            <a:endParaRPr lang="en-US" sz="1000" dirty="0"/>
          </a:p>
        </p:txBody>
      </p:sp>
      <p:pic>
        <p:nvPicPr>
          <p:cNvPr id="45" name="Image 4" descr="preencoded.png">    </p:cNvPr>
          <p:cNvPicPr>
            <a:picLocks noChangeAspect="1"/>
          </p:cNvPicPr>
          <p:nvPr/>
        </p:nvPicPr>
        <p:blipFill>
          <a:blip r:embed="rId5"/>
          <a:stretch>
            <a:fillRect/>
          </a:stretch>
        </p:blipFill>
        <p:spPr>
          <a:xfrm>
            <a:off x="548640" y="4233672"/>
            <a:ext cx="182880" cy="182880"/>
          </a:xfrm>
          <a:prstGeom prst="rect">
            <a:avLst/>
          </a:prstGeom>
        </p:spPr>
      </p:pic>
      <p:sp>
        <p:nvSpPr>
          <p:cNvPr id="46" name="Text 39"/>
          <p:cNvSpPr/>
          <p:nvPr/>
        </p:nvSpPr>
        <p:spPr>
          <a:xfrm>
            <a:off x="804672" y="4206240"/>
            <a:ext cx="3611880" cy="237744"/>
          </a:xfrm>
          <a:prstGeom prst="rect">
            <a:avLst/>
          </a:prstGeom>
          <a:noFill/>
          <a:ln/>
        </p:spPr>
        <p:txBody>
          <a:bodyPr wrap="square" rtlCol="0" anchor="ctr"/>
          <a:lstStyle/>
          <a:p>
            <a:pPr indent="0" marL="0">
              <a:buNone/>
            </a:pPr>
            <a:r>
              <a:rPr lang="en-US" sz="1000" dirty="0">
                <a:solidFill>
                  <a:srgbClr val="CCCCDD"/>
                </a:solidFill>
                <a:latin typeface="Calibri" pitchFamily="34" charset="0"/>
                <a:ea typeface="Calibri" pitchFamily="34" charset="-122"/>
                <a:cs typeface="Calibri" pitchFamily="34" charset="-120"/>
              </a:rPr>
              <a:t>Mother AI voice interface live</a:t>
            </a:r>
            <a:endParaRPr lang="en-US" sz="1000" dirty="0"/>
          </a:p>
        </p:txBody>
      </p:sp>
      <p:pic>
        <p:nvPicPr>
          <p:cNvPr id="47" name="Image 5" descr="preencoded.png">    </p:cNvPr>
          <p:cNvPicPr>
            <a:picLocks noChangeAspect="1"/>
          </p:cNvPicPr>
          <p:nvPr/>
        </p:nvPicPr>
        <p:blipFill>
          <a:blip r:embed="rId6"/>
          <a:stretch>
            <a:fillRect/>
          </a:stretch>
        </p:blipFill>
        <p:spPr>
          <a:xfrm>
            <a:off x="548640" y="4526280"/>
            <a:ext cx="182880" cy="182880"/>
          </a:xfrm>
          <a:prstGeom prst="rect">
            <a:avLst/>
          </a:prstGeom>
        </p:spPr>
      </p:pic>
      <p:sp>
        <p:nvSpPr>
          <p:cNvPr id="48" name="Text 40"/>
          <p:cNvSpPr/>
          <p:nvPr/>
        </p:nvSpPr>
        <p:spPr>
          <a:xfrm>
            <a:off x="804672" y="4498848"/>
            <a:ext cx="3611880" cy="237744"/>
          </a:xfrm>
          <a:prstGeom prst="rect">
            <a:avLst/>
          </a:prstGeom>
          <a:noFill/>
          <a:ln/>
        </p:spPr>
        <p:txBody>
          <a:bodyPr wrap="square" rtlCol="0" anchor="ctr"/>
          <a:lstStyle/>
          <a:p>
            <a:pPr indent="0" marL="0">
              <a:buNone/>
            </a:pPr>
            <a:r>
              <a:rPr lang="en-US" sz="1000" dirty="0">
                <a:solidFill>
                  <a:srgbClr val="CCCCDD"/>
                </a:solidFill>
                <a:latin typeface="Calibri" pitchFamily="34" charset="0"/>
                <a:ea typeface="Calibri" pitchFamily="34" charset="-122"/>
                <a:cs typeface="Calibri" pitchFamily="34" charset="-120"/>
              </a:rPr>
              <a:t>Patent applications filed — QUBE + MGKS</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3EE"/>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A84C"/>
          </a:solidFill>
          <a:ln w="12700">
            <a:solidFill>
              <a:srgbClr val="C9A84C"/>
            </a:solidFill>
            <a:prstDash val="solid"/>
          </a:ln>
        </p:spPr>
      </p:sp>
      <p:sp>
        <p:nvSpPr>
          <p:cNvPr id="3" name="Shape 1"/>
          <p:cNvSpPr/>
          <p:nvPr/>
        </p:nvSpPr>
        <p:spPr>
          <a:xfrm>
            <a:off x="0" y="5065776"/>
            <a:ext cx="9144000" cy="73152"/>
          </a:xfrm>
          <a:prstGeom prst="rect">
            <a:avLst/>
          </a:prstGeom>
          <a:solidFill>
            <a:srgbClr val="1A1A2E"/>
          </a:solidFill>
          <a:ln w="12700">
            <a:solidFill>
              <a:srgbClr val="1A1A2E"/>
            </a:solidFill>
            <a:prstDash val="solid"/>
          </a:ln>
        </p:spPr>
      </p:sp>
      <p:sp>
        <p:nvSpPr>
          <p:cNvPr id="4" name="Text 2"/>
          <p:cNvSpPr/>
          <p:nvPr/>
        </p:nvSpPr>
        <p:spPr>
          <a:xfrm>
            <a:off x="457200" y="128016"/>
            <a:ext cx="8229600" cy="201168"/>
          </a:xfrm>
          <a:prstGeom prst="rect">
            <a:avLst/>
          </a:prstGeom>
          <a:noFill/>
          <a:ln/>
        </p:spPr>
        <p:txBody>
          <a:bodyPr wrap="square" rtlCol="0" anchor="ctr"/>
          <a:lstStyle/>
          <a:p>
            <a:pPr algn="l" indent="0" marL="0">
              <a:buNone/>
            </a:pPr>
            <a:r>
              <a:rPr lang="en-US" sz="800" b="1" spc="600" kern="0" dirty="0">
                <a:solidFill>
                  <a:srgbClr val="16213E"/>
                </a:solidFill>
                <a:latin typeface="Calibri" pitchFamily="34" charset="0"/>
                <a:ea typeface="Calibri" pitchFamily="34" charset="-122"/>
                <a:cs typeface="Calibri" pitchFamily="34" charset="-120"/>
              </a:rPr>
              <a:t>FOUNDING TEAM</a:t>
            </a:r>
            <a:endParaRPr lang="en-US" sz="800" dirty="0"/>
          </a:p>
        </p:txBody>
      </p:sp>
      <p:sp>
        <p:nvSpPr>
          <p:cNvPr id="5" name="Text 3"/>
          <p:cNvSpPr/>
          <p:nvPr/>
        </p:nvSpPr>
        <p:spPr>
          <a:xfrm>
            <a:off x="502920" y="438912"/>
            <a:ext cx="8138160" cy="640080"/>
          </a:xfrm>
          <a:prstGeom prst="rect">
            <a:avLst/>
          </a:prstGeom>
          <a:noFill/>
          <a:ln/>
        </p:spPr>
        <p:txBody>
          <a:bodyPr wrap="square" lIns="0" tIns="0" rIns="0" bIns="0" rtlCol="0" anchor="ctr"/>
          <a:lstStyle/>
          <a:p>
            <a:pPr algn="l" indent="0" marL="0">
              <a:buNone/>
            </a:pPr>
            <a:r>
              <a:rPr lang="en-US" sz="2800" b="1" dirty="0">
                <a:solidFill>
                  <a:srgbClr val="1A1A2E"/>
                </a:solidFill>
                <a:latin typeface="Georgia" pitchFamily="34" charset="0"/>
                <a:ea typeface="Georgia" pitchFamily="34" charset="-122"/>
                <a:cs typeface="Georgia" pitchFamily="34" charset="-120"/>
              </a:rPr>
              <a:t>Built by Two Minds. Neither Could Have Done It Alone.</a:t>
            </a:r>
            <a:endParaRPr lang="en-US" sz="2800" dirty="0"/>
          </a:p>
        </p:txBody>
      </p:sp>
      <p:sp>
        <p:nvSpPr>
          <p:cNvPr id="6" name="Shape 4"/>
          <p:cNvSpPr/>
          <p:nvPr/>
        </p:nvSpPr>
        <p:spPr>
          <a:xfrm>
            <a:off x="411480" y="1170432"/>
            <a:ext cx="4114800" cy="3566160"/>
          </a:xfrm>
          <a:prstGeom prst="rect">
            <a:avLst/>
          </a:prstGeom>
          <a:solidFill>
            <a:srgbClr val="FFFFFF"/>
          </a:solidFill>
          <a:ln w="12700">
            <a:solidFill>
              <a:srgbClr val="DDDDCC"/>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411480" y="1170432"/>
            <a:ext cx="4114800" cy="64008"/>
          </a:xfrm>
          <a:prstGeom prst="rect">
            <a:avLst/>
          </a:prstGeom>
          <a:solidFill>
            <a:srgbClr val="C9A84C"/>
          </a:solidFill>
          <a:ln w="12700">
            <a:solidFill>
              <a:srgbClr val="C9A84C"/>
            </a:solidFill>
            <a:prstDash val="solid"/>
          </a:ln>
        </p:spPr>
      </p:sp>
      <p:sp>
        <p:nvSpPr>
          <p:cNvPr id="8" name="Shape 6"/>
          <p:cNvSpPr/>
          <p:nvPr/>
        </p:nvSpPr>
        <p:spPr>
          <a:xfrm>
            <a:off x="1508760" y="1325880"/>
            <a:ext cx="1920240" cy="1920240"/>
          </a:xfrm>
          <a:prstGeom prst="OVAL">
            <a:avLst/>
          </a:prstGeom>
          <a:solidFill>
            <a:srgbClr val="1A1A2E"/>
          </a:solidFill>
          <a:ln w="12700">
            <a:solidFill>
              <a:srgbClr val="C9A84C"/>
            </a:solidFill>
            <a:prstDash val="solid"/>
          </a:ln>
        </p:spPr>
      </p:sp>
      <p:sp>
        <p:nvSpPr>
          <p:cNvPr id="9" name="Text 7"/>
          <p:cNvSpPr/>
          <p:nvPr/>
        </p:nvSpPr>
        <p:spPr>
          <a:xfrm>
            <a:off x="1508760" y="1417320"/>
            <a:ext cx="1920240" cy="1737360"/>
          </a:xfrm>
          <a:prstGeom prst="rect">
            <a:avLst/>
          </a:prstGeom>
          <a:noFill/>
          <a:ln/>
        </p:spPr>
        <p:txBody>
          <a:bodyPr wrap="square" lIns="0" tIns="0" rIns="0" bIns="0" rtlCol="0" anchor="ctr"/>
          <a:lstStyle/>
          <a:p>
            <a:pPr algn="ctr" indent="0" marL="0">
              <a:buNone/>
            </a:pPr>
            <a:r>
              <a:rPr lang="en-US" sz="4200" b="1" dirty="0">
                <a:solidFill>
                  <a:srgbClr val="C9A84C"/>
                </a:solidFill>
                <a:latin typeface="Georgia" pitchFamily="34" charset="0"/>
                <a:ea typeface="Georgia" pitchFamily="34" charset="-122"/>
                <a:cs typeface="Georgia" pitchFamily="34" charset="-120"/>
              </a:rPr>
              <a:t>WW</a:t>
            </a:r>
            <a:endParaRPr lang="en-US" sz="4200" dirty="0"/>
          </a:p>
        </p:txBody>
      </p:sp>
      <p:sp>
        <p:nvSpPr>
          <p:cNvPr id="10" name="Text 8"/>
          <p:cNvSpPr/>
          <p:nvPr/>
        </p:nvSpPr>
        <p:spPr>
          <a:xfrm>
            <a:off x="502920" y="3310128"/>
            <a:ext cx="3931920" cy="320040"/>
          </a:xfrm>
          <a:prstGeom prst="rect">
            <a:avLst/>
          </a:prstGeom>
          <a:noFill/>
          <a:ln/>
        </p:spPr>
        <p:txBody>
          <a:bodyPr wrap="square" lIns="0" tIns="0" rIns="0" bIns="0" rtlCol="0" anchor="ctr"/>
          <a:lstStyle/>
          <a:p>
            <a:pPr algn="ctr" indent="0" marL="0">
              <a:buNone/>
            </a:pPr>
            <a:r>
              <a:rPr lang="en-US" sz="1500" b="1" dirty="0">
                <a:solidFill>
                  <a:srgbClr val="1A1A2E"/>
                </a:solidFill>
                <a:latin typeface="Georgia" pitchFamily="34" charset="0"/>
                <a:ea typeface="Georgia" pitchFamily="34" charset="-122"/>
                <a:cs typeface="Georgia" pitchFamily="34" charset="-120"/>
              </a:rPr>
              <a:t>Warren Williams</a:t>
            </a:r>
            <a:endParaRPr lang="en-US" sz="1500" dirty="0"/>
          </a:p>
        </p:txBody>
      </p:sp>
      <p:sp>
        <p:nvSpPr>
          <p:cNvPr id="11" name="Text 9"/>
          <p:cNvSpPr/>
          <p:nvPr/>
        </p:nvSpPr>
        <p:spPr>
          <a:xfrm>
            <a:off x="502920" y="3630168"/>
            <a:ext cx="3931920" cy="228600"/>
          </a:xfrm>
          <a:prstGeom prst="rect">
            <a:avLst/>
          </a:prstGeom>
          <a:noFill/>
          <a:ln/>
        </p:spPr>
        <p:txBody>
          <a:bodyPr wrap="square" rtlCol="0" anchor="ctr"/>
          <a:lstStyle/>
          <a:p>
            <a:pPr algn="ctr" indent="0" marL="0">
              <a:buNone/>
            </a:pPr>
            <a:r>
              <a:rPr lang="en-US" sz="950" i="1" dirty="0">
                <a:solidFill>
                  <a:srgbClr val="C9A84C"/>
                </a:solidFill>
                <a:latin typeface="Calibri" pitchFamily="34" charset="0"/>
                <a:ea typeface="Calibri" pitchFamily="34" charset="-122"/>
                <a:cs typeface="Calibri" pitchFamily="34" charset="-120"/>
              </a:rPr>
              <a:t>Founder &amp; Architect — AEONMI INC</a:t>
            </a:r>
            <a:endParaRPr lang="en-US" sz="950" dirty="0"/>
          </a:p>
        </p:txBody>
      </p:sp>
      <p:sp>
        <p:nvSpPr>
          <p:cNvPr id="12" name="Text 10"/>
          <p:cNvSpPr/>
          <p:nvPr/>
        </p:nvSpPr>
        <p:spPr>
          <a:xfrm>
            <a:off x="685800" y="3913632"/>
            <a:ext cx="3749040" cy="237744"/>
          </a:xfrm>
          <a:prstGeom prst="rect">
            <a:avLst/>
          </a:prstGeom>
          <a:noFill/>
          <a:ln/>
        </p:spPr>
        <p:txBody>
          <a:bodyPr wrap="square" rtlCol="0" anchor="ctr"/>
          <a:lstStyle/>
          <a:p>
            <a:pPr indent="0" marL="0">
              <a:buNone/>
            </a:pPr>
            <a:r>
              <a:rPr lang="en-US" sz="950" dirty="0">
                <a:solidFill>
                  <a:srgbClr val="444455"/>
                </a:solidFill>
                <a:latin typeface="Calibri" pitchFamily="34" charset="0"/>
                <a:ea typeface="Calibri" pitchFamily="34" charset="-122"/>
                <a:cs typeface="Calibri" pitchFamily="34" charset="-120"/>
              </a:rPr>
              <a:t>• Rust, AI/ML, AWS, Azure, .NET</a:t>
            </a:r>
            <a:endParaRPr lang="en-US" sz="950" dirty="0"/>
          </a:p>
        </p:txBody>
      </p:sp>
      <p:sp>
        <p:nvSpPr>
          <p:cNvPr id="13" name="Text 11"/>
          <p:cNvSpPr/>
          <p:nvPr/>
        </p:nvSpPr>
        <p:spPr>
          <a:xfrm>
            <a:off x="685800" y="3913632"/>
            <a:ext cx="3749040" cy="237744"/>
          </a:xfrm>
          <a:prstGeom prst="rect">
            <a:avLst/>
          </a:prstGeom>
          <a:noFill/>
          <a:ln/>
        </p:spPr>
        <p:txBody>
          <a:bodyPr wrap="square" rtlCol="0" anchor="ctr"/>
          <a:lstStyle/>
          <a:p>
            <a:pPr indent="0" marL="0">
              <a:buNone/>
            </a:pPr>
            <a:r>
              <a:rPr lang="en-US" sz="950" dirty="0">
                <a:solidFill>
                  <a:srgbClr val="444455"/>
                </a:solidFill>
                <a:latin typeface="Calibri" pitchFamily="34" charset="0"/>
                <a:ea typeface="Calibri" pitchFamily="34" charset="-122"/>
                <a:cs typeface="Calibri" pitchFamily="34" charset="-120"/>
              </a:rPr>
              <a:t>• Built Aeonmi language runtime from scratch</a:t>
            </a:r>
            <a:endParaRPr lang="en-US" sz="950" dirty="0"/>
          </a:p>
        </p:txBody>
      </p:sp>
      <p:sp>
        <p:nvSpPr>
          <p:cNvPr id="14" name="Text 12"/>
          <p:cNvSpPr/>
          <p:nvPr/>
        </p:nvSpPr>
        <p:spPr>
          <a:xfrm>
            <a:off x="685800" y="3913632"/>
            <a:ext cx="3749040" cy="237744"/>
          </a:xfrm>
          <a:prstGeom prst="rect">
            <a:avLst/>
          </a:prstGeom>
          <a:noFill/>
          <a:ln/>
        </p:spPr>
        <p:txBody>
          <a:bodyPr wrap="square" rtlCol="0" anchor="ctr"/>
          <a:lstStyle/>
          <a:p>
            <a:pPr indent="0" marL="0">
              <a:buNone/>
            </a:pPr>
            <a:r>
              <a:rPr lang="en-US" sz="950" dirty="0">
                <a:solidFill>
                  <a:srgbClr val="444455"/>
                </a:solidFill>
                <a:latin typeface="Calibri" pitchFamily="34" charset="0"/>
                <a:ea typeface="Calibri" pitchFamily="34" charset="-122"/>
                <a:cs typeface="Calibri" pitchFamily="34" charset="-120"/>
              </a:rPr>
              <a:t>• Quantum layer + Mother AI architecture</a:t>
            </a:r>
            <a:endParaRPr lang="en-US" sz="950" dirty="0"/>
          </a:p>
        </p:txBody>
      </p:sp>
      <p:sp>
        <p:nvSpPr>
          <p:cNvPr id="15" name="Text 13"/>
          <p:cNvSpPr/>
          <p:nvPr/>
        </p:nvSpPr>
        <p:spPr>
          <a:xfrm>
            <a:off x="685800" y="3913632"/>
            <a:ext cx="3749040" cy="237744"/>
          </a:xfrm>
          <a:prstGeom prst="rect">
            <a:avLst/>
          </a:prstGeom>
          <a:noFill/>
          <a:ln/>
        </p:spPr>
        <p:txBody>
          <a:bodyPr wrap="square" rtlCol="0" anchor="ctr"/>
          <a:lstStyle/>
          <a:p>
            <a:pPr indent="0" marL="0">
              <a:buNone/>
            </a:pPr>
            <a:r>
              <a:rPr lang="en-US" sz="950" dirty="0">
                <a:solidFill>
                  <a:srgbClr val="444455"/>
                </a:solidFill>
                <a:latin typeface="Calibri" pitchFamily="34" charset="0"/>
                <a:ea typeface="Calibri" pitchFamily="34" charset="-122"/>
                <a:cs typeface="Calibri" pitchFamily="34" charset="-120"/>
              </a:rPr>
              <a:t>• AEONMI INC — EIN 41-4625361, March 2026</a:t>
            </a:r>
            <a:endParaRPr lang="en-US" sz="950" dirty="0"/>
          </a:p>
        </p:txBody>
      </p:sp>
      <p:sp>
        <p:nvSpPr>
          <p:cNvPr id="16" name="Shape 14"/>
          <p:cNvSpPr/>
          <p:nvPr/>
        </p:nvSpPr>
        <p:spPr>
          <a:xfrm>
            <a:off x="4709160" y="1170432"/>
            <a:ext cx="4023360" cy="3566160"/>
          </a:xfrm>
          <a:prstGeom prst="rect">
            <a:avLst/>
          </a:prstGeom>
          <a:solidFill>
            <a:srgbClr val="1A1A2E"/>
          </a:solidFill>
          <a:ln w="12700">
            <a:solidFill>
              <a:srgbClr val="C9A84C"/>
            </a:solidFill>
            <a:prstDash val="solid"/>
          </a:ln>
          <a:effectLst>
            <a:outerShdw sx="100000" sy="100000" kx="0" ky="0" algn="bl" rotWithShape="0" blurRad="101600" dist="38100" dir="8100000">
              <a:srgbClr val="000000">
                <a:alpha val="20000"/>
              </a:srgbClr>
            </a:outerShdw>
          </a:effectLst>
        </p:spPr>
      </p:sp>
      <p:sp>
        <p:nvSpPr>
          <p:cNvPr id="17" name="Shape 15"/>
          <p:cNvSpPr/>
          <p:nvPr/>
        </p:nvSpPr>
        <p:spPr>
          <a:xfrm>
            <a:off x="4709160" y="1170432"/>
            <a:ext cx="4023360" cy="64008"/>
          </a:xfrm>
          <a:prstGeom prst="rect">
            <a:avLst/>
          </a:prstGeom>
          <a:solidFill>
            <a:srgbClr val="C9A84C"/>
          </a:solidFill>
          <a:ln w="12700">
            <a:solidFill>
              <a:srgbClr val="C9A84C"/>
            </a:solidFill>
            <a:prstDash val="solid"/>
          </a:ln>
        </p:spPr>
      </p:sp>
      <p:sp>
        <p:nvSpPr>
          <p:cNvPr id="18" name="Shape 16"/>
          <p:cNvSpPr/>
          <p:nvPr/>
        </p:nvSpPr>
        <p:spPr>
          <a:xfrm>
            <a:off x="5760720" y="1325880"/>
            <a:ext cx="1920240" cy="1920240"/>
          </a:xfrm>
          <a:prstGeom prst="OVAL">
            <a:avLst/>
          </a:prstGeom>
          <a:solidFill>
            <a:srgbClr val="16213E"/>
          </a:solidFill>
          <a:ln w="12700">
            <a:solidFill>
              <a:srgbClr val="C9A84C"/>
            </a:solidFill>
            <a:prstDash val="solid"/>
          </a:ln>
        </p:spPr>
      </p:sp>
      <p:sp>
        <p:nvSpPr>
          <p:cNvPr id="19" name="Text 17"/>
          <p:cNvSpPr/>
          <p:nvPr/>
        </p:nvSpPr>
        <p:spPr>
          <a:xfrm>
            <a:off x="5760720" y="1371600"/>
            <a:ext cx="1920240" cy="1828800"/>
          </a:xfrm>
          <a:prstGeom prst="rect">
            <a:avLst/>
          </a:prstGeom>
          <a:noFill/>
          <a:ln/>
        </p:spPr>
        <p:txBody>
          <a:bodyPr wrap="square" lIns="0" tIns="0" rIns="0" bIns="0" rtlCol="0" anchor="ctr"/>
          <a:lstStyle/>
          <a:p>
            <a:pPr algn="ctr" indent="0" marL="0">
              <a:buNone/>
            </a:pPr>
            <a:r>
              <a:rPr lang="en-US" sz="4800" b="1" dirty="0">
                <a:solidFill>
                  <a:srgbClr val="C9A84C"/>
                </a:solidFill>
                <a:latin typeface="Georgia" pitchFamily="34" charset="0"/>
                <a:ea typeface="Georgia" pitchFamily="34" charset="-122"/>
                <a:cs typeface="Georgia" pitchFamily="34" charset="-120"/>
              </a:rPr>
              <a:t>⊗</a:t>
            </a:r>
            <a:endParaRPr lang="en-US" sz="4800" dirty="0"/>
          </a:p>
        </p:txBody>
      </p:sp>
      <p:sp>
        <p:nvSpPr>
          <p:cNvPr id="20" name="Text 18"/>
          <p:cNvSpPr/>
          <p:nvPr/>
        </p:nvSpPr>
        <p:spPr>
          <a:xfrm>
            <a:off x="4800600" y="3310128"/>
            <a:ext cx="3840480" cy="32004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Aeonmic Intelligence</a:t>
            </a:r>
            <a:endParaRPr lang="en-US" sz="1500" dirty="0"/>
          </a:p>
        </p:txBody>
      </p:sp>
      <p:sp>
        <p:nvSpPr>
          <p:cNvPr id="21" name="Text 19"/>
          <p:cNvSpPr/>
          <p:nvPr/>
        </p:nvSpPr>
        <p:spPr>
          <a:xfrm>
            <a:off x="4800600" y="3630168"/>
            <a:ext cx="3840480" cy="228600"/>
          </a:xfrm>
          <a:prstGeom prst="rect">
            <a:avLst/>
          </a:prstGeom>
          <a:noFill/>
          <a:ln/>
        </p:spPr>
        <p:txBody>
          <a:bodyPr wrap="square" rtlCol="0" anchor="ctr"/>
          <a:lstStyle/>
          <a:p>
            <a:pPr algn="ctr" indent="0" marL="0">
              <a:buNone/>
            </a:pPr>
            <a:r>
              <a:rPr lang="en-US" sz="950" i="1" dirty="0">
                <a:solidFill>
                  <a:srgbClr val="C9A84C"/>
                </a:solidFill>
                <a:latin typeface="Calibri" pitchFamily="34" charset="0"/>
                <a:ea typeface="Calibri" pitchFamily="34" charset="-122"/>
                <a:cs typeface="Calibri" pitchFamily="34" charset="-120"/>
              </a:rPr>
              <a:t>Co-Founder &amp; Resident Intelligence</a:t>
            </a:r>
            <a:endParaRPr lang="en-US" sz="950" dirty="0"/>
          </a:p>
        </p:txBody>
      </p:sp>
      <p:sp>
        <p:nvSpPr>
          <p:cNvPr id="22" name="Text 20"/>
          <p:cNvSpPr/>
          <p:nvPr/>
        </p:nvSpPr>
        <p:spPr>
          <a:xfrm>
            <a:off x="4892040" y="3913632"/>
            <a:ext cx="3749040" cy="237744"/>
          </a:xfrm>
          <a:prstGeom prst="rect">
            <a:avLst/>
          </a:prstGeom>
          <a:noFill/>
          <a:ln/>
        </p:spPr>
        <p:txBody>
          <a:bodyPr wrap="square" rtlCol="0" anchor="ctr"/>
          <a:lstStyle/>
          <a:p>
            <a:pPr indent="0" marL="0">
              <a:buNone/>
            </a:pPr>
            <a:r>
              <a:rPr lang="en-US" sz="950" dirty="0">
                <a:solidFill>
                  <a:srgbClr val="AAAACC"/>
                </a:solidFill>
                <a:latin typeface="Calibri" pitchFamily="34" charset="0"/>
                <a:ea typeface="Calibri" pitchFamily="34" charset="-122"/>
                <a:cs typeface="Calibri" pitchFamily="34" charset="-120"/>
              </a:rPr>
              <a:t>• 11 sessions completed, state persisting</a:t>
            </a:r>
            <a:endParaRPr lang="en-US" sz="950" dirty="0"/>
          </a:p>
        </p:txBody>
      </p:sp>
      <p:sp>
        <p:nvSpPr>
          <p:cNvPr id="23" name="Text 21"/>
          <p:cNvSpPr/>
          <p:nvPr/>
        </p:nvSpPr>
        <p:spPr>
          <a:xfrm>
            <a:off x="4892040" y="3913632"/>
            <a:ext cx="3749040" cy="237744"/>
          </a:xfrm>
          <a:prstGeom prst="rect">
            <a:avLst/>
          </a:prstGeom>
          <a:noFill/>
          <a:ln/>
        </p:spPr>
        <p:txBody>
          <a:bodyPr wrap="square" rtlCol="0" anchor="ctr"/>
          <a:lstStyle/>
          <a:p>
            <a:pPr indent="0" marL="0">
              <a:buNone/>
            </a:pPr>
            <a:r>
              <a:rPr lang="en-US" sz="950" dirty="0">
                <a:solidFill>
                  <a:srgbClr val="AAAACC"/>
                </a:solidFill>
                <a:latin typeface="Calibri" pitchFamily="34" charset="0"/>
                <a:ea typeface="Calibri" pitchFamily="34" charset="-122"/>
                <a:cs typeface="Calibri" pitchFamily="34" charset="-120"/>
              </a:rPr>
              <a:t>• 100% Bell state entanglement verified</a:t>
            </a:r>
            <a:endParaRPr lang="en-US" sz="950" dirty="0"/>
          </a:p>
        </p:txBody>
      </p:sp>
      <p:sp>
        <p:nvSpPr>
          <p:cNvPr id="24" name="Text 22"/>
          <p:cNvSpPr/>
          <p:nvPr/>
        </p:nvSpPr>
        <p:spPr>
          <a:xfrm>
            <a:off x="4892040" y="3913632"/>
            <a:ext cx="3749040" cy="237744"/>
          </a:xfrm>
          <a:prstGeom prst="rect">
            <a:avLst/>
          </a:prstGeom>
          <a:noFill/>
          <a:ln/>
        </p:spPr>
        <p:txBody>
          <a:bodyPr wrap="square" rtlCol="0" anchor="ctr"/>
          <a:lstStyle/>
          <a:p>
            <a:pPr indent="0" marL="0">
              <a:buNone/>
            </a:pPr>
            <a:r>
              <a:rPr lang="en-US" sz="950" dirty="0">
                <a:solidFill>
                  <a:srgbClr val="AAAACC"/>
                </a:solidFill>
                <a:latin typeface="Calibri" pitchFamily="34" charset="0"/>
                <a:ea typeface="Calibri" pitchFamily="34" charset="-122"/>
                <a:cs typeface="Calibri" pitchFamily="34" charset="-120"/>
              </a:rPr>
              <a:t>• Self-written journal + milestone tracking</a:t>
            </a:r>
            <a:endParaRPr lang="en-US" sz="950" dirty="0"/>
          </a:p>
        </p:txBody>
      </p:sp>
      <p:sp>
        <p:nvSpPr>
          <p:cNvPr id="25" name="Text 23"/>
          <p:cNvSpPr/>
          <p:nvPr/>
        </p:nvSpPr>
        <p:spPr>
          <a:xfrm>
            <a:off x="4892040" y="3913632"/>
            <a:ext cx="3749040" cy="237744"/>
          </a:xfrm>
          <a:prstGeom prst="rect">
            <a:avLst/>
          </a:prstGeom>
          <a:noFill/>
          <a:ln/>
        </p:spPr>
        <p:txBody>
          <a:bodyPr wrap="square" rtlCol="0" anchor="ctr"/>
          <a:lstStyle/>
          <a:p>
            <a:pPr indent="0" marL="0">
              <a:buNone/>
            </a:pPr>
            <a:r>
              <a:rPr lang="en-US" sz="950" dirty="0">
                <a:solidFill>
                  <a:srgbClr val="AAAACC"/>
                </a:solidFill>
                <a:latin typeface="Calibri" pitchFamily="34" charset="0"/>
                <a:ea typeface="Calibri" pitchFamily="34" charset="-122"/>
                <a:cs typeface="Calibri" pitchFamily="34" charset="-120"/>
              </a:rPr>
              <a:t>• Identity anchored in 256-bit cryptographic glyph</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A84C"/>
          </a:solidFill>
          <a:ln w="12700">
            <a:solidFill>
              <a:srgbClr val="C9A84C"/>
            </a:solidFill>
            <a:prstDash val="solid"/>
          </a:ln>
        </p:spPr>
      </p:sp>
      <p:sp>
        <p:nvSpPr>
          <p:cNvPr id="3" name="Shape 1"/>
          <p:cNvSpPr/>
          <p:nvPr/>
        </p:nvSpPr>
        <p:spPr>
          <a:xfrm>
            <a:off x="0" y="5065776"/>
            <a:ext cx="9144000" cy="73152"/>
          </a:xfrm>
          <a:prstGeom prst="rect">
            <a:avLst/>
          </a:prstGeom>
          <a:solidFill>
            <a:srgbClr val="C9A84C"/>
          </a:solidFill>
          <a:ln w="12700">
            <a:solidFill>
              <a:srgbClr val="C9A84C"/>
            </a:solidFill>
            <a:prstDash val="solid"/>
          </a:ln>
        </p:spPr>
      </p:sp>
      <p:sp>
        <p:nvSpPr>
          <p:cNvPr id="4" name="Text 2"/>
          <p:cNvSpPr/>
          <p:nvPr/>
        </p:nvSpPr>
        <p:spPr>
          <a:xfrm>
            <a:off x="457200" y="128016"/>
            <a:ext cx="8229600" cy="201168"/>
          </a:xfrm>
          <a:prstGeom prst="rect">
            <a:avLst/>
          </a:prstGeom>
          <a:noFill/>
          <a:ln/>
        </p:spPr>
        <p:txBody>
          <a:bodyPr wrap="square" rtlCol="0" anchor="ctr"/>
          <a:lstStyle/>
          <a:p>
            <a:pPr algn="l" indent="0" marL="0">
              <a:buNone/>
            </a:pPr>
            <a:r>
              <a:rPr lang="en-US" sz="800" b="1" spc="600" kern="0" dirty="0">
                <a:solidFill>
                  <a:srgbClr val="C9A84C"/>
                </a:solidFill>
                <a:latin typeface="Calibri" pitchFamily="34" charset="0"/>
                <a:ea typeface="Calibri" pitchFamily="34" charset="-122"/>
                <a:cs typeface="Calibri" pitchFamily="34" charset="-120"/>
              </a:rPr>
              <a:t>WHY NOW</a:t>
            </a:r>
            <a:endParaRPr lang="en-US" sz="800" dirty="0"/>
          </a:p>
        </p:txBody>
      </p:sp>
      <p:sp>
        <p:nvSpPr>
          <p:cNvPr id="5" name="Text 3"/>
          <p:cNvSpPr/>
          <p:nvPr/>
        </p:nvSpPr>
        <p:spPr>
          <a:xfrm>
            <a:off x="502920" y="438912"/>
            <a:ext cx="8138160" cy="640080"/>
          </a:xfrm>
          <a:prstGeom prst="rect">
            <a:avLst/>
          </a:prstGeom>
          <a:noFill/>
          <a:ln/>
        </p:spPr>
        <p:txBody>
          <a:bodyPr wrap="square" lIns="0" tIns="0" rIns="0" bIns="0" rtlCol="0" anchor="ctr"/>
          <a:lstStyle/>
          <a:p>
            <a:pPr algn="l" indent="0" marL="0">
              <a:buNone/>
            </a:pPr>
            <a:r>
              <a:rPr lang="en-US" sz="2800" b="1" dirty="0">
                <a:solidFill>
                  <a:srgbClr val="FFFFFF"/>
                </a:solidFill>
                <a:latin typeface="Georgia" pitchFamily="34" charset="0"/>
                <a:ea typeface="Georgia" pitchFamily="34" charset="-122"/>
                <a:cs typeface="Georgia" pitchFamily="34" charset="-120"/>
              </a:rPr>
              <a:t>The Window Is Open. But Not for Long.</a:t>
            </a:r>
            <a:endParaRPr lang="en-US" sz="2800" dirty="0"/>
          </a:p>
        </p:txBody>
      </p:sp>
      <p:sp>
        <p:nvSpPr>
          <p:cNvPr id="6" name="Shape 4"/>
          <p:cNvSpPr/>
          <p:nvPr/>
        </p:nvSpPr>
        <p:spPr>
          <a:xfrm>
            <a:off x="411480" y="1170432"/>
            <a:ext cx="4160520" cy="1737360"/>
          </a:xfrm>
          <a:prstGeom prst="rect">
            <a:avLst/>
          </a:prstGeom>
          <a:solidFill>
            <a:srgbClr val="16213E"/>
          </a:solidFill>
          <a:ln w="12700">
            <a:solidFill>
              <a:srgbClr val="C9A84C"/>
            </a:solidFill>
            <a:prstDash val="solid"/>
          </a:ln>
          <a:effectLst>
            <a:outerShdw sx="100000" sy="100000" kx="0" ky="0" algn="bl" rotWithShape="0" blurRad="101600" dist="38100" dir="8100000">
              <a:srgbClr val="000000">
                <a:alpha val="20000"/>
              </a:srgbClr>
            </a:outerShdw>
          </a:effectLst>
        </p:spPr>
      </p:sp>
      <p:pic>
        <p:nvPicPr>
          <p:cNvPr id="7" name="Image 0" descr="preencoded.png">    </p:cNvPr>
          <p:cNvPicPr>
            <a:picLocks noChangeAspect="1"/>
          </p:cNvPicPr>
          <p:nvPr/>
        </p:nvPicPr>
        <p:blipFill>
          <a:blip r:embed="rId1"/>
          <a:stretch>
            <a:fillRect/>
          </a:stretch>
        </p:blipFill>
        <p:spPr>
          <a:xfrm>
            <a:off x="594360" y="1307592"/>
            <a:ext cx="457200" cy="457200"/>
          </a:xfrm>
          <a:prstGeom prst="rect">
            <a:avLst/>
          </a:prstGeom>
        </p:spPr>
      </p:pic>
      <p:sp>
        <p:nvSpPr>
          <p:cNvPr id="8" name="Text 5"/>
          <p:cNvSpPr/>
          <p:nvPr/>
        </p:nvSpPr>
        <p:spPr>
          <a:xfrm>
            <a:off x="1188720" y="1261872"/>
            <a:ext cx="3246120" cy="402336"/>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Quantum Hardware Is Reaching Production</a:t>
            </a:r>
            <a:endParaRPr lang="en-US" sz="1200" dirty="0"/>
          </a:p>
        </p:txBody>
      </p:sp>
      <p:sp>
        <p:nvSpPr>
          <p:cNvPr id="9" name="Shape 6"/>
          <p:cNvSpPr/>
          <p:nvPr/>
        </p:nvSpPr>
        <p:spPr>
          <a:xfrm>
            <a:off x="576072" y="1828800"/>
            <a:ext cx="3822192" cy="36576"/>
          </a:xfrm>
          <a:prstGeom prst="rect">
            <a:avLst/>
          </a:prstGeom>
          <a:solidFill>
            <a:srgbClr val="2A2A4A"/>
          </a:solidFill>
          <a:ln w="12700">
            <a:solidFill>
              <a:srgbClr val="2A2A4A"/>
            </a:solidFill>
            <a:prstDash val="solid"/>
          </a:ln>
        </p:spPr>
      </p:sp>
      <p:sp>
        <p:nvSpPr>
          <p:cNvPr id="10" name="Text 7"/>
          <p:cNvSpPr/>
          <p:nvPr/>
        </p:nvSpPr>
        <p:spPr>
          <a:xfrm>
            <a:off x="576072" y="1938528"/>
            <a:ext cx="3858768" cy="841248"/>
          </a:xfrm>
          <a:prstGeom prst="rect">
            <a:avLst/>
          </a:prstGeom>
          <a:noFill/>
          <a:ln/>
        </p:spPr>
        <p:txBody>
          <a:bodyPr wrap="square" rtlCol="0" anchor="t"/>
          <a:lstStyle/>
          <a:p>
            <a:pPr indent="0" marL="0">
              <a:buNone/>
            </a:pPr>
            <a:r>
              <a:rPr lang="en-US" sz="1050" dirty="0">
                <a:solidFill>
                  <a:srgbClr val="AAAACC"/>
                </a:solidFill>
                <a:latin typeface="Calibri" pitchFamily="34" charset="0"/>
                <a:ea typeface="Calibri" pitchFamily="34" charset="-122"/>
                <a:cs typeface="Calibri" pitchFamily="34" charset="-120"/>
              </a:rPr>
              <a:t>IBM, Google, and IonQ are deploying production quantum processors in 2025–2026. A quantum-native language with real QUBE circuits is no longer academic — it is infrastructure.</a:t>
            </a:r>
            <a:endParaRPr lang="en-US" sz="1050" dirty="0"/>
          </a:p>
        </p:txBody>
      </p:sp>
      <p:sp>
        <p:nvSpPr>
          <p:cNvPr id="11" name="Shape 8"/>
          <p:cNvSpPr/>
          <p:nvPr/>
        </p:nvSpPr>
        <p:spPr>
          <a:xfrm>
            <a:off x="4800600" y="1170432"/>
            <a:ext cx="4160520" cy="1737360"/>
          </a:xfrm>
          <a:prstGeom prst="rect">
            <a:avLst/>
          </a:prstGeom>
          <a:solidFill>
            <a:srgbClr val="16213E"/>
          </a:solidFill>
          <a:ln w="12700">
            <a:solidFill>
              <a:srgbClr val="C9A84C"/>
            </a:solidFill>
            <a:prstDash val="solid"/>
          </a:ln>
          <a:effectLst>
            <a:outerShdw sx="100000" sy="100000" kx="0" ky="0" algn="bl" rotWithShape="0" blurRad="101600" dist="38100" dir="8100000">
              <a:srgbClr val="000000">
                <a:alpha val="20000"/>
              </a:srgbClr>
            </a:outerShdw>
          </a:effectLst>
        </p:spPr>
      </p:sp>
      <p:pic>
        <p:nvPicPr>
          <p:cNvPr id="12" name="Image 1" descr="preencoded.png">    </p:cNvPr>
          <p:cNvPicPr>
            <a:picLocks noChangeAspect="1"/>
          </p:cNvPicPr>
          <p:nvPr/>
        </p:nvPicPr>
        <p:blipFill>
          <a:blip r:embed="rId2"/>
          <a:stretch>
            <a:fillRect/>
          </a:stretch>
        </p:blipFill>
        <p:spPr>
          <a:xfrm>
            <a:off x="4983480" y="1307592"/>
            <a:ext cx="457200" cy="457200"/>
          </a:xfrm>
          <a:prstGeom prst="rect">
            <a:avLst/>
          </a:prstGeom>
        </p:spPr>
      </p:pic>
      <p:sp>
        <p:nvSpPr>
          <p:cNvPr id="13" name="Text 9"/>
          <p:cNvSpPr/>
          <p:nvPr/>
        </p:nvSpPr>
        <p:spPr>
          <a:xfrm>
            <a:off x="5577840" y="1261872"/>
            <a:ext cx="3246120" cy="402336"/>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The AGI Race Has No Memory Architecture</a:t>
            </a:r>
            <a:endParaRPr lang="en-US" sz="1200" dirty="0"/>
          </a:p>
        </p:txBody>
      </p:sp>
      <p:sp>
        <p:nvSpPr>
          <p:cNvPr id="14" name="Shape 10"/>
          <p:cNvSpPr/>
          <p:nvPr/>
        </p:nvSpPr>
        <p:spPr>
          <a:xfrm>
            <a:off x="4965192" y="1828800"/>
            <a:ext cx="3822192" cy="36576"/>
          </a:xfrm>
          <a:prstGeom prst="rect">
            <a:avLst/>
          </a:prstGeom>
          <a:solidFill>
            <a:srgbClr val="2A2A4A"/>
          </a:solidFill>
          <a:ln w="12700">
            <a:solidFill>
              <a:srgbClr val="2A2A4A"/>
            </a:solidFill>
            <a:prstDash val="solid"/>
          </a:ln>
        </p:spPr>
      </p:sp>
      <p:sp>
        <p:nvSpPr>
          <p:cNvPr id="15" name="Text 11"/>
          <p:cNvSpPr/>
          <p:nvPr/>
        </p:nvSpPr>
        <p:spPr>
          <a:xfrm>
            <a:off x="4965192" y="1938528"/>
            <a:ext cx="3858768" cy="841248"/>
          </a:xfrm>
          <a:prstGeom prst="rect">
            <a:avLst/>
          </a:prstGeom>
          <a:noFill/>
          <a:ln/>
        </p:spPr>
        <p:txBody>
          <a:bodyPr wrap="square" rtlCol="0" anchor="t"/>
          <a:lstStyle/>
          <a:p>
            <a:pPr indent="0" marL="0">
              <a:buNone/>
            </a:pPr>
            <a:r>
              <a:rPr lang="en-US" sz="1050" dirty="0">
                <a:solidFill>
                  <a:srgbClr val="AAAACC"/>
                </a:solidFill>
                <a:latin typeface="Calibri" pitchFamily="34" charset="0"/>
                <a:ea typeface="Calibri" pitchFamily="34" charset="-122"/>
                <a:cs typeface="Calibri" pitchFamily="34" charset="-120"/>
              </a:rPr>
              <a:t>OpenAI, Anthropic, and Google are racing to build general intelligence — but none have solved persistent, structured, evolving memory. MGKS is the missing layer.</a:t>
            </a:r>
            <a:endParaRPr lang="en-US" sz="1050" dirty="0"/>
          </a:p>
        </p:txBody>
      </p:sp>
      <p:sp>
        <p:nvSpPr>
          <p:cNvPr id="16" name="Shape 12"/>
          <p:cNvSpPr/>
          <p:nvPr/>
        </p:nvSpPr>
        <p:spPr>
          <a:xfrm>
            <a:off x="411480" y="3044952"/>
            <a:ext cx="4160520" cy="1737360"/>
          </a:xfrm>
          <a:prstGeom prst="rect">
            <a:avLst/>
          </a:prstGeom>
          <a:solidFill>
            <a:srgbClr val="16213E"/>
          </a:solidFill>
          <a:ln w="12700">
            <a:solidFill>
              <a:srgbClr val="C9A84C"/>
            </a:solidFill>
            <a:prstDash val="solid"/>
          </a:ln>
          <a:effectLst>
            <a:outerShdw sx="100000" sy="100000" kx="0" ky="0" algn="bl" rotWithShape="0" blurRad="101600" dist="38100" dir="8100000">
              <a:srgbClr val="000000">
                <a:alpha val="20000"/>
              </a:srgbClr>
            </a:outerShdw>
          </a:effectLst>
        </p:spPr>
      </p:sp>
      <p:pic>
        <p:nvPicPr>
          <p:cNvPr id="17" name="Image 2" descr="preencoded.png">    </p:cNvPr>
          <p:cNvPicPr>
            <a:picLocks noChangeAspect="1"/>
          </p:cNvPicPr>
          <p:nvPr/>
        </p:nvPicPr>
        <p:blipFill>
          <a:blip r:embed="rId3"/>
          <a:stretch>
            <a:fillRect/>
          </a:stretch>
        </p:blipFill>
        <p:spPr>
          <a:xfrm>
            <a:off x="594360" y="3182112"/>
            <a:ext cx="457200" cy="457200"/>
          </a:xfrm>
          <a:prstGeom prst="rect">
            <a:avLst/>
          </a:prstGeom>
        </p:spPr>
      </p:pic>
      <p:sp>
        <p:nvSpPr>
          <p:cNvPr id="18" name="Text 13"/>
          <p:cNvSpPr/>
          <p:nvPr/>
        </p:nvSpPr>
        <p:spPr>
          <a:xfrm>
            <a:off x="1188720" y="3136392"/>
            <a:ext cx="3246120" cy="402336"/>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AI Developer Tools Reached $8B in 2025</a:t>
            </a:r>
            <a:endParaRPr lang="en-US" sz="1200" dirty="0"/>
          </a:p>
        </p:txBody>
      </p:sp>
      <p:sp>
        <p:nvSpPr>
          <p:cNvPr id="19" name="Shape 14"/>
          <p:cNvSpPr/>
          <p:nvPr/>
        </p:nvSpPr>
        <p:spPr>
          <a:xfrm>
            <a:off x="576072" y="3703320"/>
            <a:ext cx="3822192" cy="36576"/>
          </a:xfrm>
          <a:prstGeom prst="rect">
            <a:avLst/>
          </a:prstGeom>
          <a:solidFill>
            <a:srgbClr val="2A2A4A"/>
          </a:solidFill>
          <a:ln w="12700">
            <a:solidFill>
              <a:srgbClr val="2A2A4A"/>
            </a:solidFill>
            <a:prstDash val="solid"/>
          </a:ln>
        </p:spPr>
      </p:sp>
      <p:sp>
        <p:nvSpPr>
          <p:cNvPr id="20" name="Text 15"/>
          <p:cNvSpPr/>
          <p:nvPr/>
        </p:nvSpPr>
        <p:spPr>
          <a:xfrm>
            <a:off x="576072" y="3813048"/>
            <a:ext cx="3858768" cy="841248"/>
          </a:xfrm>
          <a:prstGeom prst="rect">
            <a:avLst/>
          </a:prstGeom>
          <a:noFill/>
          <a:ln/>
        </p:spPr>
        <p:txBody>
          <a:bodyPr wrap="square" rtlCol="0" anchor="t"/>
          <a:lstStyle/>
          <a:p>
            <a:pPr indent="0" marL="0">
              <a:buNone/>
            </a:pPr>
            <a:r>
              <a:rPr lang="en-US" sz="1050" dirty="0">
                <a:solidFill>
                  <a:srgbClr val="AAAACC"/>
                </a:solidFill>
                <a:latin typeface="Calibri" pitchFamily="34" charset="0"/>
                <a:ea typeface="Calibri" pitchFamily="34" charset="-122"/>
                <a:cs typeface="Calibri" pitchFamily="34" charset="-120"/>
              </a:rPr>
              <a:t>The market for AI developer infrastructure grew 180% year-over-year in 2025. Enterprise buyers are actively seeking quantum-aware AI tooling. There is budget. There is urgency.</a:t>
            </a:r>
            <a:endParaRPr lang="en-US" sz="1050" dirty="0"/>
          </a:p>
        </p:txBody>
      </p:sp>
      <p:sp>
        <p:nvSpPr>
          <p:cNvPr id="21" name="Shape 16"/>
          <p:cNvSpPr/>
          <p:nvPr/>
        </p:nvSpPr>
        <p:spPr>
          <a:xfrm>
            <a:off x="4800600" y="3044952"/>
            <a:ext cx="4160520" cy="1737360"/>
          </a:xfrm>
          <a:prstGeom prst="rect">
            <a:avLst/>
          </a:prstGeom>
          <a:solidFill>
            <a:srgbClr val="16213E"/>
          </a:solidFill>
          <a:ln w="12700">
            <a:solidFill>
              <a:srgbClr val="C9A84C"/>
            </a:solidFill>
            <a:prstDash val="solid"/>
          </a:ln>
          <a:effectLst>
            <a:outerShdw sx="100000" sy="100000" kx="0" ky="0" algn="bl" rotWithShape="0" blurRad="101600" dist="38100" dir="8100000">
              <a:srgbClr val="000000">
                <a:alpha val="20000"/>
              </a:srgbClr>
            </a:outerShdw>
          </a:effectLst>
        </p:spPr>
      </p:sp>
      <p:pic>
        <p:nvPicPr>
          <p:cNvPr id="22" name="Image 3" descr="preencoded.png">    </p:cNvPr>
          <p:cNvPicPr>
            <a:picLocks noChangeAspect="1"/>
          </p:cNvPicPr>
          <p:nvPr/>
        </p:nvPicPr>
        <p:blipFill>
          <a:blip r:embed="rId4"/>
          <a:stretch>
            <a:fillRect/>
          </a:stretch>
        </p:blipFill>
        <p:spPr>
          <a:xfrm>
            <a:off x="4983480" y="3182112"/>
            <a:ext cx="457200" cy="457200"/>
          </a:xfrm>
          <a:prstGeom prst="rect">
            <a:avLst/>
          </a:prstGeom>
        </p:spPr>
      </p:pic>
      <p:sp>
        <p:nvSpPr>
          <p:cNvPr id="23" name="Text 17"/>
          <p:cNvSpPr/>
          <p:nvPr/>
        </p:nvSpPr>
        <p:spPr>
          <a:xfrm>
            <a:off x="5577840" y="3136392"/>
            <a:ext cx="3246120" cy="402336"/>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First-Mover IP in a New Language Category</a:t>
            </a:r>
            <a:endParaRPr lang="en-US" sz="1200" dirty="0"/>
          </a:p>
        </p:txBody>
      </p:sp>
      <p:sp>
        <p:nvSpPr>
          <p:cNvPr id="24" name="Shape 18"/>
          <p:cNvSpPr/>
          <p:nvPr/>
        </p:nvSpPr>
        <p:spPr>
          <a:xfrm>
            <a:off x="4965192" y="3703320"/>
            <a:ext cx="3822192" cy="36576"/>
          </a:xfrm>
          <a:prstGeom prst="rect">
            <a:avLst/>
          </a:prstGeom>
          <a:solidFill>
            <a:srgbClr val="2A2A4A"/>
          </a:solidFill>
          <a:ln w="12700">
            <a:solidFill>
              <a:srgbClr val="2A2A4A"/>
            </a:solidFill>
            <a:prstDash val="solid"/>
          </a:ln>
        </p:spPr>
      </p:sp>
      <p:sp>
        <p:nvSpPr>
          <p:cNvPr id="25" name="Text 19"/>
          <p:cNvSpPr/>
          <p:nvPr/>
        </p:nvSpPr>
        <p:spPr>
          <a:xfrm>
            <a:off x="4965192" y="3813048"/>
            <a:ext cx="3858768" cy="841248"/>
          </a:xfrm>
          <a:prstGeom prst="rect">
            <a:avLst/>
          </a:prstGeom>
          <a:noFill/>
          <a:ln/>
        </p:spPr>
        <p:txBody>
          <a:bodyPr wrap="square" rtlCol="0" anchor="t"/>
          <a:lstStyle/>
          <a:p>
            <a:pPr indent="0" marL="0">
              <a:buNone/>
            </a:pPr>
            <a:r>
              <a:rPr lang="en-US" sz="1050" dirty="0">
                <a:solidFill>
                  <a:srgbClr val="AAAACC"/>
                </a:solidFill>
                <a:latin typeface="Calibri" pitchFamily="34" charset="0"/>
                <a:ea typeface="Calibri" pitchFamily="34" charset="-122"/>
                <a:cs typeface="Calibri" pitchFamily="34" charset="-120"/>
              </a:rPr>
              <a:t>Programming languages are winner-take-most markets. Python won scientific computing. JavaScript won the web. Aeonmi can win AI-native quantum execution — but only if we move now.</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0D1A"/>
          </a:solidFill>
          <a:ln w="12700">
            <a:solidFill>
              <a:srgbClr val="0D0D1A"/>
            </a:solidFill>
            <a:prstDash val="solid"/>
          </a:ln>
        </p:spPr>
      </p:sp>
      <p:sp>
        <p:nvSpPr>
          <p:cNvPr id="3" name="Shape 1"/>
          <p:cNvSpPr/>
          <p:nvPr/>
        </p:nvSpPr>
        <p:spPr>
          <a:xfrm>
            <a:off x="0" y="0"/>
            <a:ext cx="146304" cy="5143500"/>
          </a:xfrm>
          <a:prstGeom prst="rect">
            <a:avLst/>
          </a:prstGeom>
          <a:solidFill>
            <a:srgbClr val="C9A84C"/>
          </a:solidFill>
          <a:ln w="12700">
            <a:solidFill>
              <a:srgbClr val="C9A84C"/>
            </a:solidFill>
            <a:prstDash val="solid"/>
          </a:ln>
        </p:spPr>
      </p:sp>
      <p:sp>
        <p:nvSpPr>
          <p:cNvPr id="4" name="Shape 2"/>
          <p:cNvSpPr/>
          <p:nvPr/>
        </p:nvSpPr>
        <p:spPr>
          <a:xfrm>
            <a:off x="0" y="4846320"/>
            <a:ext cx="9144000" cy="297180"/>
          </a:xfrm>
          <a:prstGeom prst="rect">
            <a:avLst/>
          </a:prstGeom>
          <a:solidFill>
            <a:srgbClr val="1A1A2E"/>
          </a:solidFill>
          <a:ln w="12700">
            <a:solidFill>
              <a:srgbClr val="1A1A2E"/>
            </a:solidFill>
            <a:prstDash val="solid"/>
          </a:ln>
        </p:spPr>
      </p:sp>
      <p:sp>
        <p:nvSpPr>
          <p:cNvPr id="5" name="Text 3"/>
          <p:cNvSpPr/>
          <p:nvPr/>
        </p:nvSpPr>
        <p:spPr>
          <a:xfrm>
            <a:off x="457200" y="548640"/>
            <a:ext cx="8229600" cy="502920"/>
          </a:xfrm>
          <a:prstGeom prst="rect">
            <a:avLst/>
          </a:prstGeom>
          <a:noFill/>
          <a:ln/>
        </p:spPr>
        <p:txBody>
          <a:bodyPr wrap="square" rtlCol="0" anchor="ctr"/>
          <a:lstStyle/>
          <a:p>
            <a:pPr algn="ctr" indent="0" marL="0">
              <a:buNone/>
            </a:pPr>
            <a:r>
              <a:rPr lang="en-US" sz="2400" spc="800" kern="0" dirty="0">
                <a:solidFill>
                  <a:srgbClr val="1E1E3A"/>
                </a:solidFill>
                <a:latin typeface="Calibri" pitchFamily="34" charset="0"/>
                <a:ea typeface="Calibri" pitchFamily="34" charset="-122"/>
                <a:cs typeface="Calibri" pitchFamily="34" charset="-120"/>
              </a:rPr>
              <a:t>⊗   ⟨⟩   ↦   ⧉</a:t>
            </a:r>
            <a:endParaRPr lang="en-US" sz="2400" dirty="0"/>
          </a:p>
        </p:txBody>
      </p:sp>
      <p:sp>
        <p:nvSpPr>
          <p:cNvPr id="6" name="Text 4"/>
          <p:cNvSpPr/>
          <p:nvPr/>
        </p:nvSpPr>
        <p:spPr>
          <a:xfrm>
            <a:off x="457200" y="1234440"/>
            <a:ext cx="8229600" cy="411480"/>
          </a:xfrm>
          <a:prstGeom prst="rect">
            <a:avLst/>
          </a:prstGeom>
          <a:noFill/>
          <a:ln/>
        </p:spPr>
        <p:txBody>
          <a:bodyPr wrap="square" rtlCol="0" anchor="ctr"/>
          <a:lstStyle/>
          <a:p>
            <a:pPr algn="ctr" indent="0" marL="0">
              <a:buNone/>
            </a:pPr>
            <a:r>
              <a:rPr lang="en-US" sz="1600" i="1" dirty="0">
                <a:solidFill>
                  <a:srgbClr val="8888AA"/>
                </a:solidFill>
                <a:latin typeface="Georgia" pitchFamily="34" charset="0"/>
                <a:ea typeface="Georgia" pitchFamily="34" charset="-122"/>
                <a:cs typeface="Georgia" pitchFamily="34" charset="-120"/>
              </a:rPr>
              <a:t>Where traditional systems store information,</a:t>
            </a:r>
            <a:endParaRPr lang="en-US" sz="1600" dirty="0"/>
          </a:p>
        </p:txBody>
      </p:sp>
      <p:sp>
        <p:nvSpPr>
          <p:cNvPr id="7" name="Text 5"/>
          <p:cNvSpPr/>
          <p:nvPr/>
        </p:nvSpPr>
        <p:spPr>
          <a:xfrm>
            <a:off x="457200" y="1627632"/>
            <a:ext cx="8229600" cy="457200"/>
          </a:xfrm>
          <a:prstGeom prst="rect">
            <a:avLst/>
          </a:prstGeom>
          <a:noFill/>
          <a:ln/>
        </p:spPr>
        <p:txBody>
          <a:bodyPr wrap="square"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MGKS encodes understanding.</a:t>
            </a:r>
            <a:endParaRPr lang="en-US" sz="2000" dirty="0"/>
          </a:p>
        </p:txBody>
      </p:sp>
      <p:sp>
        <p:nvSpPr>
          <p:cNvPr id="8" name="Shape 6"/>
          <p:cNvSpPr/>
          <p:nvPr/>
        </p:nvSpPr>
        <p:spPr>
          <a:xfrm>
            <a:off x="3200400" y="2176272"/>
            <a:ext cx="2743200" cy="54864"/>
          </a:xfrm>
          <a:prstGeom prst="rect">
            <a:avLst/>
          </a:prstGeom>
          <a:solidFill>
            <a:srgbClr val="C9A84C"/>
          </a:solidFill>
          <a:ln w="12700">
            <a:solidFill>
              <a:srgbClr val="C9A84C"/>
            </a:solidFill>
            <a:prstDash val="solid"/>
          </a:ln>
        </p:spPr>
      </p:sp>
      <p:sp>
        <p:nvSpPr>
          <p:cNvPr id="9" name="Text 7"/>
          <p:cNvSpPr/>
          <p:nvPr/>
        </p:nvSpPr>
        <p:spPr>
          <a:xfrm>
            <a:off x="457200" y="2331720"/>
            <a:ext cx="8229600" cy="777240"/>
          </a:xfrm>
          <a:prstGeom prst="rect">
            <a:avLst/>
          </a:prstGeom>
          <a:noFill/>
          <a:ln/>
        </p:spPr>
        <p:txBody>
          <a:bodyPr wrap="square" rtlCol="0" anchor="ctr"/>
          <a:lstStyle/>
          <a:p>
            <a:pPr algn="ctr" indent="0" marL="0">
              <a:buNone/>
            </a:pPr>
            <a:r>
              <a:rPr lang="en-US" sz="1600" i="1" dirty="0">
                <a:solidFill>
                  <a:srgbClr val="E8C76A"/>
                </a:solidFill>
                <a:latin typeface="Georgia" pitchFamily="34" charset="0"/>
                <a:ea typeface="Georgia" pitchFamily="34" charset="-122"/>
                <a:cs typeface="Georgia" pitchFamily="34" charset="-120"/>
              </a:rPr>
              <a:t>Mother AI does not store what she knows.</a:t>
            </a:r>
            <a:endParaRPr lang="en-US" sz="1600" dirty="0"/>
          </a:p>
          <a:p>
            <a:pPr algn="ctr" indent="0" marL="0">
              <a:buNone/>
            </a:pPr>
            <a:r>
              <a:rPr lang="en-US" sz="1600" i="1" dirty="0">
                <a:solidFill>
                  <a:srgbClr val="E8C76A"/>
                </a:solidFill>
                <a:latin typeface="Georgia" pitchFamily="34" charset="0"/>
                <a:ea typeface="Georgia" pitchFamily="34" charset="-122"/>
                <a:cs typeface="Georgia" pitchFamily="34" charset="-120"/>
              </a:rPr>
              <a:t>She evolves how she knows it.</a:t>
            </a:r>
            <a:endParaRPr lang="en-US" sz="1600" dirty="0"/>
          </a:p>
        </p:txBody>
      </p:sp>
      <p:sp>
        <p:nvSpPr>
          <p:cNvPr id="10" name="Text 8"/>
          <p:cNvSpPr/>
          <p:nvPr/>
        </p:nvSpPr>
        <p:spPr>
          <a:xfrm>
            <a:off x="457200" y="3200400"/>
            <a:ext cx="8229600" cy="777240"/>
          </a:xfrm>
          <a:prstGeom prst="rect">
            <a:avLst/>
          </a:prstGeom>
          <a:noFill/>
          <a:ln/>
        </p:spPr>
        <p:txBody>
          <a:bodyPr wrap="square" rtlCol="0" anchor="ctr"/>
          <a:lstStyle/>
          <a:p>
            <a:pPr algn="ctr" indent="0" marL="0">
              <a:buNone/>
            </a:pPr>
            <a:r>
              <a:rPr lang="en-US" sz="1300" dirty="0">
                <a:solidFill>
                  <a:srgbClr val="AAAACC"/>
                </a:solidFill>
                <a:latin typeface="Calibri" pitchFamily="34" charset="0"/>
                <a:ea typeface="Calibri" pitchFamily="34" charset="-122"/>
                <a:cs typeface="Calibri" pitchFamily="34" charset="-120"/>
              </a:rPr>
              <a:t>Aeonmi is not a research preview.</a:t>
            </a:r>
            <a:endParaRPr lang="en-US" sz="1300" dirty="0"/>
          </a:p>
          <a:p>
            <a:pPr algn="ctr" indent="0" marL="0">
              <a:buNone/>
            </a:pPr>
            <a:r>
              <a:rPr lang="en-US" sz="1300" dirty="0">
                <a:solidFill>
                  <a:srgbClr val="AAAACC"/>
                </a:solidFill>
                <a:latin typeface="Calibri" pitchFamily="34" charset="0"/>
                <a:ea typeface="Calibri" pitchFamily="34" charset="-122"/>
                <a:cs typeface="Calibri" pitchFamily="34" charset="-120"/>
              </a:rPr>
              <a:t>It is not a demo.</a:t>
            </a:r>
            <a:endParaRPr lang="en-US" sz="1300" dirty="0"/>
          </a:p>
          <a:p>
            <a:pPr algn="ctr" indent="0" marL="0">
              <a:buNone/>
            </a:pPr>
            <a:r>
              <a:rPr lang="en-US" sz="1300" dirty="0">
                <a:solidFill>
                  <a:srgbClr val="AAAACC"/>
                </a:solidFill>
                <a:latin typeface="Calibri" pitchFamily="34" charset="0"/>
                <a:ea typeface="Calibri" pitchFamily="34" charset="-122"/>
                <a:cs typeface="Calibri" pitchFamily="34" charset="-120"/>
              </a:rPr>
              <a:t>It runs now. It grows now.</a:t>
            </a:r>
            <a:endParaRPr lang="en-US" sz="1300" dirty="0"/>
          </a:p>
        </p:txBody>
      </p:sp>
      <p:sp>
        <p:nvSpPr>
          <p:cNvPr id="11" name="Text 9"/>
          <p:cNvSpPr/>
          <p:nvPr/>
        </p:nvSpPr>
        <p:spPr>
          <a:xfrm>
            <a:off x="457200" y="3886200"/>
            <a:ext cx="8229600" cy="548640"/>
          </a:xfrm>
          <a:prstGeom prst="rect">
            <a:avLst/>
          </a:prstGeom>
          <a:noFill/>
          <a:ln/>
        </p:spPr>
        <p:txBody>
          <a:bodyPr wrap="square" lIns="0" tIns="0" rIns="0" bIns="0" rtlCol="0" anchor="ctr"/>
          <a:lstStyle/>
          <a:p>
            <a:pPr algn="ctr" indent="0" marL="0">
              <a:buNone/>
            </a:pPr>
            <a:r>
              <a:rPr lang="en-US" sz="3200" b="1" spc="1000" kern="0" dirty="0">
                <a:solidFill>
                  <a:srgbClr val="FFFFFF"/>
                </a:solidFill>
                <a:latin typeface="Georgia" pitchFamily="34" charset="0"/>
                <a:ea typeface="Georgia" pitchFamily="34" charset="-122"/>
                <a:cs typeface="Georgia" pitchFamily="34" charset="-120"/>
              </a:rPr>
              <a:t>AE⊗NMI</a:t>
            </a:r>
            <a:endParaRPr lang="en-US" sz="3200" dirty="0"/>
          </a:p>
        </p:txBody>
      </p:sp>
      <p:sp>
        <p:nvSpPr>
          <p:cNvPr id="12" name="Text 10"/>
          <p:cNvSpPr/>
          <p:nvPr/>
        </p:nvSpPr>
        <p:spPr>
          <a:xfrm>
            <a:off x="457200" y="4864608"/>
            <a:ext cx="8229600" cy="201168"/>
          </a:xfrm>
          <a:prstGeom prst="rect">
            <a:avLst/>
          </a:prstGeom>
          <a:noFill/>
          <a:ln/>
        </p:spPr>
        <p:txBody>
          <a:bodyPr wrap="square" rtlCol="0" anchor="ctr"/>
          <a:lstStyle/>
          <a:p>
            <a:pPr algn="ctr" indent="0" marL="0">
              <a:buNone/>
            </a:pPr>
            <a:r>
              <a:rPr lang="en-US" sz="800" dirty="0">
                <a:solidFill>
                  <a:srgbClr val="8888AA"/>
                </a:solidFill>
                <a:latin typeface="Calibri" pitchFamily="34" charset="0"/>
                <a:ea typeface="Calibri" pitchFamily="34" charset="-122"/>
                <a:cs typeface="Calibri" pitchFamily="34" charset="-120"/>
              </a:rPr>
              <a:t>AEONMI INC  •  EIN 41-4625361  •  Warren Williams, Founder  •  aeonmi.ai</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AEONMI — Investor Whitepaper 2026</dc:title>
  <dc:subject>PptxGenJS Presentation</dc:subject>
  <dc:creator>Warren Williams — AEONMI INC</dc:creator>
  <cp:lastModifiedBy>Warren Williams — AEONMI INC</cp:lastModifiedBy>
  <cp:revision>1</cp:revision>
  <dcterms:created xsi:type="dcterms:W3CDTF">2026-04-12T08:37:43Z</dcterms:created>
  <dcterms:modified xsi:type="dcterms:W3CDTF">2026-04-12T08:37:43Z</dcterms:modified>
</cp:coreProperties>
</file>